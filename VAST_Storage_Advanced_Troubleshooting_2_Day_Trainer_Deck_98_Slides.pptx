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2f5678ac44ab0" /><Relationship Type="http://schemas.openxmlformats.org/officeDocument/2006/relationships/extended-properties" Target="/docProps/app.xml" Id="R15a07f54699e4e23" /><Relationship Type="http://schemas.openxmlformats.org/officeDocument/2006/relationships/officeDocument" Target="/ppt/presentation.xml" Id="Rc43381212dae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75308f38704637"/>
  </p:sldMasterIdLst>
  <p:notesMasterIdLst>
    <p:notesMasterId xmlns:r="http://schemas.openxmlformats.org/officeDocument/2006/relationships" r:id="Rcf7da2ac968844fc"/>
  </p:notesMasterIdLst>
  <p:sldIdLst>
    <p:sldId xmlns:r="http://schemas.openxmlformats.org/officeDocument/2006/relationships" id="256" r:id="R811c075a50e94897"/>
    <p:sldId xmlns:r="http://schemas.openxmlformats.org/officeDocument/2006/relationships" id="257" r:id="Rd6faea10ac46499a"/>
    <p:sldId xmlns:r="http://schemas.openxmlformats.org/officeDocument/2006/relationships" id="258" r:id="Reee1a84655c24b06"/>
    <p:sldId xmlns:r="http://schemas.openxmlformats.org/officeDocument/2006/relationships" id="259" r:id="Rcfeb1d4233d54ca4"/>
    <p:sldId xmlns:r="http://schemas.openxmlformats.org/officeDocument/2006/relationships" id="260" r:id="Rd0b8a667a6344fa6"/>
    <p:sldId xmlns:r="http://schemas.openxmlformats.org/officeDocument/2006/relationships" id="261" r:id="R18a55ded24c248fc"/>
    <p:sldId xmlns:r="http://schemas.openxmlformats.org/officeDocument/2006/relationships" id="262" r:id="Rfeafbacb153544ab"/>
    <p:sldId xmlns:r="http://schemas.openxmlformats.org/officeDocument/2006/relationships" id="263" r:id="Ra348f4f9b2a54c0c"/>
    <p:sldId xmlns:r="http://schemas.openxmlformats.org/officeDocument/2006/relationships" id="264" r:id="R1476df0cd11e4fd2"/>
    <p:sldId xmlns:r="http://schemas.openxmlformats.org/officeDocument/2006/relationships" id="265" r:id="R6d7d922d2c4b43ff"/>
    <p:sldId xmlns:r="http://schemas.openxmlformats.org/officeDocument/2006/relationships" id="266" r:id="R88797b41db5f4cad"/>
    <p:sldId xmlns:r="http://schemas.openxmlformats.org/officeDocument/2006/relationships" id="267" r:id="Rc30a11d5fe5e42d7"/>
    <p:sldId xmlns:r="http://schemas.openxmlformats.org/officeDocument/2006/relationships" id="268" r:id="R613d011c020d4155"/>
    <p:sldId xmlns:r="http://schemas.openxmlformats.org/officeDocument/2006/relationships" id="269" r:id="Rb94160245d254e73"/>
    <p:sldId xmlns:r="http://schemas.openxmlformats.org/officeDocument/2006/relationships" id="270" r:id="R458c4e88b9f34deb"/>
    <p:sldId xmlns:r="http://schemas.openxmlformats.org/officeDocument/2006/relationships" id="271" r:id="R1738e1b02b5545a7"/>
    <p:sldId xmlns:r="http://schemas.openxmlformats.org/officeDocument/2006/relationships" id="272" r:id="R2ba25783f4e24bbc"/>
    <p:sldId xmlns:r="http://schemas.openxmlformats.org/officeDocument/2006/relationships" id="273" r:id="R88ab808203ed4b17"/>
    <p:sldId xmlns:r="http://schemas.openxmlformats.org/officeDocument/2006/relationships" id="274" r:id="Re7b7990a55144ca6"/>
    <p:sldId xmlns:r="http://schemas.openxmlformats.org/officeDocument/2006/relationships" id="275" r:id="Rf4d8a43006424558"/>
    <p:sldId xmlns:r="http://schemas.openxmlformats.org/officeDocument/2006/relationships" id="276" r:id="R4e369b39e3334088"/>
    <p:sldId xmlns:r="http://schemas.openxmlformats.org/officeDocument/2006/relationships" id="277" r:id="R294637e54fa3496c"/>
    <p:sldId xmlns:r="http://schemas.openxmlformats.org/officeDocument/2006/relationships" id="278" r:id="Rce28ea42a2d8402d"/>
    <p:sldId xmlns:r="http://schemas.openxmlformats.org/officeDocument/2006/relationships" id="279" r:id="R22b5ed04c75649be"/>
    <p:sldId xmlns:r="http://schemas.openxmlformats.org/officeDocument/2006/relationships" id="280" r:id="R8393122cda454dde"/>
    <p:sldId xmlns:r="http://schemas.openxmlformats.org/officeDocument/2006/relationships" id="281" r:id="Rdbc78804161241fd"/>
    <p:sldId xmlns:r="http://schemas.openxmlformats.org/officeDocument/2006/relationships" id="282" r:id="Rc9bdef64ba374f47"/>
    <p:sldId xmlns:r="http://schemas.openxmlformats.org/officeDocument/2006/relationships" id="283" r:id="R360f2c7194ba4329"/>
    <p:sldId xmlns:r="http://schemas.openxmlformats.org/officeDocument/2006/relationships" id="284" r:id="R361e4a5823ac4a7c"/>
    <p:sldId xmlns:r="http://schemas.openxmlformats.org/officeDocument/2006/relationships" id="285" r:id="R2801e2e69a944936"/>
    <p:sldId xmlns:r="http://schemas.openxmlformats.org/officeDocument/2006/relationships" id="286" r:id="R35e723aa58464226"/>
    <p:sldId xmlns:r="http://schemas.openxmlformats.org/officeDocument/2006/relationships" id="287" r:id="R929f9ec47ce04b7e"/>
    <p:sldId xmlns:r="http://schemas.openxmlformats.org/officeDocument/2006/relationships" id="288" r:id="Rf3611eb160c14c88"/>
    <p:sldId xmlns:r="http://schemas.openxmlformats.org/officeDocument/2006/relationships" id="289" r:id="R9cbb95f63e4d4494"/>
    <p:sldId xmlns:r="http://schemas.openxmlformats.org/officeDocument/2006/relationships" id="290" r:id="R255dcfbee55c428d"/>
    <p:sldId xmlns:r="http://schemas.openxmlformats.org/officeDocument/2006/relationships" id="291" r:id="R09122efda1df4d6a"/>
    <p:sldId xmlns:r="http://schemas.openxmlformats.org/officeDocument/2006/relationships" id="292" r:id="Rc23be14a23984ac7"/>
    <p:sldId xmlns:r="http://schemas.openxmlformats.org/officeDocument/2006/relationships" id="293" r:id="Ra105c597567042d0"/>
    <p:sldId xmlns:r="http://schemas.openxmlformats.org/officeDocument/2006/relationships" id="294" r:id="R40eef0b64ef7461c"/>
    <p:sldId xmlns:r="http://schemas.openxmlformats.org/officeDocument/2006/relationships" id="295" r:id="R85d0263668be498d"/>
    <p:sldId xmlns:r="http://schemas.openxmlformats.org/officeDocument/2006/relationships" id="296" r:id="Rbf04b372bb664135"/>
    <p:sldId xmlns:r="http://schemas.openxmlformats.org/officeDocument/2006/relationships" id="297" r:id="Re65728eeeb4e4b86"/>
    <p:sldId xmlns:r="http://schemas.openxmlformats.org/officeDocument/2006/relationships" id="298" r:id="Rc3d4007d15484e2b"/>
    <p:sldId xmlns:r="http://schemas.openxmlformats.org/officeDocument/2006/relationships" id="299" r:id="Rf02ab0b9679743f3"/>
    <p:sldId xmlns:r="http://schemas.openxmlformats.org/officeDocument/2006/relationships" id="300" r:id="R711b89cae3294a48"/>
    <p:sldId xmlns:r="http://schemas.openxmlformats.org/officeDocument/2006/relationships" id="301" r:id="R5945fc9565414f9b"/>
    <p:sldId xmlns:r="http://schemas.openxmlformats.org/officeDocument/2006/relationships" id="302" r:id="R26b875531d2644d6"/>
    <p:sldId xmlns:r="http://schemas.openxmlformats.org/officeDocument/2006/relationships" id="303" r:id="Re66643e43aa44558"/>
    <p:sldId xmlns:r="http://schemas.openxmlformats.org/officeDocument/2006/relationships" id="304" r:id="R293556c678144023"/>
    <p:sldId xmlns:r="http://schemas.openxmlformats.org/officeDocument/2006/relationships" id="305" r:id="Rff001f09fe0e4f12"/>
    <p:sldId xmlns:r="http://schemas.openxmlformats.org/officeDocument/2006/relationships" id="306" r:id="R3e0f5e60eb344398"/>
    <p:sldId xmlns:r="http://schemas.openxmlformats.org/officeDocument/2006/relationships" id="307" r:id="R735e6e5727a84096"/>
    <p:sldId xmlns:r="http://schemas.openxmlformats.org/officeDocument/2006/relationships" id="308" r:id="Ra84fa35a593b4134"/>
    <p:sldId xmlns:r="http://schemas.openxmlformats.org/officeDocument/2006/relationships" id="309" r:id="R3c725ed46a7d4583"/>
    <p:sldId xmlns:r="http://schemas.openxmlformats.org/officeDocument/2006/relationships" id="310" r:id="Rd99e25ed70754873"/>
    <p:sldId xmlns:r="http://schemas.openxmlformats.org/officeDocument/2006/relationships" id="311" r:id="R9a91a4d53a04482c"/>
    <p:sldId xmlns:r="http://schemas.openxmlformats.org/officeDocument/2006/relationships" id="312" r:id="R7e47ee944b034079"/>
    <p:sldId xmlns:r="http://schemas.openxmlformats.org/officeDocument/2006/relationships" id="313" r:id="Rbe620a9cff474145"/>
    <p:sldId xmlns:r="http://schemas.openxmlformats.org/officeDocument/2006/relationships" id="314" r:id="R1567c6649396403f"/>
    <p:sldId xmlns:r="http://schemas.openxmlformats.org/officeDocument/2006/relationships" id="315" r:id="R210c4a285b544d6e"/>
    <p:sldId xmlns:r="http://schemas.openxmlformats.org/officeDocument/2006/relationships" id="316" r:id="R85219dd9b29a4827"/>
    <p:sldId xmlns:r="http://schemas.openxmlformats.org/officeDocument/2006/relationships" id="317" r:id="R500a41995bc14a6a"/>
    <p:sldId xmlns:r="http://schemas.openxmlformats.org/officeDocument/2006/relationships" id="318" r:id="R5f4839d42f3b447f"/>
    <p:sldId xmlns:r="http://schemas.openxmlformats.org/officeDocument/2006/relationships" id="319" r:id="R0197785d894b4ba3"/>
    <p:sldId xmlns:r="http://schemas.openxmlformats.org/officeDocument/2006/relationships" id="320" r:id="R808c3bebaa4041a8"/>
    <p:sldId xmlns:r="http://schemas.openxmlformats.org/officeDocument/2006/relationships" id="321" r:id="R7b92c567ec5b42d6"/>
    <p:sldId xmlns:r="http://schemas.openxmlformats.org/officeDocument/2006/relationships" id="322" r:id="R1967dd76cd3c4ebc"/>
    <p:sldId xmlns:r="http://schemas.openxmlformats.org/officeDocument/2006/relationships" id="323" r:id="R746fcf19c2064e0a"/>
    <p:sldId xmlns:r="http://schemas.openxmlformats.org/officeDocument/2006/relationships" id="324" r:id="R8a0df563c36b4772"/>
    <p:sldId xmlns:r="http://schemas.openxmlformats.org/officeDocument/2006/relationships" id="325" r:id="R27aa1aafd1e64116"/>
    <p:sldId xmlns:r="http://schemas.openxmlformats.org/officeDocument/2006/relationships" id="326" r:id="Re1912e3ccd6e4140"/>
    <p:sldId xmlns:r="http://schemas.openxmlformats.org/officeDocument/2006/relationships" id="327" r:id="Ref92f4b611014f9a"/>
    <p:sldId xmlns:r="http://schemas.openxmlformats.org/officeDocument/2006/relationships" id="328" r:id="Re8fb9c5bcbcb4ab6"/>
    <p:sldId xmlns:r="http://schemas.openxmlformats.org/officeDocument/2006/relationships" id="329" r:id="R3efd458e85374b0e"/>
    <p:sldId xmlns:r="http://schemas.openxmlformats.org/officeDocument/2006/relationships" id="330" r:id="Rf92848a1b0a646ca"/>
    <p:sldId xmlns:r="http://schemas.openxmlformats.org/officeDocument/2006/relationships" id="331" r:id="R92540a1955754c60"/>
    <p:sldId xmlns:r="http://schemas.openxmlformats.org/officeDocument/2006/relationships" id="332" r:id="R06dba3d5416d4415"/>
    <p:sldId xmlns:r="http://schemas.openxmlformats.org/officeDocument/2006/relationships" id="333" r:id="Rde10aa2cb90b4b43"/>
    <p:sldId xmlns:r="http://schemas.openxmlformats.org/officeDocument/2006/relationships" id="334" r:id="R423314e9ea4e4fa0"/>
    <p:sldId xmlns:r="http://schemas.openxmlformats.org/officeDocument/2006/relationships" id="335" r:id="Rf9e1756565564b29"/>
    <p:sldId xmlns:r="http://schemas.openxmlformats.org/officeDocument/2006/relationships" id="336" r:id="R89ead838501e4730"/>
    <p:sldId xmlns:r="http://schemas.openxmlformats.org/officeDocument/2006/relationships" id="337" r:id="R295b3f92e64c4cc6"/>
    <p:sldId xmlns:r="http://schemas.openxmlformats.org/officeDocument/2006/relationships" id="338" r:id="Rd597fa6b80b14a6f"/>
    <p:sldId xmlns:r="http://schemas.openxmlformats.org/officeDocument/2006/relationships" id="339" r:id="Rb66d87017e6346df"/>
    <p:sldId xmlns:r="http://schemas.openxmlformats.org/officeDocument/2006/relationships" id="340" r:id="R8da61b4209d04ca5"/>
    <p:sldId xmlns:r="http://schemas.openxmlformats.org/officeDocument/2006/relationships" id="341" r:id="R43684e0cf1e249fe"/>
    <p:sldId xmlns:r="http://schemas.openxmlformats.org/officeDocument/2006/relationships" id="342" r:id="R7cfe30d3ee744a91"/>
    <p:sldId xmlns:r="http://schemas.openxmlformats.org/officeDocument/2006/relationships" id="343" r:id="R19eeedb2ea414d3a"/>
    <p:sldId xmlns:r="http://schemas.openxmlformats.org/officeDocument/2006/relationships" id="344" r:id="R6ae5dcbf6f364af7"/>
    <p:sldId xmlns:r="http://schemas.openxmlformats.org/officeDocument/2006/relationships" id="345" r:id="Ra6b5024483984256"/>
    <p:sldId xmlns:r="http://schemas.openxmlformats.org/officeDocument/2006/relationships" id="346" r:id="R258a21d9b5324c49"/>
    <p:sldId xmlns:r="http://schemas.openxmlformats.org/officeDocument/2006/relationships" id="347" r:id="Rd4336c482afa495f"/>
    <p:sldId xmlns:r="http://schemas.openxmlformats.org/officeDocument/2006/relationships" id="348" r:id="R9b87a44e587548ba"/>
    <p:sldId xmlns:r="http://schemas.openxmlformats.org/officeDocument/2006/relationships" id="349" r:id="R0e800f5376084922"/>
    <p:sldId xmlns:r="http://schemas.openxmlformats.org/officeDocument/2006/relationships" id="350" r:id="Rf07dd62703ca43e9"/>
    <p:sldId xmlns:r="http://schemas.openxmlformats.org/officeDocument/2006/relationships" id="351" r:id="R853e577db9f94736"/>
    <p:sldId xmlns:r="http://schemas.openxmlformats.org/officeDocument/2006/relationships" id="352" r:id="Rbb4d7cea14de429e"/>
    <p:sldId xmlns:r="http://schemas.openxmlformats.org/officeDocument/2006/relationships" id="353" r:id="R258a33669b0743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3661a3232f4bfd" /><Relationship Type="http://schemas.openxmlformats.org/officeDocument/2006/relationships/slideMaster" Target="/ppt/slideMasters/slideMaster1.xml" Id="R9b75308f38704637" /><Relationship Type="http://schemas.openxmlformats.org/officeDocument/2006/relationships/notesMaster" Target="/ppt/notesMasters/notesMaster1.xml" Id="Rcf7da2ac968844fc" /><Relationship Type="http://schemas.openxmlformats.org/officeDocument/2006/relationships/presProps" Target="/ppt/presProps.xml" Id="R7f0dd29281d64b3e" /><Relationship Type="http://schemas.openxmlformats.org/officeDocument/2006/relationships/tableStyles" Target="/ppt/tableStyles.xml" Id="Radf56fd1786b4986" /><Relationship Type="http://schemas.openxmlformats.org/officeDocument/2006/relationships/slide" Target="/ppt/slides/slide1.xml" Id="R811c075a50e94897" /><Relationship Type="http://schemas.openxmlformats.org/officeDocument/2006/relationships/slide" Target="/ppt/slides/slide2.xml" Id="Rd6faea10ac46499a" /><Relationship Type="http://schemas.openxmlformats.org/officeDocument/2006/relationships/slide" Target="/ppt/slides/slide3.xml" Id="Reee1a84655c24b06" /><Relationship Type="http://schemas.openxmlformats.org/officeDocument/2006/relationships/slide" Target="/ppt/slides/slide4.xml" Id="Rcfeb1d4233d54ca4" /><Relationship Type="http://schemas.openxmlformats.org/officeDocument/2006/relationships/slide" Target="/ppt/slides/slide5.xml" Id="Rd0b8a667a6344fa6" /><Relationship Type="http://schemas.openxmlformats.org/officeDocument/2006/relationships/slide" Target="/ppt/slides/slide6.xml" Id="R18a55ded24c248fc" /><Relationship Type="http://schemas.openxmlformats.org/officeDocument/2006/relationships/slide" Target="/ppt/slides/slide7.xml" Id="Rfeafbacb153544ab" /><Relationship Type="http://schemas.openxmlformats.org/officeDocument/2006/relationships/slide" Target="/ppt/slides/slide8.xml" Id="Ra348f4f9b2a54c0c" /><Relationship Type="http://schemas.openxmlformats.org/officeDocument/2006/relationships/slide" Target="/ppt/slides/slide9.xml" Id="R1476df0cd11e4fd2" /><Relationship Type="http://schemas.openxmlformats.org/officeDocument/2006/relationships/slide" Target="/ppt/slides/slide10.xml" Id="R6d7d922d2c4b43ff" /><Relationship Type="http://schemas.openxmlformats.org/officeDocument/2006/relationships/slide" Target="/ppt/slides/slide11.xml" Id="R88797b41db5f4cad" /><Relationship Type="http://schemas.openxmlformats.org/officeDocument/2006/relationships/slide" Target="/ppt/slides/slide12.xml" Id="Rc30a11d5fe5e42d7" /><Relationship Type="http://schemas.openxmlformats.org/officeDocument/2006/relationships/slide" Target="/ppt/slides/slide13.xml" Id="R613d011c020d4155" /><Relationship Type="http://schemas.openxmlformats.org/officeDocument/2006/relationships/slide" Target="/ppt/slides/slide14.xml" Id="Rb94160245d254e73" /><Relationship Type="http://schemas.openxmlformats.org/officeDocument/2006/relationships/slide" Target="/ppt/slides/slide15.xml" Id="R458c4e88b9f34deb" /><Relationship Type="http://schemas.openxmlformats.org/officeDocument/2006/relationships/slide" Target="/ppt/slides/slide16.xml" Id="R1738e1b02b5545a7" /><Relationship Type="http://schemas.openxmlformats.org/officeDocument/2006/relationships/slide" Target="/ppt/slides/slide17.xml" Id="R2ba25783f4e24bbc" /><Relationship Type="http://schemas.openxmlformats.org/officeDocument/2006/relationships/slide" Target="/ppt/slides/slide18.xml" Id="R88ab808203ed4b17" /><Relationship Type="http://schemas.openxmlformats.org/officeDocument/2006/relationships/slide" Target="/ppt/slides/slide19.xml" Id="Re7b7990a55144ca6" /><Relationship Type="http://schemas.openxmlformats.org/officeDocument/2006/relationships/slide" Target="/ppt/slides/slide20.xml" Id="Rf4d8a43006424558" /><Relationship Type="http://schemas.openxmlformats.org/officeDocument/2006/relationships/slide" Target="/ppt/slides/slide21.xml" Id="R4e369b39e3334088" /><Relationship Type="http://schemas.openxmlformats.org/officeDocument/2006/relationships/slide" Target="/ppt/slides/slide22.xml" Id="R294637e54fa3496c" /><Relationship Type="http://schemas.openxmlformats.org/officeDocument/2006/relationships/slide" Target="/ppt/slides/slide23.xml" Id="Rce28ea42a2d8402d" /><Relationship Type="http://schemas.openxmlformats.org/officeDocument/2006/relationships/slide" Target="/ppt/slides/slide24.xml" Id="R22b5ed04c75649be" /><Relationship Type="http://schemas.openxmlformats.org/officeDocument/2006/relationships/slide" Target="/ppt/slides/slide25.xml" Id="R8393122cda454dde" /><Relationship Type="http://schemas.openxmlformats.org/officeDocument/2006/relationships/slide" Target="/ppt/slides/slide26.xml" Id="Rdbc78804161241fd" /><Relationship Type="http://schemas.openxmlformats.org/officeDocument/2006/relationships/slide" Target="/ppt/slides/slide27.xml" Id="Rc9bdef64ba374f47" /><Relationship Type="http://schemas.openxmlformats.org/officeDocument/2006/relationships/slide" Target="/ppt/slides/slide28.xml" Id="R360f2c7194ba4329" /><Relationship Type="http://schemas.openxmlformats.org/officeDocument/2006/relationships/slide" Target="/ppt/slides/slide29.xml" Id="R361e4a5823ac4a7c" /><Relationship Type="http://schemas.openxmlformats.org/officeDocument/2006/relationships/slide" Target="/ppt/slides/slide30.xml" Id="R2801e2e69a944936" /><Relationship Type="http://schemas.openxmlformats.org/officeDocument/2006/relationships/slide" Target="/ppt/slides/slide31.xml" Id="R35e723aa58464226" /><Relationship Type="http://schemas.openxmlformats.org/officeDocument/2006/relationships/slide" Target="/ppt/slides/slide32.xml" Id="R929f9ec47ce04b7e" /><Relationship Type="http://schemas.openxmlformats.org/officeDocument/2006/relationships/slide" Target="/ppt/slides/slide33.xml" Id="Rf3611eb160c14c88" /><Relationship Type="http://schemas.openxmlformats.org/officeDocument/2006/relationships/slide" Target="/ppt/slides/slide34.xml" Id="R9cbb95f63e4d4494" /><Relationship Type="http://schemas.openxmlformats.org/officeDocument/2006/relationships/slide" Target="/ppt/slides/slide35.xml" Id="R255dcfbee55c428d" /><Relationship Type="http://schemas.openxmlformats.org/officeDocument/2006/relationships/slide" Target="/ppt/slides/slide36.xml" Id="R09122efda1df4d6a" /><Relationship Type="http://schemas.openxmlformats.org/officeDocument/2006/relationships/slide" Target="/ppt/slides/slide37.xml" Id="Rc23be14a23984ac7" /><Relationship Type="http://schemas.openxmlformats.org/officeDocument/2006/relationships/slide" Target="/ppt/slides/slide38.xml" Id="Ra105c597567042d0" /><Relationship Type="http://schemas.openxmlformats.org/officeDocument/2006/relationships/slide" Target="/ppt/slides/slide39.xml" Id="R40eef0b64ef7461c" /><Relationship Type="http://schemas.openxmlformats.org/officeDocument/2006/relationships/slide" Target="/ppt/slides/slide40.xml" Id="R85d0263668be498d" /><Relationship Type="http://schemas.openxmlformats.org/officeDocument/2006/relationships/slide" Target="/ppt/slides/slide41.xml" Id="Rbf04b372bb664135" /><Relationship Type="http://schemas.openxmlformats.org/officeDocument/2006/relationships/slide" Target="/ppt/slides/slide42.xml" Id="Re65728eeeb4e4b86" /><Relationship Type="http://schemas.openxmlformats.org/officeDocument/2006/relationships/slide" Target="/ppt/slides/slide43.xml" Id="Rc3d4007d15484e2b" /><Relationship Type="http://schemas.openxmlformats.org/officeDocument/2006/relationships/slide" Target="/ppt/slides/slide44.xml" Id="Rf02ab0b9679743f3" /><Relationship Type="http://schemas.openxmlformats.org/officeDocument/2006/relationships/slide" Target="/ppt/slides/slide45.xml" Id="R711b89cae3294a48" /><Relationship Type="http://schemas.openxmlformats.org/officeDocument/2006/relationships/slide" Target="/ppt/slides/slide46.xml" Id="R5945fc9565414f9b" /><Relationship Type="http://schemas.openxmlformats.org/officeDocument/2006/relationships/slide" Target="/ppt/slides/slide47.xml" Id="R26b875531d2644d6" /><Relationship Type="http://schemas.openxmlformats.org/officeDocument/2006/relationships/slide" Target="/ppt/slides/slide48.xml" Id="Re66643e43aa44558" /><Relationship Type="http://schemas.openxmlformats.org/officeDocument/2006/relationships/slide" Target="/ppt/slides/slide49.xml" Id="R293556c678144023" /><Relationship Type="http://schemas.openxmlformats.org/officeDocument/2006/relationships/slide" Target="/ppt/slides/slide50.xml" Id="Rff001f09fe0e4f12" /><Relationship Type="http://schemas.openxmlformats.org/officeDocument/2006/relationships/slide" Target="/ppt/slides/slide51.xml" Id="R3e0f5e60eb344398" /><Relationship Type="http://schemas.openxmlformats.org/officeDocument/2006/relationships/slide" Target="/ppt/slides/slide52.xml" Id="R735e6e5727a84096" /><Relationship Type="http://schemas.openxmlformats.org/officeDocument/2006/relationships/slide" Target="/ppt/slides/slide53.xml" Id="Ra84fa35a593b4134" /><Relationship Type="http://schemas.openxmlformats.org/officeDocument/2006/relationships/slide" Target="/ppt/slides/slide54.xml" Id="R3c725ed46a7d4583" /><Relationship Type="http://schemas.openxmlformats.org/officeDocument/2006/relationships/slide" Target="/ppt/slides/slide55.xml" Id="Rd99e25ed70754873" /><Relationship Type="http://schemas.openxmlformats.org/officeDocument/2006/relationships/slide" Target="/ppt/slides/slide56.xml" Id="R9a91a4d53a04482c" /><Relationship Type="http://schemas.openxmlformats.org/officeDocument/2006/relationships/slide" Target="/ppt/slides/slide57.xml" Id="R7e47ee944b034079" /><Relationship Type="http://schemas.openxmlformats.org/officeDocument/2006/relationships/slide" Target="/ppt/slides/slide58.xml" Id="Rbe620a9cff474145" /><Relationship Type="http://schemas.openxmlformats.org/officeDocument/2006/relationships/slide" Target="/ppt/slides/slide59.xml" Id="R1567c6649396403f" /><Relationship Type="http://schemas.openxmlformats.org/officeDocument/2006/relationships/slide" Target="/ppt/slides/slide60.xml" Id="R210c4a285b544d6e" /><Relationship Type="http://schemas.openxmlformats.org/officeDocument/2006/relationships/slide" Target="/ppt/slides/slide61.xml" Id="R85219dd9b29a4827" /><Relationship Type="http://schemas.openxmlformats.org/officeDocument/2006/relationships/slide" Target="/ppt/slides/slide62.xml" Id="R500a41995bc14a6a" /><Relationship Type="http://schemas.openxmlformats.org/officeDocument/2006/relationships/slide" Target="/ppt/slides/slide63.xml" Id="R5f4839d42f3b447f" /><Relationship Type="http://schemas.openxmlformats.org/officeDocument/2006/relationships/slide" Target="/ppt/slides/slide64.xml" Id="R0197785d894b4ba3" /><Relationship Type="http://schemas.openxmlformats.org/officeDocument/2006/relationships/slide" Target="/ppt/slides/slide65.xml" Id="R808c3bebaa4041a8" /><Relationship Type="http://schemas.openxmlformats.org/officeDocument/2006/relationships/slide" Target="/ppt/slides/slide66.xml" Id="R7b92c567ec5b42d6" /><Relationship Type="http://schemas.openxmlformats.org/officeDocument/2006/relationships/slide" Target="/ppt/slides/slide67.xml" Id="R1967dd76cd3c4ebc" /><Relationship Type="http://schemas.openxmlformats.org/officeDocument/2006/relationships/slide" Target="/ppt/slides/slide68.xml" Id="R746fcf19c2064e0a" /><Relationship Type="http://schemas.openxmlformats.org/officeDocument/2006/relationships/slide" Target="/ppt/slides/slide69.xml" Id="R8a0df563c36b4772" /><Relationship Type="http://schemas.openxmlformats.org/officeDocument/2006/relationships/slide" Target="/ppt/slides/slide70.xml" Id="R27aa1aafd1e64116" /><Relationship Type="http://schemas.openxmlformats.org/officeDocument/2006/relationships/slide" Target="/ppt/slides/slide71.xml" Id="Re1912e3ccd6e4140" /><Relationship Type="http://schemas.openxmlformats.org/officeDocument/2006/relationships/slide" Target="/ppt/slides/slide72.xml" Id="Ref92f4b611014f9a" /><Relationship Type="http://schemas.openxmlformats.org/officeDocument/2006/relationships/slide" Target="/ppt/slides/slide73.xml" Id="Re8fb9c5bcbcb4ab6" /><Relationship Type="http://schemas.openxmlformats.org/officeDocument/2006/relationships/slide" Target="/ppt/slides/slide74.xml" Id="R3efd458e85374b0e" /><Relationship Type="http://schemas.openxmlformats.org/officeDocument/2006/relationships/slide" Target="/ppt/slides/slide75.xml" Id="Rf92848a1b0a646ca" /><Relationship Type="http://schemas.openxmlformats.org/officeDocument/2006/relationships/slide" Target="/ppt/slides/slide76.xml" Id="R92540a1955754c60" /><Relationship Type="http://schemas.openxmlformats.org/officeDocument/2006/relationships/slide" Target="/ppt/slides/slide77.xml" Id="R06dba3d5416d4415" /><Relationship Type="http://schemas.openxmlformats.org/officeDocument/2006/relationships/slide" Target="/ppt/slides/slide78.xml" Id="Rde10aa2cb90b4b43" /><Relationship Type="http://schemas.openxmlformats.org/officeDocument/2006/relationships/slide" Target="/ppt/slides/slide79.xml" Id="R423314e9ea4e4fa0" /><Relationship Type="http://schemas.openxmlformats.org/officeDocument/2006/relationships/slide" Target="/ppt/slides/slide80.xml" Id="Rf9e1756565564b29" /><Relationship Type="http://schemas.openxmlformats.org/officeDocument/2006/relationships/slide" Target="/ppt/slides/slide81.xml" Id="R89ead838501e4730" /><Relationship Type="http://schemas.openxmlformats.org/officeDocument/2006/relationships/slide" Target="/ppt/slides/slide82.xml" Id="R295b3f92e64c4cc6" /><Relationship Type="http://schemas.openxmlformats.org/officeDocument/2006/relationships/slide" Target="/ppt/slides/slide83.xml" Id="Rd597fa6b80b14a6f" /><Relationship Type="http://schemas.openxmlformats.org/officeDocument/2006/relationships/slide" Target="/ppt/slides/slide84.xml" Id="Rb66d87017e6346df" /><Relationship Type="http://schemas.openxmlformats.org/officeDocument/2006/relationships/slide" Target="/ppt/slides/slide85.xml" Id="R8da61b4209d04ca5" /><Relationship Type="http://schemas.openxmlformats.org/officeDocument/2006/relationships/slide" Target="/ppt/slides/slide86.xml" Id="R43684e0cf1e249fe" /><Relationship Type="http://schemas.openxmlformats.org/officeDocument/2006/relationships/slide" Target="/ppt/slides/slide87.xml" Id="R7cfe30d3ee744a91" /><Relationship Type="http://schemas.openxmlformats.org/officeDocument/2006/relationships/slide" Target="/ppt/slides/slide88.xml" Id="R19eeedb2ea414d3a" /><Relationship Type="http://schemas.openxmlformats.org/officeDocument/2006/relationships/slide" Target="/ppt/slides/slide89.xml" Id="R6ae5dcbf6f364af7" /><Relationship Type="http://schemas.openxmlformats.org/officeDocument/2006/relationships/slide" Target="/ppt/slides/slide90.xml" Id="Ra6b5024483984256" /><Relationship Type="http://schemas.openxmlformats.org/officeDocument/2006/relationships/slide" Target="/ppt/slides/slide91.xml" Id="R258a21d9b5324c49" /><Relationship Type="http://schemas.openxmlformats.org/officeDocument/2006/relationships/slide" Target="/ppt/slides/slide92.xml" Id="Rd4336c482afa495f" /><Relationship Type="http://schemas.openxmlformats.org/officeDocument/2006/relationships/slide" Target="/ppt/slides/slide93.xml" Id="R9b87a44e587548ba" /><Relationship Type="http://schemas.openxmlformats.org/officeDocument/2006/relationships/slide" Target="/ppt/slides/slide94.xml" Id="R0e800f5376084922" /><Relationship Type="http://schemas.openxmlformats.org/officeDocument/2006/relationships/slide" Target="/ppt/slides/slide95.xml" Id="Rf07dd62703ca43e9" /><Relationship Type="http://schemas.openxmlformats.org/officeDocument/2006/relationships/slide" Target="/ppt/slides/slide96.xml" Id="R853e577db9f94736" /><Relationship Type="http://schemas.openxmlformats.org/officeDocument/2006/relationships/slide" Target="/ppt/slides/slide97.xml" Id="Rbb4d7cea14de429e" /><Relationship Type="http://schemas.openxmlformats.org/officeDocument/2006/relationships/slide" Target="/ppt/slides/slide98.xml" Id="R258a33669b0743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01ce9f71f0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35108271f4030" /><Relationship Type="http://schemas.openxmlformats.org/officeDocument/2006/relationships/notesMaster" Target="/ppt/notesMasters/notesMaster1.xml" Id="Ref99a7b48632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0a0b09f4954703" /><Relationship Type="http://schemas.openxmlformats.org/officeDocument/2006/relationships/notesMaster" Target="/ppt/notesMasters/notesMaster1.xml" Id="Rfdd63abc4dec4f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f9b130f0cf4da6" /><Relationship Type="http://schemas.openxmlformats.org/officeDocument/2006/relationships/notesMaster" Target="/ppt/notesMasters/notesMaster1.xml" Id="R85ae703a312e4f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bc156c5b9a485d" /><Relationship Type="http://schemas.openxmlformats.org/officeDocument/2006/relationships/notesMaster" Target="/ppt/notesMasters/notesMaster1.xml" Id="R2f18bf2f3d49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fc8276d974f47" /><Relationship Type="http://schemas.openxmlformats.org/officeDocument/2006/relationships/notesMaster" Target="/ppt/notesMasters/notesMaster1.xml" Id="Rc494de95887c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58dfd399694acc" /><Relationship Type="http://schemas.openxmlformats.org/officeDocument/2006/relationships/notesMaster" Target="/ppt/notesMasters/notesMaster1.xml" Id="R85b2f3ffc83c47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f39d292b74cba" /><Relationship Type="http://schemas.openxmlformats.org/officeDocument/2006/relationships/notesMaster" Target="/ppt/notesMasters/notesMaster1.xml" Id="Rf2ea7976d58e4a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c662ee7da439b" /><Relationship Type="http://schemas.openxmlformats.org/officeDocument/2006/relationships/notesMaster" Target="/ppt/notesMasters/notesMaster1.xml" Id="Rd6bf67fd25ca48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bf1853d03b428d" /><Relationship Type="http://schemas.openxmlformats.org/officeDocument/2006/relationships/notesMaster" Target="/ppt/notesMasters/notesMaster1.xml" Id="R7d8b8af931a84d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6b45f219fd43d9" /><Relationship Type="http://schemas.openxmlformats.org/officeDocument/2006/relationships/notesMaster" Target="/ppt/notesMasters/notesMaster1.xml" Id="R9221583dd14648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dae8512fde4248" /><Relationship Type="http://schemas.openxmlformats.org/officeDocument/2006/relationships/notesMaster" Target="/ppt/notesMasters/notesMaster1.xml" Id="R1a81c04f514a4c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b8b28c1ec545ab" /><Relationship Type="http://schemas.openxmlformats.org/officeDocument/2006/relationships/notesMaster" Target="/ppt/notesMasters/notesMaster1.xml" Id="Rf2d9534987ad4a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ae09d1951f4ab0" /><Relationship Type="http://schemas.openxmlformats.org/officeDocument/2006/relationships/notesMaster" Target="/ppt/notesMasters/notesMaster1.xml" Id="R123a1c30b71042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cce849c51f4772" /><Relationship Type="http://schemas.openxmlformats.org/officeDocument/2006/relationships/notesMaster" Target="/ppt/notesMasters/notesMaster1.xml" Id="Re36bbf57dec744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e8bb50af824068" /><Relationship Type="http://schemas.openxmlformats.org/officeDocument/2006/relationships/notesMaster" Target="/ppt/notesMasters/notesMaster1.xml" Id="R8bfbc90a58eb4a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2994f9e7204134" /><Relationship Type="http://schemas.openxmlformats.org/officeDocument/2006/relationships/notesMaster" Target="/ppt/notesMasters/notesMaster1.xml" Id="R9deb669f39a243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624bdb7f1f445c" /><Relationship Type="http://schemas.openxmlformats.org/officeDocument/2006/relationships/notesMaster" Target="/ppt/notesMasters/notesMaster1.xml" Id="R873d748d8b4842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7d56d88cf2493f" /><Relationship Type="http://schemas.openxmlformats.org/officeDocument/2006/relationships/notesMaster" Target="/ppt/notesMasters/notesMaster1.xml" Id="R0cf70b3c5bb944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386727f4204540" /><Relationship Type="http://schemas.openxmlformats.org/officeDocument/2006/relationships/notesMaster" Target="/ppt/notesMasters/notesMaster1.xml" Id="R45c00cb5a37644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b00044ae414ad3" /><Relationship Type="http://schemas.openxmlformats.org/officeDocument/2006/relationships/notesMaster" Target="/ppt/notesMasters/notesMaster1.xml" Id="Re1443186884840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b04706477140d8" /><Relationship Type="http://schemas.openxmlformats.org/officeDocument/2006/relationships/notesMaster" Target="/ppt/notesMasters/notesMaster1.xml" Id="Rcb5b2eb854c44a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7bbb5c0f0b4e5c" /><Relationship Type="http://schemas.openxmlformats.org/officeDocument/2006/relationships/notesMaster" Target="/ppt/notesMasters/notesMaster1.xml" Id="Rb73b4e6a86c649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bf7ce7997c4240" /><Relationship Type="http://schemas.openxmlformats.org/officeDocument/2006/relationships/notesMaster" Target="/ppt/notesMasters/notesMaster1.xml" Id="Rcd7ff5a4efd0473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6ef8df9c554bbb" /><Relationship Type="http://schemas.openxmlformats.org/officeDocument/2006/relationships/notesMaster" Target="/ppt/notesMasters/notesMaster1.xml" Id="R6087458e05e54b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5714d6971d4f59" /><Relationship Type="http://schemas.openxmlformats.org/officeDocument/2006/relationships/notesMaster" Target="/ppt/notesMasters/notesMaster1.xml" Id="Rf84f8cdbd5f840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fcbd54a629c4e0d" /><Relationship Type="http://schemas.openxmlformats.org/officeDocument/2006/relationships/notesMaster" Target="/ppt/notesMasters/notesMaster1.xml" Id="Rcd588955dd624e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1e491c40c44187" /><Relationship Type="http://schemas.openxmlformats.org/officeDocument/2006/relationships/notesMaster" Target="/ppt/notesMasters/notesMaster1.xml" Id="Rece34e933f9343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9f2d439fcd474e" /><Relationship Type="http://schemas.openxmlformats.org/officeDocument/2006/relationships/notesMaster" Target="/ppt/notesMasters/notesMaster1.xml" Id="R9e77591ac6ff4c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8ee7fafc3c4b62" /><Relationship Type="http://schemas.openxmlformats.org/officeDocument/2006/relationships/notesMaster" Target="/ppt/notesMasters/notesMaster1.xml" Id="Rf51f49aa920841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b49a57e1ee4bd7" /><Relationship Type="http://schemas.openxmlformats.org/officeDocument/2006/relationships/notesMaster" Target="/ppt/notesMasters/notesMaster1.xml" Id="R85674389c5ef4f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a822b990dbb4a5d" /><Relationship Type="http://schemas.openxmlformats.org/officeDocument/2006/relationships/notesMaster" Target="/ppt/notesMasters/notesMaster1.xml" Id="R37fe0bf3aaf745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95e5a6d20c4927" /><Relationship Type="http://schemas.openxmlformats.org/officeDocument/2006/relationships/notesMaster" Target="/ppt/notesMasters/notesMaster1.xml" Id="R5b90e8f0262e40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7557ac67d64ad6" /><Relationship Type="http://schemas.openxmlformats.org/officeDocument/2006/relationships/notesMaster" Target="/ppt/notesMasters/notesMaster1.xml" Id="R8d53c9a334d24d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f99d1eaadaa4d52" /><Relationship Type="http://schemas.openxmlformats.org/officeDocument/2006/relationships/notesMaster" Target="/ppt/notesMasters/notesMaster1.xml" Id="Rff85cb75049442d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590ada65b8482f" /><Relationship Type="http://schemas.openxmlformats.org/officeDocument/2006/relationships/notesMaster" Target="/ppt/notesMasters/notesMaster1.xml" Id="R43d69b05df774f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6f280dfd416444b" /><Relationship Type="http://schemas.openxmlformats.org/officeDocument/2006/relationships/notesMaster" Target="/ppt/notesMasters/notesMaster1.xml" Id="R2ff2b83b606a4fd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f0060c00e34667" /><Relationship Type="http://schemas.openxmlformats.org/officeDocument/2006/relationships/notesMaster" Target="/ppt/notesMasters/notesMaster1.xml" Id="Rb3a413410c9940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bf056094fe4dd8" /><Relationship Type="http://schemas.openxmlformats.org/officeDocument/2006/relationships/notesMaster" Target="/ppt/notesMasters/notesMaster1.xml" Id="R853ee134957e428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f562b53c204323" /><Relationship Type="http://schemas.openxmlformats.org/officeDocument/2006/relationships/notesMaster" Target="/ppt/notesMasters/notesMaster1.xml" Id="R8851225f7465496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64a8f8501f34041" /><Relationship Type="http://schemas.openxmlformats.org/officeDocument/2006/relationships/notesMaster" Target="/ppt/notesMasters/notesMaster1.xml" Id="Rcdb7f2e8f711466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847887578bd4c5b" /><Relationship Type="http://schemas.openxmlformats.org/officeDocument/2006/relationships/notesMaster" Target="/ppt/notesMasters/notesMaster1.xml" Id="R72eedfa2135046c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cd5ec506773465d" /><Relationship Type="http://schemas.openxmlformats.org/officeDocument/2006/relationships/notesMaster" Target="/ppt/notesMasters/notesMaster1.xml" Id="R32ec490f8f944a2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e1dd904dd8248cb" /><Relationship Type="http://schemas.openxmlformats.org/officeDocument/2006/relationships/notesMaster" Target="/ppt/notesMasters/notesMaster1.xml" Id="R41b016bdbe54404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b8ff2ab49c4d41" /><Relationship Type="http://schemas.openxmlformats.org/officeDocument/2006/relationships/notesMaster" Target="/ppt/notesMasters/notesMaster1.xml" Id="R61f24983b2db4e1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5f22ced8a5f42c5" /><Relationship Type="http://schemas.openxmlformats.org/officeDocument/2006/relationships/notesMaster" Target="/ppt/notesMasters/notesMaster1.xml" Id="R83b9da7fabd94cd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fdfb65fe805466a" /><Relationship Type="http://schemas.openxmlformats.org/officeDocument/2006/relationships/notesMaster" Target="/ppt/notesMasters/notesMaster1.xml" Id="Ree8329ab9e3c478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314af11d34d4c1f" /><Relationship Type="http://schemas.openxmlformats.org/officeDocument/2006/relationships/notesMaster" Target="/ppt/notesMasters/notesMaster1.xml" Id="Rc6a73d0c055f431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a0793cdd95a40c0" /><Relationship Type="http://schemas.openxmlformats.org/officeDocument/2006/relationships/notesMaster" Target="/ppt/notesMasters/notesMaster1.xml" Id="R9f9df269e47e4d1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d4c1c80a3a54d3a" /><Relationship Type="http://schemas.openxmlformats.org/officeDocument/2006/relationships/notesMaster" Target="/ppt/notesMasters/notesMaster1.xml" Id="R16d77ce6a75d4d0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ebe38995a9348a2" /><Relationship Type="http://schemas.openxmlformats.org/officeDocument/2006/relationships/notesMaster" Target="/ppt/notesMasters/notesMaster1.xml" Id="R73592ba86d43407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a1e5c53e85046c4" /><Relationship Type="http://schemas.openxmlformats.org/officeDocument/2006/relationships/notesMaster" Target="/ppt/notesMasters/notesMaster1.xml" Id="R4db73d8e7cfa4e2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70019b1fe5143dd" /><Relationship Type="http://schemas.openxmlformats.org/officeDocument/2006/relationships/notesMaster" Target="/ppt/notesMasters/notesMaster1.xml" Id="Rf40e5f0936114ba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9eefac1f91c468a" /><Relationship Type="http://schemas.openxmlformats.org/officeDocument/2006/relationships/notesMaster" Target="/ppt/notesMasters/notesMaster1.xml" Id="R28c3a6dfa57b483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96b668032ba4664" /><Relationship Type="http://schemas.openxmlformats.org/officeDocument/2006/relationships/notesMaster" Target="/ppt/notesMasters/notesMaster1.xml" Id="R51f2e994fbcd44f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17e2fa7ed394cd2" /><Relationship Type="http://schemas.openxmlformats.org/officeDocument/2006/relationships/notesMaster" Target="/ppt/notesMasters/notesMaster1.xml" Id="R0b628e99f33641c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508f44d36514aea" /><Relationship Type="http://schemas.openxmlformats.org/officeDocument/2006/relationships/notesMaster" Target="/ppt/notesMasters/notesMaster1.xml" Id="R8dbe1e71d93e43a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e49074077b04662" /><Relationship Type="http://schemas.openxmlformats.org/officeDocument/2006/relationships/notesMaster" Target="/ppt/notesMasters/notesMaster1.xml" Id="R92518a09a3c24e5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9359c3c8d0f40f8" /><Relationship Type="http://schemas.openxmlformats.org/officeDocument/2006/relationships/notesMaster" Target="/ppt/notesMasters/notesMaster1.xml" Id="Rb32fc6beb451443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c977790714b4642" /><Relationship Type="http://schemas.openxmlformats.org/officeDocument/2006/relationships/notesMaster" Target="/ppt/notesMasters/notesMaster1.xml" Id="R47b8888d8c7c404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c191bd02e654bfe" /><Relationship Type="http://schemas.openxmlformats.org/officeDocument/2006/relationships/notesMaster" Target="/ppt/notesMasters/notesMaster1.xml" Id="Re75ba2f50e8f473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725ab190b0f463c" /><Relationship Type="http://schemas.openxmlformats.org/officeDocument/2006/relationships/notesMaster" Target="/ppt/notesMasters/notesMaster1.xml" Id="Rab162780aa9e406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164216b480148bb" /><Relationship Type="http://schemas.openxmlformats.org/officeDocument/2006/relationships/notesMaster" Target="/ppt/notesMasters/notesMaster1.xml" Id="R8af1f899410344f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b33ef1a2dea480a" /><Relationship Type="http://schemas.openxmlformats.org/officeDocument/2006/relationships/notesMaster" Target="/ppt/notesMasters/notesMaster1.xml" Id="R118d35fb63c841c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2e7f5578b224e13" /><Relationship Type="http://schemas.openxmlformats.org/officeDocument/2006/relationships/notesMaster" Target="/ppt/notesMasters/notesMaster1.xml" Id="R0ce1e884f4514a0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463d617c0014ad6" /><Relationship Type="http://schemas.openxmlformats.org/officeDocument/2006/relationships/notesMaster" Target="/ppt/notesMasters/notesMaster1.xml" Id="Ree05672868214b4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05c35cd69c54979" /><Relationship Type="http://schemas.openxmlformats.org/officeDocument/2006/relationships/notesMaster" Target="/ppt/notesMasters/notesMaster1.xml" Id="R32c8db82f73e407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348f1c0f1e74763" /><Relationship Type="http://schemas.openxmlformats.org/officeDocument/2006/relationships/notesMaster" Target="/ppt/notesMasters/notesMaster1.xml" Id="Ra81979dfc24d4a8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f11a114e5254e54" /><Relationship Type="http://schemas.openxmlformats.org/officeDocument/2006/relationships/notesMaster" Target="/ppt/notesMasters/notesMaster1.xml" Id="R5bd785d031c24be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6ef5468e9304b00" /><Relationship Type="http://schemas.openxmlformats.org/officeDocument/2006/relationships/notesMaster" Target="/ppt/notesMasters/notesMaster1.xml" Id="Rd07a0ed920c2409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d5ca641cf944089" /><Relationship Type="http://schemas.openxmlformats.org/officeDocument/2006/relationships/notesMaster" Target="/ppt/notesMasters/notesMaster1.xml" Id="Rf40d934098bb423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d0c73027a864c79" /><Relationship Type="http://schemas.openxmlformats.org/officeDocument/2006/relationships/notesMaster" Target="/ppt/notesMasters/notesMaster1.xml" Id="R5b02e3e1f29c4758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cc9021a02dc4429" /><Relationship Type="http://schemas.openxmlformats.org/officeDocument/2006/relationships/notesMaster" Target="/ppt/notesMasters/notesMaster1.xml" Id="R62bb55faadaa498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16a4b073685420d" /><Relationship Type="http://schemas.openxmlformats.org/officeDocument/2006/relationships/notesMaster" Target="/ppt/notesMasters/notesMaster1.xml" Id="Ra07e5c5a4ba4446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3a875da71e54242" /><Relationship Type="http://schemas.openxmlformats.org/officeDocument/2006/relationships/notesMaster" Target="/ppt/notesMasters/notesMaster1.xml" Id="R78baac565967494d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62579fd1501495c" /><Relationship Type="http://schemas.openxmlformats.org/officeDocument/2006/relationships/notesMaster" Target="/ppt/notesMasters/notesMaster1.xml" Id="Re77c89957fd44af3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95e281b1ebd42df" /><Relationship Type="http://schemas.openxmlformats.org/officeDocument/2006/relationships/notesMaster" Target="/ppt/notesMasters/notesMaster1.xml" Id="R8771bd8960bf468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f0069b7332a4ad4" /><Relationship Type="http://schemas.openxmlformats.org/officeDocument/2006/relationships/notesMaster" Target="/ppt/notesMasters/notesMaster1.xml" Id="R1a05a4887e4f437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eff8102c5b5433d" /><Relationship Type="http://schemas.openxmlformats.org/officeDocument/2006/relationships/notesMaster" Target="/ppt/notesMasters/notesMaster1.xml" Id="R26eb3072a65a4c2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ee53ab47747454d" /><Relationship Type="http://schemas.openxmlformats.org/officeDocument/2006/relationships/notesMaster" Target="/ppt/notesMasters/notesMaster1.xml" Id="R22a13ef2752d4ba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0a7737574d04e75" /><Relationship Type="http://schemas.openxmlformats.org/officeDocument/2006/relationships/notesMaster" Target="/ppt/notesMasters/notesMaster1.xml" Id="R0d03d9d71e33455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a08e3f1fbbe4661" /><Relationship Type="http://schemas.openxmlformats.org/officeDocument/2006/relationships/notesMaster" Target="/ppt/notesMasters/notesMaster1.xml" Id="R5cf5eb20bb574d9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f126be6863f04e8a" /><Relationship Type="http://schemas.openxmlformats.org/officeDocument/2006/relationships/notesMaster" Target="/ppt/notesMasters/notesMaster1.xml" Id="R7d17379c62a0404c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6d6ffb872a44031" /><Relationship Type="http://schemas.openxmlformats.org/officeDocument/2006/relationships/notesMaster" Target="/ppt/notesMasters/notesMaster1.xml" Id="R198099e76c4241a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3325659bc4d445b6" /><Relationship Type="http://schemas.openxmlformats.org/officeDocument/2006/relationships/notesMaster" Target="/ppt/notesMasters/notesMaster1.xml" Id="R1ce4e30178fc4bd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a9f4f32041a24f41" /><Relationship Type="http://schemas.openxmlformats.org/officeDocument/2006/relationships/notesMaster" Target="/ppt/notesMasters/notesMaster1.xml" Id="R6add55cbf9b64854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727e0ece730496f" /><Relationship Type="http://schemas.openxmlformats.org/officeDocument/2006/relationships/notesMaster" Target="/ppt/notesMasters/notesMaster1.xml" Id="R57e27abe6d354bf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1c575e65bbbd4ebf" /><Relationship Type="http://schemas.openxmlformats.org/officeDocument/2006/relationships/notesMaster" Target="/ppt/notesMasters/notesMaster1.xml" Id="R36f301591463447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f6ae70ae7c6488e" /><Relationship Type="http://schemas.openxmlformats.org/officeDocument/2006/relationships/notesMaster" Target="/ppt/notesMasters/notesMaster1.xml" Id="R100658b3811249c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53d0079b14ba4b44" /><Relationship Type="http://schemas.openxmlformats.org/officeDocument/2006/relationships/notesMaster" Target="/ppt/notesMasters/notesMaster1.xml" Id="R960e10b39e5e4484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ccab816ccc24f2f" /><Relationship Type="http://schemas.openxmlformats.org/officeDocument/2006/relationships/notesMaster" Target="/ppt/notesMasters/notesMaster1.xml" Id="Ree6477b49ab14740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4ce912ae59d4fb3" /><Relationship Type="http://schemas.openxmlformats.org/officeDocument/2006/relationships/notesMaster" Target="/ppt/notesMasters/notesMaster1.xml" Id="Rae8a2951ab7e434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12efe2d022d4c88" /><Relationship Type="http://schemas.openxmlformats.org/officeDocument/2006/relationships/notesMaster" Target="/ppt/notesMasters/notesMaster1.xml" Id="R92075520ba5148ae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b2756f45adb4fe4" /><Relationship Type="http://schemas.openxmlformats.org/officeDocument/2006/relationships/notesMaster" Target="/ppt/notesMasters/notesMaster1.xml" Id="Rdaac6e8affe946f1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9763acf9f7d458a" /><Relationship Type="http://schemas.openxmlformats.org/officeDocument/2006/relationships/notesMaster" Target="/ppt/notesMasters/notesMaster1.xml" Id="R5909d68d583b4b5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067ce8475c04479" /><Relationship Type="http://schemas.openxmlformats.org/officeDocument/2006/relationships/notesMaster" Target="/ppt/notesMasters/notesMaster1.xml" Id="Ra06b39cc7cb5484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72f1de691d64f88" /><Relationship Type="http://schemas.openxmlformats.org/officeDocument/2006/relationships/notesMaster" Target="/ppt/notesMasters/notesMaster1.xml" Id="Rffd35337f583439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00a4975a10b4381" /><Relationship Type="http://schemas.openxmlformats.org/officeDocument/2006/relationships/notesMaster" Target="/ppt/notesMasters/notesMaster1.xml" Id="R672da22bb3e9481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176da37d4fa467d" /><Relationship Type="http://schemas.openxmlformats.org/officeDocument/2006/relationships/notesMaster" Target="/ppt/notesMasters/notesMaster1.xml" Id="Rd2de6cff6c79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operating rule: capture evidence before changing state.</a:t>
            </a:r>
          </a:p>
          <a:p xmlns:a="http://schemas.openxmlformats.org/drawingml/2006/main">
            <a:r>
              <a:t>VAST product behavior is demonstrated only in the official VAST Data Labs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1-2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 that controlled faults are Ubuntu-only; the public VAST lab is treated as read-only.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2-6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whenever participants infer that MinIO, Samba, or local NFS represents VAST internals.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Reject any root-cause statement that silently mixes simulated and real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the delivery mode during introductions and again before every protocol or VMS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checklist 24–48 hours before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Part A of the trainer master. Group participants for labs without exposing individual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deployment details as concepts unless the customer provides a writable VAST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describes DASE as Disaggregated Shared-Everything.</a:t>
            </a:r>
          </a:p>
          <a:p xmlns:a="http://schemas.openxmlformats.org/drawingml/2006/main">
            <a:r>
              <a:t>Keep this diagram conceptual: specific hardware packaging and generations can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inventing node-local commands. Use VMS inventory and supported customer procedures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 exact failing path and client identity during every access incident.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describes a View as a protocol-independent presentation of a folder; policy determines applicable access semantics.</a:t>
            </a:r>
          </a:p>
          <a:p xmlns:a="http://schemas.openxmlformats.org/drawingml/2006/main">
            <a:r>
              <a:t>Element Store is neither a traditional file system nor a traditional object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https://www.vastdata.com/what-is-vast-element-store</a:t>
            </a:r>
          </a:p>
          <a:p xmlns:a="http://schemas.openxmlformats.org/drawingml/2006/main">
            <a:r>
              <a:t>- https://www.vastdata.com/what-is-a-vast-view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boundary before all quota, snapshot, alarm, rebuild, failover, and upgrade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Dashboard → Infrastructure → Capacity → Analytics → Network Access. Treat all write actions as conceptual in the public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2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Disaggregated Shared Everything; 2 — B. Add CNodes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https://www.vastdata.com/blog/vasts-datastore-and-the-case-for-true-shared-everything-architecture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Alert creation may be conceptual in a read-only VAST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state the affected resource and timestamp before interpreting severity.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VMS navigation only; do not assume every lab session permits acknowledgment or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demo: Ubuntu target UP. VAST target is shown only when authorized and version-correct.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If no active alarm exists, use the newest historical alarm and label the exercise retrospective.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treating severity alone as proof of root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https://www.vastdata.com/resources/lab-guides/system-overview-and-capacity-management-lab-guide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C. Event records an occurrence; alert identifies a condition requiring attention; 2 — D. Correlate alarms with metric changes and user impact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metric changes when block size increases at constant IOPS.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 illustrative values as VAST limits or benchmark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Expected: learners can reproduce the exact hardware, network, mount, and workload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The baseline becomes the comparison set for every later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Revised_Vast Storage_SP_TOC.pdf, p.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using a tiny file that is served from client cache.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Run write tests only on the dedicated lab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finding: high IOPS can coexist with modest bandwidth for small-block workloads.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shorter runs for class time but keep duration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fio JSON latency fields are commonly nanoseconds; convert consistently before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result: participants explain why dd bandwidth alone cannot characterize training I/O.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They expose slow-tail operations hidden by averages; 2 — B. Latency can rise sharply without useful throughput gain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3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https://www.vastdata.com/resources/lab-guides/introduction-to-networking-in-the-vms-lab-guide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capture credentials or unrelated production traffic. Limit interface, host, port, duration, and file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Skip fault injection if the only interface carries remote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Safety: never apply tc to the management interface of a remote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Do not display authentication payloads or capture unrelated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Expected: endpoint and port are confirmed; the pcap becomes one time-aligned evidence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only between endpoints approved for load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Virtual NICs may expose limited counters; record that limitation rather than inventing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Packet loss; 2 — C. Correct path, gateway, reachability, and absence of unintended asymmetry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hard mount retries temporary interruptions; explain the integrity and wait-time implications without prescribing universal mount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embed a password in the mount command or deck. Use a protected credential file or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MinIO is the lab S3-compatible service. It does not represent VAST internals.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minutes. On a VAST lab, inspect the View but do not assume write privileges.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using showmount alone as proof that NFSv4 access should succeed.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Prepare one invalid credential and one valid-but-unauthorized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Never solve the exercise by chmod 777. Use the minimum intended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only temporary lab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treating a 404 as proof that the storage payload disappeared.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 success is a valid lab outcome when write approval is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prepared log fixtures when no live mount failure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D. Check share permissions, ACLs, and underlying file-system permissions; 2 — A. Hold dataset, client conditions, and workload constant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4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reject any result that improves throughput by introducing errors or unacceptable tail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minutes. Use a 120-second timeout and size the load to preserve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blaming storage from application latency without checking client saturation.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Each team must name its rollback before applying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result is neutral, the experiment is still valid; document that the hypothesis was not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Establish a reproducible baseline; 2 — D. Re-run the same workload and compare performance and stability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4-5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change permissions until the failed gate and intended access policy are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evidence bundle before any controlled service stop.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 SMB or MinIO may be substituted, preserving the same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C. Capture current errors, service status, logs, connections, and timestamps; 2 — D. Validate access, workload, monitoring, and error conditions end to end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Teams rotate incident commander, evidence lead, operator, and reporter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REAL—UBUNTU and SIMULATED—VMS labels in every generated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Preserve seed/configuration values when scenarios contain bounded variability.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Participants must hold workload shape constant during recovery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exact client address, identity, View/share/export, and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Capacity pressure can contribute to latency without being the direct cause of every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replication recovery must validate the business RPO, not only service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Escalate when redundancy is reduced, rebuild stalls, multiple paths fail, or upgrade prechecks do not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affected-vs-healthy comparison to avoid deep-diving the wrong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is never proof. Require at least a causal mechanism and corroborating evidence from another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 root cause for debrief: a competing small-block random workload creates contention and queueing on the shared dataset path; network packet loss is a secondary injected amplifier in some runs. The exact class delivery may choose one primary fault, but reveal evidence progressively.</a:t>
            </a:r>
          </a:p>
          <a:p xmlns:a="http://schemas.openxmlformats.org/drawingml/2006/main">
            <a:r>
              <a:t>Do not show the root cause until teams submit a ranked hypothesis and missing-evidence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6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row at a time. Ask teams to update hypotheses, not merely add observations.</a:t>
            </a:r>
          </a:p>
          <a:p xmlns:a="http://schemas.openxmlformats.org/drawingml/2006/main">
            <a:r>
              <a:t>Expected finding: slow dataset delivery starves GPUs; the GPU is a downstream symptom.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minutes.</a:t>
            </a:r>
          </a:p>
          <a:p xmlns:a="http://schemas.openxmlformats.org/drawingml/2006/main">
            <a:r>
              <a:t>Debrief: distinguish root cause (competing workload / network impairment) from impact (dataset starvation) and downstream symptom (low GPU utilization).</a:t>
            </a:r>
          </a:p>
          <a:p xmlns:a="http://schemas.openxmlformats.org/drawingml/2006/main">
            <a:r>
              <a:t>Accept alternate root cause only when the trainer deliberately injects it and the evidence chain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B. Investigate the end-to-end data-delivery path and baseline; 2 — A. One client is slow while shared services and peers remain healthy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 support-bundle generation is limited to supported/writable customer environments; discuss conceptually in the public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run as an unprivileged user first; use privilege only for the specific logs approved by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30 minutes. Use the prior controlled service incident if no new fault is injected.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mistake: sorting by severity rather than time and shared identifiers.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RPO as acceptable data-loss window and RTO as acceptable restoration time.</a:t>
            </a:r>
          </a:p>
          <a:p xmlns:a="http://schemas.openxmlformats.org/drawingml/2006/main">
            <a:r>
              <a:t>Keep VAST-specific backup/replication/failover behavior conceptual unless verified in the customer's supported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5</a:t>
            </a:r>
          </a:p>
          <a:p xmlns:a="http://schemas.openxmlformats.org/drawingml/2006/main">
            <a:r>
              <a:t>- VAST_Storage_Pre_Post_Module_Quiz_Trainer_Master.docx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 — A. Normalize timestamps and preserve the incident time window; 2 — B. Maximum acceptable amount of data loss measured in time</a:t>
            </a:r>
          </a:p>
          <a:p xmlns:a="http://schemas.openxmlformats.org/drawingml/2006/main">
            <a:r>
              <a:t>Ask for the evidence or principle behind each choice before revealing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 root cause for debrief: a dataset publishing job performs non-atomic rename/delete behavior while one client group uses a stale path mapping and cached directory entries. Capacity growth is a contributing condition that increases metadata/browse latency, not the direct cause of every 404.</a:t>
            </a:r>
          </a:p>
          <a:p xmlns:a="http://schemas.openxmlformats.org/drawingml/2006/main">
            <a:r>
              <a:t>Do not reveal until teams prove the exact failing names, identities, and operation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p. 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rows in order. Ask teams to distinguish direct cause, contributing condition, and unrelated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minutes.</a:t>
            </a:r>
          </a:p>
          <a:p xmlns:a="http://schemas.openxmlformats.org/drawingml/2006/main">
            <a:r>
              <a:t>Success: all representative clients can browse and read the canonical dataset, errors stop, and the report separates direct cause from capacity-related contributing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checklist for capstone scoring and real customer demonstrations.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highlighted trainer master for answers and explanations. Keep the full bank outside the participant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VAST_Storage_Pre_Post_Module_Quiz_Trainer_Master.docx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each team for one behavior they will stop and one evidence practice they will adopt.</a:t>
            </a:r>
          </a:p>
          <a:p xmlns:a="http://schemas.openxmlformats.org/drawingml/2006/main">
            <a:r>
              <a:t>Recommended answer: stop changing multiple variables; start preserving a reproducible baseline and UTC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Revised_Vast Storage_SP_TOC.pdf, pp. 2-6</a:t>
            </a:r>
          </a:p>
          <a:p xmlns:a="http://schemas.openxmlformats.org/drawingml/2006/main">
            <a:r>
              <a:t>- VAST_Storage_Trainer_Lab_Setup_Guide.docx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e70b9151c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b4d2194254c2f" /><Relationship Type="http://schemas.openxmlformats.org/officeDocument/2006/relationships/slideLayout" Target="/ppt/slideLayouts/slideLayout1.xml" Id="R73dc1cbe9232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c1cbe9232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25fbe80ee4611" /><Relationship Type="http://schemas.openxmlformats.org/officeDocument/2006/relationships/notesSlide" Target="/ppt/notesSlides/notesSlide1.xml" Id="R0872ef1012d249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ee06eff444c8" /><Relationship Type="http://schemas.openxmlformats.org/officeDocument/2006/relationships/notesSlide" Target="/ppt/notesSlides/notesSlide2.xml" Id="Rb83791362059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c031ffe64e8d" /><Relationship Type="http://schemas.openxmlformats.org/officeDocument/2006/relationships/notesSlide" Target="/ppt/notesSlides/notesSlide3.xml" Id="Recc8bac0941b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9e1f81524814" /><Relationship Type="http://schemas.openxmlformats.org/officeDocument/2006/relationships/notesSlide" Target="/ppt/notesSlides/notesSlide4.xml" Id="Rb42cb4b70ff14a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e47a1781143d3" /><Relationship Type="http://schemas.openxmlformats.org/officeDocument/2006/relationships/notesSlide" Target="/ppt/notesSlides/notesSlide5.xml" Id="R02954805f30f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413e3da7a40b2" /><Relationship Type="http://schemas.openxmlformats.org/officeDocument/2006/relationships/notesSlide" Target="/ppt/notesSlides/notesSlide6.xml" Id="R47c632394f3b4e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ffb2d96154f3e" /><Relationship Type="http://schemas.openxmlformats.org/officeDocument/2006/relationships/notesSlide" Target="/ppt/notesSlides/notesSlide7.xml" Id="Rab21793e6a44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74bf4d33841bc" /><Relationship Type="http://schemas.openxmlformats.org/officeDocument/2006/relationships/notesSlide" Target="/ppt/notesSlides/notesSlide8.xml" Id="R656adbee91104f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a316c826a426c" /><Relationship Type="http://schemas.openxmlformats.org/officeDocument/2006/relationships/notesSlide" Target="/ppt/notesSlides/notesSlide9.xml" Id="Reca9c7ed65f041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ecdfb67594246" /><Relationship Type="http://schemas.openxmlformats.org/officeDocument/2006/relationships/notesSlide" Target="/ppt/notesSlides/notesSlide10.xml" Id="R328668fc9d864d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41dc4dfe443c" /><Relationship Type="http://schemas.openxmlformats.org/officeDocument/2006/relationships/notesSlide" Target="/ppt/notesSlides/notesSlide11.xml" Id="R4444edca3f8349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080a3e06446d3" /><Relationship Type="http://schemas.openxmlformats.org/officeDocument/2006/relationships/notesSlide" Target="/ppt/notesSlides/notesSlide12.xml" Id="Rb212df068c9541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5caba124440f5" /><Relationship Type="http://schemas.openxmlformats.org/officeDocument/2006/relationships/notesSlide" Target="/ppt/notesSlides/notesSlide13.xml" Id="R71d9e73c035b4e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5838d8a1b47b1" /><Relationship Type="http://schemas.openxmlformats.org/officeDocument/2006/relationships/notesSlide" Target="/ppt/notesSlides/notesSlide14.xml" Id="Rd6fa28deca2d46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39a3b15954550" /><Relationship Type="http://schemas.openxmlformats.org/officeDocument/2006/relationships/notesSlide" Target="/ppt/notesSlides/notesSlide15.xml" Id="R9b01222b17cc48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eaa4cf2664555" /><Relationship Type="http://schemas.openxmlformats.org/officeDocument/2006/relationships/notesSlide" Target="/ppt/notesSlides/notesSlide16.xml" Id="Rf9304d993bc04d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3278a0324b6d" /><Relationship Type="http://schemas.openxmlformats.org/officeDocument/2006/relationships/notesSlide" Target="/ppt/notesSlides/notesSlide17.xml" Id="R7eada752e3994a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4ed24c635487e" /><Relationship Type="http://schemas.openxmlformats.org/officeDocument/2006/relationships/notesSlide" Target="/ppt/notesSlides/notesSlide18.xml" Id="R605d280de19e44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185512a94a67" /><Relationship Type="http://schemas.openxmlformats.org/officeDocument/2006/relationships/notesSlide" Target="/ppt/notesSlides/notesSlide19.xml" Id="R74947172320449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5431577e4e0b" /><Relationship Type="http://schemas.openxmlformats.org/officeDocument/2006/relationships/notesSlide" Target="/ppt/notesSlides/notesSlide20.xml" Id="Rdb7784e4009445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663c3f1624e02" /><Relationship Type="http://schemas.openxmlformats.org/officeDocument/2006/relationships/notesSlide" Target="/ppt/notesSlides/notesSlide21.xml" Id="Rf6f12fbdc23d45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13ee1caa4f00" /><Relationship Type="http://schemas.openxmlformats.org/officeDocument/2006/relationships/notesSlide" Target="/ppt/notesSlides/notesSlide22.xml" Id="Rf89bcd0a3e5a4c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15b83c04147c2" /><Relationship Type="http://schemas.openxmlformats.org/officeDocument/2006/relationships/notesSlide" Target="/ppt/notesSlides/notesSlide23.xml" Id="R9e41bd1e92614ba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1d97bedcb4733" /><Relationship Type="http://schemas.openxmlformats.org/officeDocument/2006/relationships/notesSlide" Target="/ppt/notesSlides/notesSlide24.xml" Id="R5fbb9e88f35a45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2b96332374f54" /><Relationship Type="http://schemas.openxmlformats.org/officeDocument/2006/relationships/notesSlide" Target="/ppt/notesSlides/notesSlide25.xml" Id="R2bb7690c10344ce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9e0451a484c30" /><Relationship Type="http://schemas.openxmlformats.org/officeDocument/2006/relationships/chart" Target="/ppt/slides/charts/chart1.xml" Id="Re814c05a714648f4" /><Relationship Type="http://schemas.openxmlformats.org/officeDocument/2006/relationships/notesSlide" Target="/ppt/notesSlides/notesSlide26.xml" Id="R7b5daf8dd07c4a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317afd9b242a2" /><Relationship Type="http://schemas.openxmlformats.org/officeDocument/2006/relationships/notesSlide" Target="/ppt/notesSlides/notesSlide27.xml" Id="R55a8d2fe793f4f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15c49cb8a41d7" /><Relationship Type="http://schemas.openxmlformats.org/officeDocument/2006/relationships/notesSlide" Target="/ppt/notesSlides/notesSlide28.xml" Id="R59c4a472cc9448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27df195f048ef" /><Relationship Type="http://schemas.openxmlformats.org/officeDocument/2006/relationships/notesSlide" Target="/ppt/notesSlides/notesSlide29.xml" Id="Red564b856bcd43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fd89fa5ff483d" /><Relationship Type="http://schemas.openxmlformats.org/officeDocument/2006/relationships/notesSlide" Target="/ppt/notesSlides/notesSlide30.xml" Id="Re916e6c374d446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27c5536cd4099" /><Relationship Type="http://schemas.openxmlformats.org/officeDocument/2006/relationships/notesSlide" Target="/ppt/notesSlides/notesSlide31.xml" Id="R8423f747490e45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56e3e9da4fd1" /><Relationship Type="http://schemas.openxmlformats.org/officeDocument/2006/relationships/notesSlide" Target="/ppt/notesSlides/notesSlide32.xml" Id="R5d4450b0411e4f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6c47af84a4119" /><Relationship Type="http://schemas.openxmlformats.org/officeDocument/2006/relationships/notesSlide" Target="/ppt/notesSlides/notesSlide33.xml" Id="R3bcc5049eb64444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5f01153124f03" /><Relationship Type="http://schemas.openxmlformats.org/officeDocument/2006/relationships/notesSlide" Target="/ppt/notesSlides/notesSlide34.xml" Id="R5c0e270bc4a7473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73677160142db" /><Relationship Type="http://schemas.openxmlformats.org/officeDocument/2006/relationships/notesSlide" Target="/ppt/notesSlides/notesSlide35.xml" Id="R8bf734a410f7449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2bddb5584f6c" /><Relationship Type="http://schemas.openxmlformats.org/officeDocument/2006/relationships/notesSlide" Target="/ppt/notesSlides/notesSlide36.xml" Id="R0fe067563ea243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35074134243b6" /><Relationship Type="http://schemas.openxmlformats.org/officeDocument/2006/relationships/notesSlide" Target="/ppt/notesSlides/notesSlide37.xml" Id="Re73b64dffb7f475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1c36ee214e86" /><Relationship Type="http://schemas.openxmlformats.org/officeDocument/2006/relationships/notesSlide" Target="/ppt/notesSlides/notesSlide38.xml" Id="Rcb68980cd92643e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94d3eaf80494b" /><Relationship Type="http://schemas.openxmlformats.org/officeDocument/2006/relationships/notesSlide" Target="/ppt/notesSlides/notesSlide39.xml" Id="R65683341947d422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4d475344f4e8a" /><Relationship Type="http://schemas.openxmlformats.org/officeDocument/2006/relationships/notesSlide" Target="/ppt/notesSlides/notesSlide40.xml" Id="Rb96d776f9fbd41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f02af29264813" /><Relationship Type="http://schemas.openxmlformats.org/officeDocument/2006/relationships/notesSlide" Target="/ppt/notesSlides/notesSlide41.xml" Id="Rb9c6b7cecdc8432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65c007cb349e6" /><Relationship Type="http://schemas.openxmlformats.org/officeDocument/2006/relationships/notesSlide" Target="/ppt/notesSlides/notesSlide42.xml" Id="R16c87f4629d04bc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2dd05ea3d4d18" /><Relationship Type="http://schemas.openxmlformats.org/officeDocument/2006/relationships/notesSlide" Target="/ppt/notesSlides/notesSlide43.xml" Id="R4fd9efd48a50482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a25dbff9646a5" /><Relationship Type="http://schemas.openxmlformats.org/officeDocument/2006/relationships/notesSlide" Target="/ppt/notesSlides/notesSlide44.xml" Id="R61532229f6634f9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3247b27724ebe" /><Relationship Type="http://schemas.openxmlformats.org/officeDocument/2006/relationships/notesSlide" Target="/ppt/notesSlides/notesSlide45.xml" Id="R39329d12b7eb45b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74cc93f994ebd" /><Relationship Type="http://schemas.openxmlformats.org/officeDocument/2006/relationships/notesSlide" Target="/ppt/notesSlides/notesSlide46.xml" Id="R1772d3ab587444d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1b62c6db443f" /><Relationship Type="http://schemas.openxmlformats.org/officeDocument/2006/relationships/notesSlide" Target="/ppt/notesSlides/notesSlide47.xml" Id="Rd3fa7b614b0c49d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846e91ed04443" /><Relationship Type="http://schemas.openxmlformats.org/officeDocument/2006/relationships/notesSlide" Target="/ppt/notesSlides/notesSlide48.xml" Id="Rb79e9a5ab14443b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3707dbfff4d48" /><Relationship Type="http://schemas.openxmlformats.org/officeDocument/2006/relationships/notesSlide" Target="/ppt/notesSlides/notesSlide49.xml" Id="Rf298cf049ed344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5f7ab85a54c89" /><Relationship Type="http://schemas.openxmlformats.org/officeDocument/2006/relationships/notesSlide" Target="/ppt/notesSlides/notesSlide50.xml" Id="Re071fcda6878449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c91dc6ae64b7c" /><Relationship Type="http://schemas.openxmlformats.org/officeDocument/2006/relationships/notesSlide" Target="/ppt/notesSlides/notesSlide51.xml" Id="R6fb52e10d3b2417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e28f2d0a94282" /><Relationship Type="http://schemas.openxmlformats.org/officeDocument/2006/relationships/notesSlide" Target="/ppt/notesSlides/notesSlide52.xml" Id="R29216a6a6ed2454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a0872d45245f3" /><Relationship Type="http://schemas.openxmlformats.org/officeDocument/2006/relationships/notesSlide" Target="/ppt/notesSlides/notesSlide53.xml" Id="R9470004335fd464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bd57aaf7f43fd" /><Relationship Type="http://schemas.openxmlformats.org/officeDocument/2006/relationships/notesSlide" Target="/ppt/notesSlides/notesSlide54.xml" Id="R6caa4b5f2d274e1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abcf97c4d4533" /><Relationship Type="http://schemas.openxmlformats.org/officeDocument/2006/relationships/notesSlide" Target="/ppt/notesSlides/notesSlide55.xml" Id="Rda07966b3a81476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ba4d1a1264be9" /><Relationship Type="http://schemas.openxmlformats.org/officeDocument/2006/relationships/notesSlide" Target="/ppt/notesSlides/notesSlide56.xml" Id="Rd0a7657bd4df458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2a468412e47c3" /><Relationship Type="http://schemas.openxmlformats.org/officeDocument/2006/relationships/notesSlide" Target="/ppt/notesSlides/notesSlide57.xml" Id="R0df3a6134bf34ab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9a7999854159" /><Relationship Type="http://schemas.openxmlformats.org/officeDocument/2006/relationships/notesSlide" Target="/ppt/notesSlides/notesSlide58.xml" Id="Rb07e4596f5cf452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91161db4547ab" /><Relationship Type="http://schemas.openxmlformats.org/officeDocument/2006/relationships/notesSlide" Target="/ppt/notesSlides/notesSlide59.xml" Id="R63c7dc34c2c845a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2694608d34f5c" /><Relationship Type="http://schemas.openxmlformats.org/officeDocument/2006/relationships/notesSlide" Target="/ppt/notesSlides/notesSlide60.xml" Id="Rd24aed9a3eed489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adc50390743b3" /><Relationship Type="http://schemas.openxmlformats.org/officeDocument/2006/relationships/notesSlide" Target="/ppt/notesSlides/notesSlide61.xml" Id="Rb92726effa05402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16c715f44a64" /><Relationship Type="http://schemas.openxmlformats.org/officeDocument/2006/relationships/notesSlide" Target="/ppt/notesSlides/notesSlide62.xml" Id="R4247a520d6cf47d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c74c047d24ae2" /><Relationship Type="http://schemas.openxmlformats.org/officeDocument/2006/relationships/notesSlide" Target="/ppt/notesSlides/notesSlide63.xml" Id="R3e4752bbd0ac426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c83e3aa204a1d" /><Relationship Type="http://schemas.openxmlformats.org/officeDocument/2006/relationships/notesSlide" Target="/ppt/notesSlides/notesSlide64.xml" Id="R4f017d1fb357428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c90cdfea4852" /><Relationship Type="http://schemas.openxmlformats.org/officeDocument/2006/relationships/notesSlide" Target="/ppt/notesSlides/notesSlide65.xml" Id="R91c27a42beec41b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6ca40cca14826" /><Relationship Type="http://schemas.openxmlformats.org/officeDocument/2006/relationships/notesSlide" Target="/ppt/notesSlides/notesSlide66.xml" Id="R6c2560661f3846f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5890d0ea4012" /><Relationship Type="http://schemas.openxmlformats.org/officeDocument/2006/relationships/notesSlide" Target="/ppt/notesSlides/notesSlide67.xml" Id="Rb7d2a0f65eb54c9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f1cb9bfa54349" /><Relationship Type="http://schemas.openxmlformats.org/officeDocument/2006/relationships/notesSlide" Target="/ppt/notesSlides/notesSlide68.xml" Id="Rd22ce367a3464f2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3b451318b475a" /><Relationship Type="http://schemas.openxmlformats.org/officeDocument/2006/relationships/notesSlide" Target="/ppt/notesSlides/notesSlide69.xml" Id="R35d832f6adf6426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b0ebd2563473d" /><Relationship Type="http://schemas.openxmlformats.org/officeDocument/2006/relationships/notesSlide" Target="/ppt/notesSlides/notesSlide70.xml" Id="R3efe070e062d4d6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51188b2ae4010" /><Relationship Type="http://schemas.openxmlformats.org/officeDocument/2006/relationships/notesSlide" Target="/ppt/notesSlides/notesSlide71.xml" Id="Rae432539f025446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63d226734fb2" /><Relationship Type="http://schemas.openxmlformats.org/officeDocument/2006/relationships/notesSlide" Target="/ppt/notesSlides/notesSlide72.xml" Id="Rd5f0cbde06ff4c9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447b7ff9c4dbd" /><Relationship Type="http://schemas.openxmlformats.org/officeDocument/2006/relationships/notesSlide" Target="/ppt/notesSlides/notesSlide73.xml" Id="Rbe50cfd7a27a49fa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4a94a3f58493f" /><Relationship Type="http://schemas.openxmlformats.org/officeDocument/2006/relationships/notesSlide" Target="/ppt/notesSlides/notesSlide74.xml" Id="Ra25598cc0e904b7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1b28fba7f4ed3" /><Relationship Type="http://schemas.openxmlformats.org/officeDocument/2006/relationships/notesSlide" Target="/ppt/notesSlides/notesSlide75.xml" Id="R382b9a3a5806412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66af06fa14864" /><Relationship Type="http://schemas.openxmlformats.org/officeDocument/2006/relationships/notesSlide" Target="/ppt/notesSlides/notesSlide76.xml" Id="Rb3926c16224d42f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09b943c3641c5" /><Relationship Type="http://schemas.openxmlformats.org/officeDocument/2006/relationships/notesSlide" Target="/ppt/notesSlides/notesSlide77.xml" Id="Ra010230baf2b45c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501a26b4a4140" /><Relationship Type="http://schemas.openxmlformats.org/officeDocument/2006/relationships/notesSlide" Target="/ppt/notesSlides/notesSlide78.xml" Id="R3abf9d418f1644e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9ce1e70cc48c6" /><Relationship Type="http://schemas.openxmlformats.org/officeDocument/2006/relationships/notesSlide" Target="/ppt/notesSlides/notesSlide79.xml" Id="R636c96b891bc48e6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cbde4c93425d" /><Relationship Type="http://schemas.openxmlformats.org/officeDocument/2006/relationships/notesSlide" Target="/ppt/notesSlides/notesSlide80.xml" Id="R8184365b70ab4c6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3b439f2884200" /><Relationship Type="http://schemas.openxmlformats.org/officeDocument/2006/relationships/notesSlide" Target="/ppt/notesSlides/notesSlide81.xml" Id="R34038f92fdbb4c7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064342759447d" /><Relationship Type="http://schemas.openxmlformats.org/officeDocument/2006/relationships/notesSlide" Target="/ppt/notesSlides/notesSlide82.xml" Id="R17adac7083dd445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dc1041d84808" /><Relationship Type="http://schemas.openxmlformats.org/officeDocument/2006/relationships/notesSlide" Target="/ppt/notesSlides/notesSlide83.xml" Id="R9cb44f02652d4f5e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72c6f992e4d8e" /><Relationship Type="http://schemas.openxmlformats.org/officeDocument/2006/relationships/notesSlide" Target="/ppt/notesSlides/notesSlide84.xml" Id="Rb1ad043a1a72480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32ca8b5d4107" /><Relationship Type="http://schemas.openxmlformats.org/officeDocument/2006/relationships/notesSlide" Target="/ppt/notesSlides/notesSlide85.xml" Id="R04eb0f553fb944ff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f232f553d43c5" /><Relationship Type="http://schemas.openxmlformats.org/officeDocument/2006/relationships/notesSlide" Target="/ppt/notesSlides/notesSlide86.xml" Id="R2f6b9dff48bc4fe3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2be0f2b8c42bd" /><Relationship Type="http://schemas.openxmlformats.org/officeDocument/2006/relationships/notesSlide" Target="/ppt/notesSlides/notesSlide87.xml" Id="Rfdb5e611de154ad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c96e505e94149" /><Relationship Type="http://schemas.openxmlformats.org/officeDocument/2006/relationships/notesSlide" Target="/ppt/notesSlides/notesSlide88.xml" Id="Rd1281b7b61d1421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ca35e5d64323" /><Relationship Type="http://schemas.openxmlformats.org/officeDocument/2006/relationships/notesSlide" Target="/ppt/notesSlides/notesSlide89.xml" Id="R8a52e33262a246db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c4118bf7c4a71" /><Relationship Type="http://schemas.openxmlformats.org/officeDocument/2006/relationships/notesSlide" Target="/ppt/notesSlides/notesSlide90.xml" Id="Rdc747c80c3fa431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24430c8cb497d" /><Relationship Type="http://schemas.openxmlformats.org/officeDocument/2006/relationships/notesSlide" Target="/ppt/notesSlides/notesSlide91.xml" Id="R20a79761969a42f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26dbb59e64ec3" /><Relationship Type="http://schemas.openxmlformats.org/officeDocument/2006/relationships/notesSlide" Target="/ppt/notesSlides/notesSlide92.xml" Id="Rc4d701ed878f4bd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1d04723a44333" /><Relationship Type="http://schemas.openxmlformats.org/officeDocument/2006/relationships/notesSlide" Target="/ppt/notesSlides/notesSlide93.xml" Id="Rf7ef6689f24d4ec9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f9a40cf94445a" /><Relationship Type="http://schemas.openxmlformats.org/officeDocument/2006/relationships/notesSlide" Target="/ppt/notesSlides/notesSlide94.xml" Id="R000af025d6854b4d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4e331ce649b9" /><Relationship Type="http://schemas.openxmlformats.org/officeDocument/2006/relationships/notesSlide" Target="/ppt/notesSlides/notesSlide95.xml" Id="Redaba30e927b44d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ff0b5ce784374" /><Relationship Type="http://schemas.openxmlformats.org/officeDocument/2006/relationships/notesSlide" Target="/ppt/notesSlides/notesSlide96.xml" Id="R0bcf1ee8bf7f4b1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77c3b28814646" /><Relationship Type="http://schemas.openxmlformats.org/officeDocument/2006/relationships/notesSlide" Target="/ppt/notesSlides/notesSlide97.xml" Id="R555fccbee7d042e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95713aa614ad8" /><Relationship Type="http://schemas.openxmlformats.org/officeDocument/2006/relationships/notesSlide" Target="/ppt/notesSlides/notesSlide98.xml" Id="Rc5575ad8e5e24de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22336"/>
                </a:solidFill>
              </a:rPr>
              <a:t>Latency as queue depth increases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22336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Average ms</c:v>
          </c:tx>
          <c:spPr>
            <a:ln xmlns:a="http://schemas.openxmlformats.org/drawingml/2006/main" w="28575">
              <a:solidFill>
                <a:srgbClr val="1677C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QD1</c:v>
              </c:pt>
              <c:pt idx="1">
                <c:v>QD4</c:v>
              </c:pt>
              <c:pt idx="2">
                <c:v>QD8</c:v>
              </c:pt>
              <c:pt idx="3">
                <c:v>QD16</c:v>
              </c:pt>
              <c:pt idx="4">
                <c:v>QD32</c:v>
              </c:pt>
              <c:pt idx="5">
                <c:v>QD64</c:v>
              </c:pt>
            </c:strLit>
          </c:cat>
          <c:val>
            <c:numLit>
              <c:formatCode>General</c:formatCode>
              <c:ptCount val="6"/>
              <c:pt idx="0">
                <c:v>0.7</c:v>
              </c:pt>
              <c:pt idx="1">
                <c:v>0.9</c:v>
              </c:pt>
              <c:pt idx="2">
                <c:v>1.2</c:v>
              </c:pt>
              <c:pt idx="3">
                <c:v>2.1</c:v>
              </c:pt>
              <c:pt idx="4">
                <c:v>4.8</c:v>
              </c:pt>
              <c:pt idx="5">
                <c:v>10.6</c:v>
              </c:pt>
            </c:numLit>
          </c:val>
        </c:ser>
        <c:ser>
          <c:idx val="1"/>
          <c:order val="1"/>
          <c:tx>
            <c:v>P99 ms</c:v>
          </c:tx>
          <c:spPr>
            <a:ln xmlns:a="http://schemas.openxmlformats.org/drawingml/2006/main" w="28575">
              <a:solidFill>
                <a:srgbClr val="C64747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6"/>
              <c:pt idx="0">
                <c:v>QD1</c:v>
              </c:pt>
              <c:pt idx="1">
                <c:v>QD4</c:v>
              </c:pt>
              <c:pt idx="2">
                <c:v>QD8</c:v>
              </c:pt>
              <c:pt idx="3">
                <c:v>QD16</c:v>
              </c:pt>
              <c:pt idx="4">
                <c:v>QD32</c:v>
              </c:pt>
              <c:pt idx="5">
                <c:v>QD64</c:v>
              </c:pt>
            </c:strLit>
          </c:cat>
          <c:val>
            <c:numLit>
              <c:formatCode>General</c:formatCode>
              <c:ptCount val="6"/>
              <c:pt idx="0">
                <c:v>1.3</c:v>
              </c:pt>
              <c:pt idx="1">
                <c:v>1.8</c:v>
              </c:pt>
              <c:pt idx="2">
                <c:v>2.6</c:v>
              </c:pt>
              <c:pt idx="3">
                <c:v>5.2</c:v>
              </c:pt>
              <c:pt idx="4">
                <c:v>14.5</c:v>
              </c:pt>
              <c:pt idx="5">
                <c:v>38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3D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Latency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6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3C4A8-E231-4F4D-939F-45FC258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37405-5C15-4259-A2B1-B209664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316AA-1FD3-47D4-84B3-F8E37AB8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FD2C7"/>
                </a:solidFill>
              </a:defRPr>
            </a:pPr>
            <a:r>
              <a:rPr sz="1350" b="1" i="0">
                <a:solidFill>
                  <a:srgbClr val="5FD2C7"/>
                </a:solidFill>
              </a:rPr>
              <a:t>VAST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551D6-01B8-4671-BFD6-E6E57896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Advanced Troubleshooting,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Performance Analysis and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9143-7F17-4A9F-994E-C267407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9D0E2"/>
                </a:solidFill>
              </a:defRPr>
            </a:pPr>
            <a:r>
              <a:rPr sz="1875" b="0" i="0">
                <a:solidFill>
                  <a:srgbClr val="B9D0E2"/>
                </a:solidFill>
              </a:rPr>
              <a:t>Two-day trainer-led production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0CEE1-6BF0-4CD9-9D86-F71641B4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E58A-B2B7-45DA-B760-8102517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0D09D-2850-4955-97B3-C440687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F673C-B3C9-47F1-8AD6-B76DD3AC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health +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C899B-DBDE-4406-A77A-3D08E20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9A61-AA17-4505-83AD-0819B8E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08969-442A-4FB7-AC3E-10E7A6E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Correlate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47D45-5867-48FC-B419-1588EBE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cross-layer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6A767-AA69-492B-95A1-44997212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3C6B2-A773-4B79-9124-6F7054D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996D5-C424-4814-8C8D-6CE0FD09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Isolate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84152-8DC4-40E5-A112-175EA5D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controlled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05E61-3D8C-43F2-B4D5-E9D12523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857750"/>
            <a:ext cx="2557463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C8DFC-D38E-41E5-A4C4-613511C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8577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E0D81-BDDF-4BC1-AACB-BAE32F45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962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E5545-4549-4959-82C0-3FA99AA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5381625"/>
            <a:ext cx="2290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re-test + validation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67063" y="5334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72176" y="533400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77288" y="5334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8F6B3-6945-4DDB-B0C9-69F29E84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8BC"/>
                </a:solidFill>
              </a:defRPr>
            </a:pPr>
            <a:r>
              <a:rPr sz="975" b="1" i="0">
                <a:solidFill>
                  <a:srgbClr val="8DA8BC"/>
                </a:solidFill>
              </a:rPr>
              <a:t>Trainer deck | 16:9 | VAST Data Labs + Ubuntu 24.04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DB08E-D6FE-4887-83D0-340F537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FD2C7"/>
                </a:solidFill>
              </a:defRPr>
            </a:pPr>
            <a:r>
              <a:rPr sz="1125" b="1" i="0">
                <a:solidFill>
                  <a:srgbClr val="5FD2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4714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DF79B-9D14-4E1B-A5D2-0F9EB6AE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2FC4A-F596-47D4-8B52-D40F7223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67B5E-6716-46BC-8943-3B01ED7D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504C7-91C4-4DE1-823A-D27C947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Build a defensible path from symptom to root 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59FFC-B3FF-4445-AAD2-B2FC106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EF20-B010-479C-9181-D1F28C6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F1157-033D-4469-8E9F-74263B5F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F0A27-B8F8-4E14-BC41-7786232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63DC5-3045-44DF-BAF4-F0F3480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PREREQUISITES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F4B06-7CF0-4140-8EB9-8DC678F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57709-A14A-49E1-B7E8-A55084F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BY THE END, YOU 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DE3A7-3350-4E50-B980-697AFD4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7F699-7E44-4C52-80C5-8E91709A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Storage, Linux, and TCP/IP fundamentals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Working knowledge of NFS and SMB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Familiarity with IOPS, throughput, and latency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System administration or production support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DD3DC-6330-483E-9140-5D7A0C14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Interpret VAST health, events, alarms, capacity, and inventory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Profile storage, network, and protocol behavior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Separate client, network, protocol, and storage causes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Collect time-aligned diagnostic evidence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Optimize with baseline → one change → re-test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Resolve the two supplied AI dataset incidents</a:t>
            </a:r>
          </a:p>
        </p:txBody>
      </p:sp>
    </p:spTree>
    <p:extLst>
      <p:ext uri="{BB962C8B-B14F-4D97-AF65-F5344CB8AC3E}">
        <p14:creationId xmlns:p14="http://schemas.microsoft.com/office/powerpoint/2010/main" val="1145555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F07C4-7D56-4485-9427-5F74E539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3E82C-1E95-466B-86F2-7923370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A6CC6-9210-48F6-A21A-65406281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6334A-2A76-469F-AF20-23556CC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The two days progress from observability to incident 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D293D-1722-454B-86EA-734EAC1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4B641-0D0B-43EE-AB4D-168FBAC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73DB7-83C3-484A-9894-FC558085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D8A0A-5B4C-481B-B390-890A1F58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197E2-5C11-4AB3-970F-8AB51BEC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8547D-F1C8-42A0-9FDE-510840F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85900"/>
            <a:ext cx="430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EC05A-AF53-4E80-B8A7-CDB1F13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Operating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0BC0F-0473-478D-AE5B-031B3CB4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31422-71D0-4DCC-9F1D-84F7AB2C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5586C-3933-4B86-A5A9-BA94A87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288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1–2 Architecture +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E8C57-8F3C-4D73-8240-6FBB619C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Know what is healthy and where to look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032BA-6D5B-4C9F-91A0-0BA388D9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E285B-F773-4136-9895-2A55AB49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392A2-FC8B-4D2E-8ABF-EE04E21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3–6 Performance + protocols + optimization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F1D58-4F69-4F78-B157-F961D6DE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Measure, isolate, and 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43E55-EA2D-4DAB-B919-222F9943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D6F68-D8F9-4BFF-92B9-E1AB019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D596B-E975-48F5-8611-A27A590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7–9 Service + performance + diagnostics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C0898-1BBF-4BA7-8511-F0A67660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Recover with preserved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7CD27-A399-41D7-8A76-A1087B4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DC325-A496-4A90-A6B7-0FBED55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0D125-E790-4909-93CD-F6CE85FA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430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Capstones 1–2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85D23-AE98-4E5A-A24D-55DD9496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Lead an end-to-end investigation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738DD-42D0-43E7-A235-6980D77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C8142-B906-45FB-9B33-0731F94E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6A87E-6151-4D81-B6A7-72AEA1B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PRODUCTION SAFETY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65D673-D5FA-42D7-B1A9-546F3636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61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No destructive change, service stop, permission change, stress test, or netem injection outside the isolated lab. Preserve the failure state before rollback.</a:t>
            </a:r>
          </a:p>
        </p:txBody>
      </p:sp>
    </p:spTree>
    <p:extLst>
      <p:ext uri="{BB962C8B-B14F-4D97-AF65-F5344CB8AC3E}">
        <p14:creationId xmlns:p14="http://schemas.microsoft.com/office/powerpoint/2010/main" val="1810213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76C59A-F87A-4FA8-A802-4097D54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A910C-37AB-4F68-9660-2691BDB6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C46CB-EB89-4256-9CB5-AB4BEFD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C4297-006E-4DF9-A13C-C5ABCF84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Keep VAST and Ubuntu roles distinct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37C1B-CAAA-4D04-9319-F12FF763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561A8-DB20-46B0-9FB8-23F9D596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F92FC-3D9B-428D-9BA1-B4281E43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6699C-1FE9-4047-A110-873D14D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51D6B-579A-4B8C-8396-1E1764B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8D064-7631-4B87-8892-3874FE96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VAST DATA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C0C2C-2321-4A9A-ABE8-DF7EFA27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Native VMS observation: architecture, CNodes, DNodes, Views, Element Store, capacity, inventory, analytics, alarms, events, networking, and data protection.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8B265-5A17-483C-BC3D-6A4CE78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5219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4CBF7-4BAA-4F39-8A21-FA609BB6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573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89261-DB6F-4FB4-B78F-1017DF6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UBUNTU 24.04 VM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A53B2-8A73-444D-A529-DC65A0A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Client and workload environment: NFS, SMB, S3/MinIO, fio, stress-ng, Prometheus, Grafana, tcpdump, Linux metrics, controlled faults, and capstones.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3507A-4FFE-4AB8-85A6-0C11EE8B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F61D5-4CAA-493E-84CC-4A54C1F5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7AFAA-0CA1-4B55-BCFB-65BEDED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VMS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D676B-D345-487E-A150-0BF3C745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native VAST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0E733-A65A-418B-914B-EC2AE81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EDABE-2902-459C-9E57-EEB996A6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EC957-5DD5-44F5-9867-DAB3959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17610-3AC7-4C58-A714-165D1A7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Ubuntu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66E20-4D3D-4E85-B407-347B19D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EF74B-5DD2-4D1F-B9F0-5A36AFA1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755A6-C7A1-4644-9DDE-60FC57E6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Protocol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3E3FC-F7D2-43CC-9ED9-70D9693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/ SMB / S3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B4227-1AA3-4879-B135-91C24C40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714750"/>
            <a:ext cx="25574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1C135-EB03-4E0F-8057-0268EC0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E188B-C509-453E-AE57-1CBED1F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819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Incident timeline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454DE-CAD4-4909-9D16-DB79ED6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238625"/>
            <a:ext cx="22907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correlated</a:t>
            </a:r>
          </a:p>
        </p:txBody>
      </p:sp>
      <p:cxnSp>
        <p:nvCxnSpPr>
          <p:cNvPr id="70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167063" y="4276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972176" y="42767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777288" y="4276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D3416-0928-498E-BC30-97817E89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303B97-963B-4A26-B6DF-768DD075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60B255-2EE6-4ACE-AB2F-8D38A93F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81600"/>
            <a:ext cx="649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3E5A5F-414A-4DAF-B20A-777A1DB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67350"/>
            <a:ext cx="649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The Ubuntu VM does not reproduce VAST internals or a distributed VAST data plane.</a:t>
            </a:r>
          </a:p>
        </p:txBody>
      </p:sp>
    </p:spTree>
    <p:extLst>
      <p:ext uri="{BB962C8B-B14F-4D97-AF65-F5344CB8AC3E}">
        <p14:creationId xmlns:p14="http://schemas.microsoft.com/office/powerpoint/2010/main" val="9317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C7CDF-2FA1-454C-ABAD-DB7AB98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51BA8-0D84-4C37-8566-C88C3FC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3116F-E4EA-4440-A2FE-02978CD5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D9615-7714-43A5-844B-63304C8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Label every observation by evidence 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575A9-D9EA-4079-868F-98CD9361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PROVENANCE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08AAC-C65D-4FFA-934A-785A25C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FE383-3B63-42C9-BEB8-3E9DFD9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75850-0D1B-46B1-8F01-DF368C04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D9AD2-915E-4D86-9991-2C35C8D6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2F469-7023-4E41-A47C-8A1B1A6D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12305-5C44-46C4-824B-53755FAB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049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039C0-4FC0-4D0F-8009-E71FC70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049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Permitted 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5BA6F-5EE8-4AE6-B779-4286C6F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FE353-5482-4E3A-B8F1-CA9B9315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REAL — UBUNTU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06FF6-C6C6-4675-8FDC-282C4EB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Measured on the participant VM or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3AE11-7E47-47A9-B89D-AFB2B568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Proves client, workload, network, or protocol behavior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5E276-0BAF-49C9-9B42-363151B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D6F99-3A17-4390-B9F9-BF439CC1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SIMULATED — VMS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BBBCF-973A-4EA8-B16C-E2CDD21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Generated by the VAST Admin Simulator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3FF7E-9C4C-46BD-B779-495F3FFB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Supports workflow practice; never presented as cluster telemetry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E37DF-1527-43A1-91C4-F9F70A2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84430-8DAE-4339-99F1-C7C66C44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REAL — VAST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D493D-B321-4929-B58A-30F33D6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Captured from authorized VMS/COSMOS or a VAST endpoint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BEF40-DF56-4D5D-92CB-12E4600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8145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Supports product-side conclusions within the captured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83399-0E3D-48CC-8B5A-EF187A4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70163-C952-48F7-B385-5B7A134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NOT CONNECTED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DED2B-92D7-4F59-BCB0-106C9E94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Required endpoint, credential, or lab is unavailable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A9D81-9CE1-49C2-A4F2-832AA52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965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Record the gap; do not invent or infer native VAST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BD3EA-0011-4EAA-AAE8-E2C0DCD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A415D-8D8D-4D7B-B422-112DE0B0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A05E7-7EAA-4C7D-A2B8-78D17142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61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REPORT RULE | Every screenshot, command output, metric, and conclusion must retain its evidence label in the participant timeline and final handoff.</a:t>
            </a:r>
          </a:p>
        </p:txBody>
      </p:sp>
    </p:spTree>
    <p:extLst>
      <p:ext uri="{BB962C8B-B14F-4D97-AF65-F5344CB8AC3E}">
        <p14:creationId xmlns:p14="http://schemas.microsoft.com/office/powerpoint/2010/main" val="1536952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ADFF9-5739-4DDF-8AD8-1000A7D1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731D3-7728-4F7A-A6A4-2FED101F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101ED-0DA0-4492-ABD1-08A383F1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FDDAD-69D5-4BAD-A98A-A35CF213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Choose the delivery mode before the investigation begins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9A05C-C32C-4E9B-A610-8C4FC45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FDF85-2B00-4C6D-851A-68E8B5F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60EA2-A329-4424-9A30-819927D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696FD-0AA4-47B1-AEC8-E2977129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4FEF0-C5BF-4DCA-AC6C-7C9BEAA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384DD-ADBE-4679-A45E-56615620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430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Hands-on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CAF60-D764-403E-A4BC-E5F5F793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43050"/>
            <a:ext cx="3924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Trainer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D4364-1026-4481-8D23-C27A469E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9BFF6-D3BC-4EA6-8F8D-EE5C1ACA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Ubuntu-only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9C72D-346E-4AA0-A58F-B8F83A9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fio, dd, iperf3, ethtool, logs, NFS/SMB/S3 clients, simulator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1F845-3B69-454A-8045-67D2075C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3924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No claim about VAST internals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20AF4-E330-43CF-B7C5-7E7F2AC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73884-0767-42E9-BE3E-C44A8E2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Ubuntu + VAST Data Labs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6278F-EE39-4AA4-9878-97B3495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Client evidence plus VMS 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33BAE-213E-424D-94CC-8FD1F0F3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3924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Public lab remains read-only unless explicitly authorized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0ACE1-DC0B-42EC-85A6-74BB5B0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DCCED-8D4C-4373-84A2-E6B3B93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Customer-authorized VAST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7607D-1FA4-4BDE-8D4F-27AD7D62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910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Approved View/API/metrics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28978-093A-4DE0-A735-005E527D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91050"/>
            <a:ext cx="3924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Change ticket, rollback, data owner, and scope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57A75-C23D-4161-A470-125F815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9182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EAE96-CB90-4BF7-A0B9-B2742CA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ACDD1-C2C3-4A07-9EE3-37D9A12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82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STOP CONDITION | If the expected mode and actual access differ, mark NOT CONNECTED and switch to the approved simulation or instructor walkthrough.</a:t>
            </a:r>
          </a:p>
        </p:txBody>
      </p:sp>
    </p:spTree>
    <p:extLst>
      <p:ext uri="{BB962C8B-B14F-4D97-AF65-F5344CB8AC3E}">
        <p14:creationId xmlns:p14="http://schemas.microsoft.com/office/powerpoint/2010/main" val="1908864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AC8C0-2512-4ACA-9A13-6A2E3BF5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AC4E-7406-45BC-8CCC-49816B6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BF92A-DF61-420F-8AA7-00C1699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86ECB-8298-4B2D-9AED-41456038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Pre-course access must be proven before Day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42FA3-CBB3-4789-8021-E840345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READINESS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1347-BC68-4307-8782-967DB063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178F9-12B0-426D-BE92-3303102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COURSE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02E58-AA15-40FF-A49B-4187F43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64DA4-248A-4119-BA37-572363E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6A94-58CB-4CC6-92C0-FF93EB9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2E7E5-496A-4D35-BD43-FA502EF4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3906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9B5AB-CBC2-4CB5-943D-8E4DEFD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906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6E40B-2024-4C0A-A6F9-CD59A596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09648-9DAF-43A9-BC74-598AA3E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Ubuntu 24.04 VM + sudo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C9F8F-BA2D-4B50-B5B1-6CCCB5D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Tool install and disposable /var/tmp target succeed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95EEC-5657-44F6-A653-E1904F70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193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Instructor demonstration 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010B6-B26C-43F8-8B0C-C7BD98A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860B8-4626-441B-8432-36FA0A84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VMS/COSMOS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44DEC-46D8-4F79-B503-89EAE7A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Dashboard opens and assigned lab is Online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6DE21-D616-411D-A5D4-D4E5D39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Slides + labeled simulator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AD5C2-06C3-45F0-B5C9-10CF870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BC729-5D62-4D0D-890A-39822E0C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Read-only VMS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5F457-3478-4258-B4D8-AC072C70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528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Authenticated version/health request succeeds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F078D-79DB-4923-9AA1-2D479450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Prepared sanitized response fixture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E04DA-9B38-4A5F-BF3B-EBA8684F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E1139-B202-49B7-8A30-4538538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NFS / SMB / S3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45D12-729D-4B25-BFB8-EA5630EC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195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Endpoint, read identity, exact path/share/bucket confirmed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A97C1-2A5C-4185-BE82-57BE41D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Local protocol 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EA3E7-B658-4606-8CE2-CC631D6D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70C94-E539-49EB-B335-2AFCB260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Disposable test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EBA70-BAD1-4C3B-B201-FCDD9EB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863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Owner, retention, capacity, cleanup, and write approval recorded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3A6B98-694C-48F6-BFA1-DE462A0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Read-only validation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FF866-A26D-4231-848B-9EC59F2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0267B-BDAD-49A1-A8C5-2FE5A3C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1A8EE-B4A5-4177-BEA7-5AEDA62C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61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CREDENTIAL HANDLING | Use prompts, protected files, or environment variables. Never place passwords, access keys, or bearer tokens in slides, shell history, screenshots, or evidence bundles.</a:t>
            </a:r>
          </a:p>
        </p:txBody>
      </p:sp>
    </p:spTree>
    <p:extLst>
      <p:ext uri="{BB962C8B-B14F-4D97-AF65-F5344CB8AC3E}">
        <p14:creationId xmlns:p14="http://schemas.microsoft.com/office/powerpoint/2010/main" val="876936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1F66E-9971-4E8A-A98A-8812BB91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1C9E-B502-49E3-B6B2-D3AF70DA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1D4BF-8330-4307-BC08-3FDF428D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6334-48A4-4453-9474-57557207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Pre-test | Establish the starting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5B0ED-507B-4C80-9B12-491102A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39089-5F02-4FE7-9CE1-7CFC22AC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114FB-2085-4FC0-B86A-DF721AD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8844-5DF3-4A9B-8ECF-1EB6814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9E553-100D-4EC6-8D12-7DC95933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0F568-59D9-4CA2-BD51-064F586D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4D990-9ED2-425B-A487-9EE46C8A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Single-select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FB4F7-3A55-4DCA-AC78-339EDAFA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0285A-D8F7-4370-8007-2C8A1896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CF757-86C8-4C7F-A378-8111AA6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15–20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347D5-4F4E-4F42-A780-DFEF2302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Individual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B124E-D084-4268-B982-E1AFEF5C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33B1C-2A08-4E86-B326-3B0895BE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Purpose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C6635-9681-4885-9374-20E8C05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FC149-CC0A-4093-B87A-F41826D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Not a pass/fail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C334A-77AA-4028-8CD0-0B2D4D85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D6A84-8D6E-4D56-BAD0-E09928E6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55B01-6DC0-420B-82DC-DBFF900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6 domains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FD675-174E-497E-ABBE-81C67DE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Storage • Linux • network • protocols • metrics • RCA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8457B-FA05-4973-9E3E-582A7B4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BBBC7-B2EF-447C-AAD1-8375591F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9EE0B-535B-4C53-8D0F-E1DEE614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TRAINER INSTRUCTION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7F43D-6FD1-4616-B835-B60DE12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the separate complete 80-question trainer assessment bank. Record the score bands; do not coach answers during the baseline.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196DE-00F4-4B47-8723-737BBBC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0–5 Foundation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6–10 Working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11–13 Strong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14–15 Advanced</a:t>
            </a:r>
          </a:p>
        </p:txBody>
      </p:sp>
    </p:spTree>
    <p:extLst>
      <p:ext uri="{BB962C8B-B14F-4D97-AF65-F5344CB8AC3E}">
        <p14:creationId xmlns:p14="http://schemas.microsoft.com/office/powerpoint/2010/main" val="553591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9EEFE-FB80-474A-8D03-71DEBB9A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B19A-0BBE-4F98-81FD-07425C1E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364CD-BE2B-4570-8ABC-F65D2C29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9CBD6-B1F7-47C0-B918-22D1626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1 | Architecture creates the troubleshooting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2DB8C-C68E-45C7-97B0-FC388DD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81B1A-3131-40A4-BC58-C35557B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32EF3-D238-4E0D-A7DE-C3443D4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61076-5952-4681-A1B0-9E3CF04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F47D6-3F90-4534-BDC6-EDA60B2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DB717-9EB3-4B67-A83A-FA770E2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8AD84-0F4B-4DD1-9E3F-FF8FC8D5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Explain the modern scale-out model, VAST DASE architecture, services, namespace, networking, capacity, performance, and availability concepts.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02AC1-1205-49CD-8A01-F00A320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D7E2D-CB73-44F7-A9A4-5AF4485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25814-B0DB-4581-8C53-75715B2B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Trace a client request to protocol processing and persistent media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CNode and DNode responsibilities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Relate data, metadata, Views, and the global namespace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scale, capacity, and availability evidence in VMS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A40CA-A8DA-4240-BCE6-37B4B06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4958E-B214-4C8B-918B-2A354C2C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EBC19-7801-4C2C-BF33-C92E6E3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0ED56-7EAE-4C90-88F9-8A11B26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native architecture, inventory, capacity, Element Store, Views. Ubuntu: client-side comparison only.</a:t>
            </a:r>
          </a:p>
        </p:txBody>
      </p:sp>
    </p:spTree>
    <p:extLst>
      <p:ext uri="{BB962C8B-B14F-4D97-AF65-F5344CB8AC3E}">
        <p14:creationId xmlns:p14="http://schemas.microsoft.com/office/powerpoint/2010/main" val="902842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4FF472-FF11-40C7-8F44-374A274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0C92E-C1D0-4D8E-A693-409EC3AE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79E0C-A9A8-4CA5-8705-05308F2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A0016-D242-4A52-A745-0645E32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DASE shares data and metadata across disaggregated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8215C-134F-41B5-96C2-9532CECA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CONCEPTUAL — DEPLOYMENTS VARY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7A5DB-310F-4698-9728-6FEEEDEC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E514F-86A9-40FB-9ACC-0B18470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40D60-8C7F-444A-843F-A33A3152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0FE94-A6BA-4CB3-8F98-BED3C6C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71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CF9A8-30BE-444E-B86E-D7D4812F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55AAD-2B86-42A3-AD36-6BA14E1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163FD-18E3-4769-87EB-1A3D20C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• SMB • 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3446E-0D69-45EC-892B-03BA5149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25146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65745-A37C-4E08-B02F-F900702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4A2F9-9F6F-433C-BCB1-B58A578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383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FEE6D-1A2F-4F53-B27A-1DE1D74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Stateless protocol + compute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D1B1-3FC4-4D31-9DF4-7CCEA1F0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095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20FFA-180D-4DF9-9F6C-DE4A899D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A6EA1-FB66-4B51-BBA8-E3B9C78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High-speed fabric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D79BB-A488-4095-9F95-9D81F5C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1828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Shared access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C0E4D-123A-45FD-949F-03F7A3C7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5336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C2373-6D2F-4C7F-B757-6D3F944A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666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54E3F-D71C-4C4A-B22C-DE5AFA06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DNodes / DBoxes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EF609-D3F8-4F92-A688-C3AF09E8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Persistent NVMe data layer</a:t>
            </a:r>
          </a:p>
        </p:txBody>
      </p: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2410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4355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34390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977DF-D092-43DE-B615-2B85496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834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Independent scaling of protocol/compute and capacity resources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04FF7A-FE2F-4C40-9681-7319A629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944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1D4B9-F251-4B24-BDA8-9AD0986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82FB6-E962-403E-AF35-DA4CD56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81600"/>
            <a:ext cx="908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TROUBLESHOOTING 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86078-8B49-44BC-BD0C-A2F7473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908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slow request can originate at the client, endpoint selection, protocol service, fabric, or storage layer. Architecture tells you where to collect proof.</a:t>
            </a:r>
          </a:p>
        </p:txBody>
      </p:sp>
    </p:spTree>
    <p:extLst>
      <p:ext uri="{BB962C8B-B14F-4D97-AF65-F5344CB8AC3E}">
        <p14:creationId xmlns:p14="http://schemas.microsoft.com/office/powerpoint/2010/main" val="118807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B8AA2-E1DE-455E-961F-74D38CB9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E2F02-40E5-4F2E-A22B-46C65AE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65AE1-DE76-4A13-A200-78D1C6AD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40DD1-0593-467A-8453-5828570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CNodes process requests; DNodes provide persistent storage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6A2D9-209B-4E14-A955-598A8A1A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F75CF-99A2-412A-A324-2705C13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E7796-4455-4DF8-858B-CAA43BBF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01FB8-EB5D-496D-85EC-DAF64C03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BEB8A-8817-4235-BD1B-20980DDC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CNODE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41199-B6F5-4C6D-A381-83F9B40B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09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41453-AE88-4E40-953C-EB5F9D00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620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DNODE / DBOX RESPONSIBILITIES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B75BA-3932-4649-9535-39A6CCF1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51709-A134-414C-9EEE-EA20FB5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Stateless protocol endpoints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Client request processing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File and object service execution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Scale protocol/compute capacity independently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Expose service through assigned network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EAA5F-1435-46C9-885E-F733EA14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762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Persistent NVMe-based storage layer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Hold customer data and shared metadata structures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Provide capacity resources to the shared system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Remain distinct from Ubuntu client storage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Observe inventory and health through VMS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8224E-2826-49A1-A590-DBB11FF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640-1205-4F1C-B84F-A861668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4CD6C-9AE9-4CA3-A5AD-0F595C90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OPERATIONAL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45BEC-746F-479B-A88D-4B51CDD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61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Is the symptom tied to one client, one endpoint/CNode path, a shared service, or the persistent data layer?</a:t>
            </a:r>
          </a:p>
        </p:txBody>
      </p:sp>
    </p:spTree>
    <p:extLst>
      <p:ext uri="{BB962C8B-B14F-4D97-AF65-F5344CB8AC3E}">
        <p14:creationId xmlns:p14="http://schemas.microsoft.com/office/powerpoint/2010/main" val="1570887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C493D0-616A-44BF-9703-FBDB34C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73397-4DBE-4362-8FAE-5E34922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8CF69-1AA1-4C7A-8F98-8B99BE4C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52803-FF23-48D0-8BAD-24DCAA7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A request crosses identity, namespace, metadata, and data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718E-2785-4CE0-851C-52F2796F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7AAE4-69E8-43CA-A781-B89C7D4D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7B9BC-05D5-4870-8921-2AF14E8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8C4F6-742C-4867-9775-259F0798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8619E-2202-4C42-BF09-138EADE1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DFB02-94DE-4D30-BE41-391DDFAE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D590B-306D-4A16-B4CD-C12CC7D1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path +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8AA73-CF0F-4F43-BBD0-646A6B6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ABD2E-8340-4DE7-9EF0-A0DF93E6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0E9F0-E967-451B-9E00-2547E89A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Protocol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D0641-1DA6-47CC-A4A9-8B295BCA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/ SMB / 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CC7E9-44F1-4DA4-869A-72132FA4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1698C-54C4-48DC-B349-AB8785C1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C584A-2D91-41D7-A571-A6BA30E3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75FC9-7325-4A2D-BE5D-B2BCC28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metadata • ACL • 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664B3-D204-441D-9C93-511883C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828800"/>
            <a:ext cx="2557463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04B29-4CE4-4764-BEF5-128305B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8288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C7875-AFE7-43E5-B2E8-19AA3E36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93357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Data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E8C8E-FB4C-4983-96B1-6DA208D4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352675"/>
            <a:ext cx="2290763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shared persistent layer</a:t>
            </a:r>
          </a:p>
        </p:txBody>
      </p: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2486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24860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2486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0DF04-08D2-48D2-BA73-EB1BD65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4CDBF1-F41A-4D37-B94B-6C29CCA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0B8B3-06A8-4F30-B745-D5864EE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48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ACDC0-FE65-4969-9C9E-2ACCCF0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Typical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E638B-C257-4542-802D-F273307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896EC-2C4B-42B6-8AAE-A6AE4A0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343AE-9F8E-4CA8-ABA0-3954341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62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Who made the request?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18F11E-0A3E-4E39-9346-71340E2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UID/GID, SMB user, S3 access key identity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9C950-B8E4-4681-86A1-6116CEE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0E0AD3-91D5-4264-A4AD-EC3C99D8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471A75-F499-4273-B66B-2932EC4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14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exact path or object key?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751B4-4D91-4525-873C-4668046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View/export/share/bucket + client-visible name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7FFB3-64FE-4F20-8CEB-1D558493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EA17B7-43D6-41AE-932A-DDA707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B2DFFD-E131-40CA-8DB5-E271187B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67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Was lookup and authorization valid?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E5337F-28F6-491B-93F9-38E2030E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stat, ACL, ownership, timestamps, protocol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670060-6C99-4439-860B-F182615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C1B479-4215-4D44-A9CB-BC99F23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033FAA-4A5F-4496-9A3E-1C51EE2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19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Could payload I/O complete?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FED5B9-2D26-4A1A-ACCC-1FB62D1F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198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IOPS, bandwidth, latency, errors</a:t>
            </a:r>
          </a:p>
        </p:txBody>
      </p:sp>
    </p:spTree>
    <p:extLst>
      <p:ext uri="{BB962C8B-B14F-4D97-AF65-F5344CB8AC3E}">
        <p14:creationId xmlns:p14="http://schemas.microsoft.com/office/powerpoint/2010/main" val="1121783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259171-37F1-41C0-8A7D-6D6BE79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71D6B-0691-4095-961D-05B80D9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F036C-36DD-4C43-9D8B-76A1E92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8094B-4062-4E59-AD3B-83B7905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Element Store and Views connect file and object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660E7-B4B4-4CE9-8787-E2D1AE1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22AF9-1A44-47C3-BE24-5284E2B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BB2D6-27BF-452A-94E9-B8C7F57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CE4D9-07B4-46F5-AF22-27CCCC4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81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DAEB-2053-491B-9AD1-A049F46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71E41-BB67-42FF-AD2F-40913B55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385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VAST Element 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CD51F-8B98-49B1-B6E7-99A93F4D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Files + objects + descriptive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4D664-FF95-403A-99DE-234535F1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6D04D-6942-4D7B-9F6D-6F2319B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7337D-BA86-43BF-A694-D58216A5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NFS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9808B-C61C-4E7B-B2AF-D835472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POSIX-oriented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63059-5F5F-44AF-B01F-58EFA531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0FB90-FE70-4316-86CD-956BA53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19659-ECF2-470F-95B1-22595C95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SMB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C5781-084A-4EF2-B23E-599BDFD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SMB ACL-oriented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158D2-EF72-431A-A40C-D8FE18C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152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B78FA-4CB5-43C4-8D6C-CC309DEA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55A7C-23E4-4727-9CEA-0FCF037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385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S3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C56CF-53C1-4484-9A4E-725806C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Object request path</a:t>
            </a:r>
          </a:p>
        </p:txBody>
      </p: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2143125"/>
            <a:ext cx="1390650" cy="1838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3857625"/>
            <a:ext cx="13906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886700" y="3857625"/>
            <a:ext cx="13906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5FEAC-9F81-4F58-97C3-E2C10AC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29200"/>
            <a:ext cx="811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BBD81-CCE2-4815-B081-BECF4E8B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29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18927-7284-4245-94B6-9227233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62550"/>
            <a:ext cx="775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INVESTIGATION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756E8-517A-4B3C-B1CC-F32CE8A6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48300"/>
            <a:ext cx="775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Validate the exact View, policy, path, protocol, identity, and underlying permissions. Multi-protocol access does not make authorization rules identical.</a:t>
            </a:r>
          </a:p>
        </p:txBody>
      </p:sp>
    </p:spTree>
    <p:extLst>
      <p:ext uri="{BB962C8B-B14F-4D97-AF65-F5344CB8AC3E}">
        <p14:creationId xmlns:p14="http://schemas.microsoft.com/office/powerpoint/2010/main" val="1885768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AE61A-11CC-4E3A-A82E-AF017380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2E105-D3F4-46DE-93AB-FD585998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A17ED-FD14-4EA1-9CF4-C8D3904B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D7F8F-F1A4-46D2-B4CF-70D675CB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Real VAST management actions require an authorized control 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9BA28-3ACB-44F5-BC31-8CEF780B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MANAGEMENT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AF91-6888-42AF-A439-DA65F8D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EEF31-76B7-4FB6-8A7D-B9441543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F313D-1CFB-4D54-B984-691DBF4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91ABE-B683-475A-A5FC-8590CDC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DD349-B8DB-4CFA-ACF1-A02E7D6B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Management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1D711-2E47-49AD-809D-999231F0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3906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Ubuntu / simulator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DA9E5-E5BA-444A-97B1-83EDCBCF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906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Authorized VMS/COSMOS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CCFBE-EDA4-4336-BB95-3DCEDC95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F8025-1F7D-4E97-8156-9CB76B4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Views and View policies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FD286-0CCD-467A-A01E-99D7F013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19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Inspect client-visible behavior or simulated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FA058-D081-48CF-8A63-AFDEDC1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Create, edit, validate policy and protocol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19183-0488-4B93-9AA3-0FE15E7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A1BAE-6BAF-41EA-BB9D-A8B62EBF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Quotas and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258AA-7A42-44A8-A203-0034A1E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Generate local full-target symptoms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A90D3-3BEB-429D-80BB-C1626B03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Inspect and change approved quota/capacity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AC9BB-9014-43E3-B265-77A650B7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18ED6-1F79-4BC4-8B37-603255C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Snapshots and retention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A4AA1-6228-468A-A566-B2BB53C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52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Use fixtures and scenario timelines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E0302-7317-4831-988F-0227296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Create, restore, retain, or expire under change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A0187-3609-4D5C-BD43-2EA6C67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A890D-07E4-462B-BF6B-16F923E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Alarms and events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B5843-3846-41D5-9E08-84460EC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Correlate prepared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02AAA-38F9-4D8B-B9A6-532E831D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Inspect, acknowledge, configure, and export as permitted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8E4B3-DEC0-4F2D-9AAB-E7AA3DA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11B2D-3D0F-460F-8B88-9FB11140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Drive rebuilds and upgrades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37B37-7BCD-4A7C-B7F1-9DEF2E54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86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Run decision simulations 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EBE42-892B-4EB2-8D28-37642402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Follow VAST-supported procedures and support guidance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3F39E-9186-4539-9C11-0B06FD5E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FCE18-0325-4B36-BC36-C7AB4E1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D51A63-DA01-4DF5-B4C3-0B467E4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61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AUTHORITY RULE | Ubuntu root access does not authorize VAST management changes. Product-side work requires the customer owner, approved scope, supported procedure, rollback, and validation plan.</a:t>
            </a:r>
          </a:p>
        </p:txBody>
      </p:sp>
    </p:spTree>
    <p:extLst>
      <p:ext uri="{BB962C8B-B14F-4D97-AF65-F5344CB8AC3E}">
        <p14:creationId xmlns:p14="http://schemas.microsoft.com/office/powerpoint/2010/main" val="1583347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DB4CDF-B1D8-45BA-B4E1-35A65BB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59A14-0754-4509-9551-17B0CAE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1E91-0EC6-44F3-B689-ECF0E01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551AF-6C13-42E3-A30B-1A7133BB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Scale, availability, networking, and capacity differ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D234D-9710-45D4-A2C6-692146A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A7C47-9C85-4410-8339-956B6BD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29AB8-8ED6-47E9-B877-7FDABAF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1153B-7D34-44B3-B685-DE38BD1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1DDC6-9510-433F-80B9-160AA90C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47A26-D257-4949-ABB4-CB9CD3A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47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What to 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E13BB-AC49-48D3-91AF-60F05977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47800"/>
            <a:ext cx="516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Troubleshooting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2DE14-2932-4509-8E7F-FD40797D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9A565-A01B-4B7B-AC80-4533F48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97251-CEA7-4FFE-A259-AF5A348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Bandwidth, IOPS, latency, workload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ABCC4-BAA5-41E2-B418-55F07F02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Confirm scope and time of degradation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59488-837A-411F-97C7-BE04C1F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69DA4-4862-47C3-8283-DD6EF9C3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E9204-1E23-441B-82A2-7061FA8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Health, alarms, affected resources,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9EF4F-90A7-4F01-9CDC-77AB468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Determine service impact and redundancy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E7801-B949-4219-B095-7699B9F1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7639D-CE0F-4B18-9760-4EAF9321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Networking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42121-6699-42C2-945C-34A5C37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VIP pools, endpoint/CNode assignment, traffic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D6AFC-CB77-4A96-AEF8-8EFF7BAF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Check distribution, isolation, and reachability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79533-3A48-49AA-97FB-20A4EB0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D8FB4-9A38-46B4-BA7B-742259F4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Capacity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C5790-0BF6-4571-A1D1-504EC9AA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81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Logical, usable, unique, growth, reduction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EFDC7-C70F-4FEC-B81E-370D68BC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Separate space pressure from performance symptoms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693045-5DAA-4DDA-A91E-13D879A7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B1641-4BA6-46D7-95E4-1ED979D4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18288-5301-4856-B2D3-1DB82D8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CNodes, DNodes, media, links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D133E-6AA2-4594-912D-5F54D41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516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Identify component scope and configuration drift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7AB36-35A7-4FD6-B6D0-91BF7E86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BACB2E-7C55-47BD-AE2C-450C68BA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6E7DFA-EDAE-4830-919D-1A823AC7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61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ENTERPRISE WORKLOAD LENS | Large sequential training reads, small-file metadata scans, and multi-protocol dataset access stress different parts of the path.</a:t>
            </a:r>
          </a:p>
        </p:txBody>
      </p:sp>
    </p:spTree>
    <p:extLst>
      <p:ext uri="{BB962C8B-B14F-4D97-AF65-F5344CB8AC3E}">
        <p14:creationId xmlns:p14="http://schemas.microsoft.com/office/powerpoint/2010/main" val="19939469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38DD8-7862-492B-9227-D7F45DF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F37D5-C178-412D-ACC8-703CDAFE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DB78-F4D2-4CA4-9E4E-E8D38936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 · STORAGE ARCHITECTURE AND VAST PLATFORM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8C13-0132-42BB-A7CB-DA74A575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70EB7-7155-45CC-AA6C-C949BF3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BE90C-A258-4E20-BA3E-462EF7BF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1FD6-7163-468C-A038-3A1D070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M1 · STORAGE ARCHITECTURE AND VAST PLATFORM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BA199-FC05-4679-8397-30345ACA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43D07-24B0-4A68-BB4D-5893812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B3C6E-E5FF-4A5B-9707-394EA4A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does DASE mean in VAST architecture?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2EEDC-4AD3-445C-B687-54A27B0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Distributed Array Storage Engine     B Disaggregated Shared Everything     C Dynamic Application Service Endpoint     D Direct Attached Storage Expansion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B81E-5DBF-405B-8B0A-881CF1B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F78CF-DC46-4FF3-83A8-8BE96FE3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3B600-B175-42AF-8465-A62F8FF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Which scaling action primarily increases protocol-processing capability?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A6595-4A2D-4E9C-A9C3-B7E2B067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Add client cache     B Add CNodes     C Remove paths     D Reduce clients</a:t>
            </a:r>
          </a:p>
        </p:txBody>
      </p:sp>
    </p:spTree>
    <p:extLst>
      <p:ext uri="{BB962C8B-B14F-4D97-AF65-F5344CB8AC3E}">
        <p14:creationId xmlns:p14="http://schemas.microsoft.com/office/powerpoint/2010/main" val="18581332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61C6A-6619-417C-9F1E-4FAAE4E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C2D09-F487-4EF7-8206-658CB863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9D989-198C-44EE-88AB-EEE6D23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19576-4BB6-4615-9B10-B626F166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2 | Monitoring turns raw signals into incident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97C2-BB8D-4D5B-A546-40283EAF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907A-B7F1-4905-9DC7-17EC123F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F0067-95C7-4915-9E2B-6EFDDDC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53E6-7E87-4DA1-9331-850305A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FF6EB-504A-48C3-A8E0-9CF57BF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83929-67B7-4427-B57E-37E0874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5F397-DAFC-4155-A5B6-FA5105D1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Distinguish events from alerts, validate system health, investigate affected scope, and correlate VMS with client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68BC1-02CF-44DB-B656-CAE3166D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BCE61-518D-4BEF-89FF-E5FA147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800B4-5FF2-4926-B3A8-90C21AF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Prioritize by severity, scope, and customer impact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Align alarm timestamps with workload and metric changes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health after recovery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Avoid treating one dashboard value as 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52144-E9E7-4C0E-9D66-A7413E1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9283C-EE63-45A2-9BA3-E982D34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58380-4A27-46BA-96CD-8540C2B2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975D6-512A-4652-9475-2A77C538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VMS alarms, events, health, capacity, inventory, analytics. Ubuntu: Prometheus/Grafana client and workload monitoring.</a:t>
            </a:r>
          </a:p>
        </p:txBody>
      </p:sp>
    </p:spTree>
    <p:extLst>
      <p:ext uri="{BB962C8B-B14F-4D97-AF65-F5344CB8AC3E}">
        <p14:creationId xmlns:p14="http://schemas.microsoft.com/office/powerpoint/2010/main" val="1815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A278B-365E-4354-A49A-AE495EDB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7F0F3-5709-47BB-AB41-6C805EC8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59D4-CFCB-4507-AD21-B9D21EC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25666-D1EA-4035-8FDB-4D3137FF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Events record; alerts demand operational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E2426-34E1-4FBA-B8C5-0D7DCD8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47416-507E-46A8-9232-4770CA7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EA27D-E44E-4852-94C4-80E1362E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101A7-C1EF-4B87-A068-58AA9B67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769AE-B9F8-4646-B25E-D7824BB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ADCB9-4812-49CB-91B4-F6BD8CD0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00200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BC978-E2F2-4957-9386-6E2D393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First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61C41-9F96-46DA-B3F3-D49AA0E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63978-EC93-43A5-929C-DC71902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63B1E-0044-4AD4-949B-D216904A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recorded system occurrence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DFE6A-AD8D-44FA-BD46-8BF0476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What changed? When? Which component or service?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3AA65-84C2-450E-8A00-A42A5000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C72B3-0178-4129-BCE6-5BAFA6C3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Alert / alarm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AEE8E-B3E6-4EBF-9ABE-90D2B0F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condition requiring attention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AC683-3A44-4119-A57F-612F1CC0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Severity? Scope? Impact? Acknowledged? Recurring?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195F0-66BE-42ED-A7D3-A72D773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86ACC-F39F-4C58-92F1-FFB23B08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Metric anomaly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75B31-A319-45A5-A65C-3FEF7531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1955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Behavior outside expected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3409C-59F9-43AD-A0AA-16C8370E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Compared with which baseline and workload?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B750E-ADBF-4B7A-8804-48D3A67D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1ACA9-786C-48C2-A7E7-7A05934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User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1DCF7-BE0B-4669-8670-AE85A80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Observed business 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64938-BEF4-4D7F-A025-529D2A72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387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Who, what path, what time, how reproducible?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98292-4489-4852-B479-DDA30C25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ABED2-2165-436C-8B51-98F6D39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89CC3-C702-4695-AC8E-2E0CB227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61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CORRELATION RULE | Time proximity is evidence of association, not proof of causation. Confirm a plausible mechanism and a controlled re-test.</a:t>
            </a:r>
          </a:p>
        </p:txBody>
      </p:sp>
    </p:spTree>
    <p:extLst>
      <p:ext uri="{BB962C8B-B14F-4D97-AF65-F5344CB8AC3E}">
        <p14:creationId xmlns:p14="http://schemas.microsoft.com/office/powerpoint/2010/main" val="5710580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09EF64-1064-4C1D-A4AA-39CF6D4E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1F46-1FF9-4D46-B5FE-9E709EBB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2B3B1-521B-4517-B148-C03181A8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BBFDA-2CE9-4D59-A46B-39971E7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Health validation starts broad, then narrows to affected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AC8CA-84A7-4758-B8ED-C5086B1A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57D46-9373-4DA6-A0BA-1DAF783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03F3A-9969-40E2-82E5-727E52B0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D63E-5D55-4179-9D07-40F72039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09D75-DC38-4F59-BD8D-FBA391BE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354BB-C20A-40A2-A01C-D4E31D6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D7E09-247F-4D23-9FB3-FC1C61C0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status +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9A30A-60A6-4E8D-A686-DB705F95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E9B8D-E1CE-4419-ADBB-1F19778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1354B-01AA-4ECE-B89F-56BDBC0E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Alarms &amp;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4347C-F70A-4DA6-8E27-CCD6A67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severity +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F8D6-DE20-4DCC-A112-9F88455E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F87D2-13D5-4828-9B02-60B0E79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CD0AC-4529-4868-8DDF-7DB5F83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Affected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521DE-79B8-41EF-890B-6A06B97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node • path •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1C104-5A1B-4857-808B-0B970A9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18F61-0023-47FD-A244-A5211FA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B8CAE-6D41-41EE-9114-DF4B3DCE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6DB79-CEC7-42AD-BD6A-0737D24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bandwidth • IOPS • latency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88C3F-ACCE-4249-B23B-8A87096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8097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A8319-9693-42A0-91DB-BC02602F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8097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07181-FEA1-49DD-9010-1C38C592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14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52DA7-2001-4C19-B69C-19B8F9E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33625"/>
            <a:ext cx="172974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service + workload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24003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27CE2-A513-444D-948F-2813093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B30FE-6BEC-4CB1-81E9-D8E5C876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331386-A3AE-4401-92EE-F072AAEC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859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EVIDENCE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C0A59-4273-4B1D-B451-F8E050C5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19600"/>
            <a:ext cx="859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Capture alarm ID/type, first/last timestamp, severity, state, resource, correlated metric change, user impact, action, and validation.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40B54-9B7F-46FE-B813-BCC5397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D1C4E-D820-446B-BA7B-98EC259F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80B73A-F8D1-4063-8CAD-86617BA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91150"/>
            <a:ext cx="622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DO NOT | Delete events, clear alarms, or restart services before capturing the active state.</a:t>
            </a:r>
          </a:p>
        </p:txBody>
      </p:sp>
    </p:spTree>
    <p:extLst>
      <p:ext uri="{BB962C8B-B14F-4D97-AF65-F5344CB8AC3E}">
        <p14:creationId xmlns:p14="http://schemas.microsoft.com/office/powerpoint/2010/main" val="4827723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73ABD1-6308-4369-A6BD-77EA06D7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9BB8E-0896-4648-9E47-31AE7E19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5D839-6370-4D09-ABC7-F8FB144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428C8-F4FD-4C5F-B8A3-B1189D4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Keep Linux client metrics distinct from authorized VAST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23717-6ED2-43CD-8F04-07D4349E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13F52-7B4F-466A-B9FD-8040E2C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D7947-B55E-40DB-8658-F88003AC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3CE33-9F8F-46B5-986A-1831710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253A0-5ED8-4EAA-A997-A4927DD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39170-4CD2-4DE0-959E-B370389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Workload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BBC4A-E23B-4911-8BC9-DC250A1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fio •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AAD8A-832D-4031-BA05-6DD127C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84DE7-27E1-4480-B107-8A01A51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E66A9-3125-4179-8C63-20DF621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Ubuntu host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8954B-C644-4EBD-8981-E33C046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node exporter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44FA4-644C-4A4E-85E8-68AF66F0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E7A4C-B8C9-41A2-BED6-3F372C3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D7133-2FC8-4B7D-8658-C5D0F2D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VAST / VMS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5A514-3962-49DC-98AA-7DE8F59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authorized metrics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4974C-B565-42F0-A046-936499E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90650"/>
            <a:ext cx="2557463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35101-94C5-4A26-8744-9F760C06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906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650C2-AC74-47B9-AABB-EB36551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495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Prometheus + Grafana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76B2A-C3F8-4477-A9F6-C14C2B9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914525"/>
            <a:ext cx="229076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retain + correlate</a:t>
            </a:r>
          </a:p>
        </p:txBody>
      </p:sp>
      <p:cxnSp>
        <p:nvCxnSpPr>
          <p:cNvPr id="6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19145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9CA89C-959B-406B-A571-F2DA0C2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CE11D-00CD-457E-8660-C34E78A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PROMETHEUS.YML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915D0-10E9-4140-8D6C-B0DFF5A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7E685-F675-4F55-8B6B-496E792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global: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ABB8F-8D22-461C-A886-8ED671D8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0463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scrape_interval: 5s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1D49D-C109-4227-965A-8C55DDC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scrape_configs: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4FDF1-B670-4464-8CA7-F96A60F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3388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- job_name: ubuntu-client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E5FCEF-8439-40FE-93A8-BCFD9BB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  static_configs: [{targets: ['&lt;ubuntu-ip&gt;:9100']}]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D7E16E-8B2D-4DD8-9AE2-FDEB21E2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6313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D2C7"/>
                </a:solidFill>
              </a:defRPr>
            </a:pPr>
            <a:r>
              <a:rPr sz="1200" b="0" i="0">
                <a:solidFill>
                  <a:srgbClr val="5FD2C7"/>
                </a:solidFill>
              </a:rPr>
              <a:t>  # Approved version-correct VAST endpoint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FBD46-AEAD-483A-94D7-B5C2EC59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- job_name: vast-vms-authorized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DAAD6-298B-4FDC-B12A-81E20E3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9238"/>
            <a:ext cx="45148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  static_configs: [{targets: ['&lt;approved-metrics-endpoint&gt;']}]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05744E-BE49-47B0-82D7-3534EFC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00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E623C0-0B89-4608-8F12-DCC0E79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DO NOT MERGE MEANINGS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4C85DB-7514-4FE8-9745-9ECED508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Node exporter: Ubuntu CPU, memory, NIC, disk, and workload context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VAST/VMS source: native cluster health, capacity, service, and performance metrics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Preserve source labels, units, collection interval, and UTC timestamp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Correlate sources in Grafana; never relabel client metrics as VAST internals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7DEC64-CEEF-4B0D-AC6D-796C7BC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86400"/>
            <a:ext cx="523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61FAB-2B70-4B87-8D39-02C0DD3D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864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95A76A-20A9-43BB-9531-CCC2F998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BOUNDARY | Without an authorized VAST metrics endpoint, label native VAST metrics NOT CONNECTED and use VMS walkthrough or simulation.</a:t>
            </a:r>
          </a:p>
        </p:txBody>
      </p:sp>
    </p:spTree>
    <p:extLst>
      <p:ext uri="{BB962C8B-B14F-4D97-AF65-F5344CB8AC3E}">
        <p14:creationId xmlns:p14="http://schemas.microsoft.com/office/powerpoint/2010/main" val="15253964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8462F-60DE-4328-B847-D098021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AA34-C459-439C-B778-3553A8CA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6E5B-2959-49D0-BB85-8119717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C34F1-AF7F-4AD7-8135-10FFFB26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2 | Investigate a VAST VMS alarm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A7552-292B-4101-A85F-E9BE62F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23D59-AD94-4156-A351-D00622FC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98F73-C92B-4B92-86BC-FA5F0F2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BDC5B-B908-4220-97C7-30A806B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78A43-AB15-4E93-BBD8-E3DB93B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9FB09-7CD9-4828-B98A-4FBCF99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FDA48-6A67-40AA-A1F4-5BA1C748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6AC2F-F515-4B14-89FF-611ADC3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Build an evidence-backed explanation of an active or historical VMS alarm.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8E1D6-5507-4689-A16C-0A7214FE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8BDA1-7ADC-4B35-BF30-ADEA15E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2FA00-46D2-4B54-A64A-9D0FA8ED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60E7C-C054-423A-A87E-2F31ECD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critical or warning alarm appears; customer impact is not yet known.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8E5B9-7A1C-46D3-8F1F-BFDD40C1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A5B72-42C5-4478-A17A-90B28062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7FA3D-DC99-425C-8E87-0A34DBD9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Browser → official VAST Data Labs → VMS Dashboard / Alarms &amp; Events / affected resource / Analytics.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467CF-D0E0-4BCC-89AA-F348DBBA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0BA24-4EA1-483D-9637-C1A1189F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7609D-A03C-46EA-9316-BA9F697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Cosmos account and launched lab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Cluster shows Online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Core VMS menus 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Read-only restrictions understood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06699-4A14-4CB5-9BC7-E1D9FCA5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151F8-60AA-4AD4-A2F2-283B8A1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2ABD4-E02A-4FDE-85D4-4451866A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Record alarm type, severity, state, resource, and time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Open related event/activity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Check inventory and capacity scope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Align bandwidth, IOPS, and latency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State impact, hypothesis, and next evidence</a:t>
            </a:r>
          </a:p>
        </p:txBody>
      </p:sp>
    </p:spTree>
    <p:extLst>
      <p:ext uri="{BB962C8B-B14F-4D97-AF65-F5344CB8AC3E}">
        <p14:creationId xmlns:p14="http://schemas.microsoft.com/office/powerpoint/2010/main" val="1794228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68EC5B-0C3A-44B7-A09E-A134628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CF075-986A-4888-8A1E-C7C3738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678B-F1FB-494A-8947-37AD163B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50D4-E9ED-44DC-B014-28CA8BDF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2 | Investigate a VAST VMS alarm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4A84B-7BA7-49D9-B2AF-E775486B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321CD-6FAD-4657-82EA-DF09FAD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B65D8-DB7A-486E-9891-313D6582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23752-1A20-4981-A7B5-31B40AC5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751F1-AFE5-4B47-84AB-BCB8BE3C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C21D2-C5A0-4177-81AB-68638F06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AEA9-1A99-477E-BBA6-2C887EC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7DFCC-B1A3-44B9-9DE8-6F0699D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Dashboard: record cluster health +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00279-592A-4810-8C42-13D9B2DF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3343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Alarms &amp; Events: open one alarm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08ADE-615B-4881-A165-68102CDC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1236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Record: severity | state | first/last time |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85D60-75EA-40FE-BDE1-476EF1F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9129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Infrastructure: confirm affected inventory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4CDA7-6F91-4226-AE41-2351B14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7021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Analytics: align bandwidth | IOPS |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477C4-AD11-4C8C-B7A0-580AC80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4914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 → Activities/Events: find adjacent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E9FF3-4AC7-43C8-BF8E-CDF3C413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2807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Validation: re-check health and active alarm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35959-599C-4F18-A9C9-9F85BC65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22A67-7872-4298-8278-1DD794C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A349F-32E0-49AF-98AA-CEAF213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coherent scope and timeline. An alarm may have no customer impact; metrics and affected resources determine significance.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27725-76C8-4F0D-8AED-DD02CA1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BDC40-4E41-4F63-B0EC-87BF5B87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1A0B7-A621-4F50-A3AB-E68F326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Screenshots or worksheet entries for alarm details, resource, time window, and aligned metrics.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AFD3C-3612-44BC-9ECB-0C1DFD3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9376B-4626-4319-8049-8D469EA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8FED6-3081-4EEB-99BB-F1ED689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No configuration change. Close the lab session and retain the worksheet.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25D3A-67F8-425C-8B42-11979C45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1604E-8EF2-448C-B626-CE2774C1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7FA62-76C8-4A32-B0D5-6D02C72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conclusion distinguishes observation, impact, hypothesis, and missing proof.</a:t>
            </a:r>
          </a:p>
        </p:txBody>
      </p:sp>
    </p:spTree>
    <p:extLst>
      <p:ext uri="{BB962C8B-B14F-4D97-AF65-F5344CB8AC3E}">
        <p14:creationId xmlns:p14="http://schemas.microsoft.com/office/powerpoint/2010/main" val="20434395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89F49-AA0E-4F12-AE1B-117794E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9E3E-B234-47D6-B1CD-5DC59DF1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1AE38-AC11-46D3-8829-1303FF1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M2 · MONITORING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38230-CF08-4EE8-9528-C8557E6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32B3C-F5E2-4D8A-9900-5BFB3482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8779B-CC96-433A-BCEB-2A372C7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84660-10B7-40F7-8AC3-4B187FF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M2 · MONITORING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53C0C-4E9A-4F27-AFE2-BF48CDB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C0D9C-E03E-44CD-A75A-4BD309A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EB714-C2F7-4C50-9D42-A01C67F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best distinction between an event and an alert?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50EB3-3F6A-4F5A-8AF3-29FD951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Always identical     B Events only in client logs     C Event records; alert requires attention     D Alerts have no 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4932B-39B5-48A2-B463-A1F464A6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12D52-C180-4B49-BC75-DE9100E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FE2E5-FCFB-4681-AED7-53E4F9A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Why align timestamps during alert investigation?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416D7-069B-4486-BEFD-D9396A5B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Increase capacity     B Reduce permissions     C Create namespace     D Correlate alarms, metrics, and impact</a:t>
            </a:r>
          </a:p>
        </p:txBody>
      </p:sp>
    </p:spTree>
    <p:extLst>
      <p:ext uri="{BB962C8B-B14F-4D97-AF65-F5344CB8AC3E}">
        <p14:creationId xmlns:p14="http://schemas.microsoft.com/office/powerpoint/2010/main" val="881073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94655-EEBA-4A33-9310-3E71997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B5D72-10BE-421C-8602-5F52BA5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DCFA4-F7C2-48E0-933D-9C46DBD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FC020-13F5-44EB-BB7F-9F9736D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Module 3 | Performance begins with workload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00460-E2FE-4AA2-8775-86A62CAB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E3719-4BBD-49B4-B6CE-E01054DD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DF0E6-FF94-4E12-AEFC-FF63B37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3A5DD-8E16-4EC5-A527-D663995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EA6EC-B630-4441-A0F2-50D888D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7C979-6AEE-419A-85D2-7DF69E49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8073D-0751-40E2-A28A-51A2890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Interpret throughput, bandwidth, IOPS, latency, queue depth, read/write behavior, sequential/random access, and latency percentiles.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5798F-34DA-487A-AB19-9276899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1A62E-5E06-41E1-9DCA-D85B2638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C1E4C-118C-4721-AD4F-2F51626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Establish a reproducible healthy baseline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Profile block size, mix, concurrency, and time variation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Explain average versus P95/P99 latency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Find the useful queue-depth operating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5757C-1045-45F4-8012-1EC32CD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C83DB-CC6F-431A-BA3D-9991CEC6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E750F-AA6C-479D-90B7-080A82F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E0F75-36EE-4EDA-AEE2-71B0E8BA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Ubuntu: fio and Linux metrics. VAST Data Labs: observe Analytics bandwidth, IOPS, latency, and capacity context.</a:t>
            </a:r>
          </a:p>
        </p:txBody>
      </p:sp>
    </p:spTree>
    <p:extLst>
      <p:ext uri="{BB962C8B-B14F-4D97-AF65-F5344CB8AC3E}">
        <p14:creationId xmlns:p14="http://schemas.microsoft.com/office/powerpoint/2010/main" val="6814368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2E55A7-B412-4293-B3DF-4728692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0DC4E-B6EE-49D1-B229-4FEAEC6B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3B25-2B46-4FF4-A1C7-B7452AA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B07EA-88CE-4B53-B01E-D3F73A6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IOPS, throughput, bandwidth, latency, and queue depth differ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13FC2-5EE2-4279-829D-4BCC7FBE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47611-5B7A-46BF-9D08-F862247A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2A91F-AF6B-4713-BCAD-F2364AC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50120-D17D-4606-8597-67D6AD38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5C123-B96E-44C8-B57A-3E2CA36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IOPS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AE2E1-E717-4B90-8FF7-3965813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ops/s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02046-7400-4942-9176-63EE4E42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Operation rate; depends heavily on block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70FD7-599C-407D-80B7-1F7E4370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619F5-CD69-4D4A-B75F-8616499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Throughput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94E12-C98E-418B-8D83-48D5BFD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MB/s or GB/s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87E23-5971-4073-B627-313D079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Useful data delivered per unit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F2C1F-008A-4C23-A2CC-D6ECC905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E75DE-9396-4F84-94C8-BC9CF69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Bandwidth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D24F1-918C-4526-9A57-A688569E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path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0C4A1-B07B-4969-837A-3C53551E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Available or consumed transfer 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8DABB-0633-4CDC-A8D8-902C473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3BDA6-3F5D-44EC-88E0-DF993E9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ABA3B-BE3B-4669-9B5B-0424522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µs or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98834-D55D-4DF7-A1DB-A36A2FA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Response time for an individual operation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57067-4761-4EF7-872E-672C45F0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485900"/>
            <a:ext cx="2103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BF08E-1544-4853-8659-0718060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657350"/>
            <a:ext cx="2103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Queue depth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8B5B6-DB2A-48B8-87CD-BB6222D0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000250"/>
            <a:ext cx="21031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in flight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74C62-CE3C-4016-9B54-CDA64E0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457450"/>
            <a:ext cx="21031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Outstanding requests waiting or executing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8E40D-ED66-4CDC-AFC2-E85127E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9944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45DFE-3FB5-4EA7-8E13-5B709A73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2FFA1-F34F-46E3-B8F1-CD506088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958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RELATIONSHIP | Approximation: throughput ≈ IOPS × block size. It does not explain tail latency, retries, protocol overhead, or workload mix.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A73FA-5779-433C-979E-83D596F9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457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482DA-43DA-4C46-B1B6-99EE7F90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422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CLIENT OBSERVATION 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47C08-3686-46AA-8A3A-F4368435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483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C4AD3-589F-46D4-B274-5157C39C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htop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011170-D9F1-4E0C-9B6E-E2E876E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4642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vmstat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ED91FD-7CFF-49D4-B020-77A2D13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6834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iostat -xz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B0628B-ED29-41CA-8B36-0C92FDD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9026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pidstat -dur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6AF40F-8835-46D7-AB9C-F5E9FADB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12180"/>
            <a:ext cx="4229100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7E7F5"/>
                </a:solidFill>
              </a:defRPr>
            </a:pPr>
            <a:r>
              <a:rPr sz="825" b="0" i="0">
                <a:solidFill>
                  <a:srgbClr val="D7E7F5"/>
                </a:solidFill>
              </a:rPr>
              <a:t>sar -n DEV 1</a:t>
            </a:r>
          </a:p>
        </p:txBody>
      </p:sp>
    </p:spTree>
    <p:extLst>
      <p:ext uri="{BB962C8B-B14F-4D97-AF65-F5344CB8AC3E}">
        <p14:creationId xmlns:p14="http://schemas.microsoft.com/office/powerpoint/2010/main" val="17783883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CEA5E-9453-4304-8F7F-F1ECBACE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34B43-59DF-41F9-9280-A92E21CD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E28B3-6712-4CA1-9945-C86FA0F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EACE0-CB05-4631-894E-34FBF79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Tail latency exposes slow requests that averages conceal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0BC07-81BA-4BC1-AE59-8F7F7EB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7F122-C968-4686-9388-529B582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A5A8A-D2CF-42BC-B394-3D3FE4E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26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693420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14c05a714648f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4B56E-98F6-4021-8178-0B85793C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695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1A046-5986-4935-8C9D-B8A5EA8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FCC39-A91F-4B06-BCBE-07414E91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A6B5C-1072-4EB4-A656-E174A39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Increasing queue depth is useful only while throughput rises acceptably. Beyond the knee, waiting grows faster than useful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A20B9-57A6-4EE5-89DB-F77BE0A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3695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E3A85-41A5-4F70-BBB0-4E6BCB7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FA583-B6A1-4BF8-B9D8-1D3DCD8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PERCENTILES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3584D-BC84-4010-ABA1-B85F928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P95: 95% complete at or below this latency. P99 surfaces the slowest 1% that often determines application experience.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6EAE4-8E1D-41CF-810B-3D46B3E1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2667A"/>
                </a:solidFill>
              </a:defRPr>
            </a:pPr>
            <a:r>
              <a:rPr sz="1125" b="0" i="1">
                <a:solidFill>
                  <a:srgbClr val="52667A"/>
                </a:solidFill>
              </a:rPr>
              <a:t>Illustrative training data — measure the actual lab path.</a:t>
            </a:r>
          </a:p>
        </p:txBody>
      </p:sp>
    </p:spTree>
    <p:extLst>
      <p:ext uri="{BB962C8B-B14F-4D97-AF65-F5344CB8AC3E}">
        <p14:creationId xmlns:p14="http://schemas.microsoft.com/office/powerpoint/2010/main" val="66395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863BE8-E65F-4F4E-8925-C623F468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532FD-2963-4D96-A186-EA3B2FD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8E6F4-65B8-40F3-843B-D399062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C4B2C-35E9-4D9E-8334-B8B77C3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Workload shape explains different metrics on the same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B4D6B-9495-48EA-9A82-A1B5C116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0107C-FC93-4397-900B-92448C1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F42A-6538-4379-87F7-29BFB64E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17845-1EA1-4BC4-A23E-B5BCC2B5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990E-1040-4B1F-854B-EBFDDD96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Profile dimension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7735D-F557-4484-B5EA-727C33F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9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06A76-1B59-4668-AD9B-9239565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9065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Expected influence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AC1BC-E4EC-4A6E-8C01-9350626B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3F7EA-2942-4B0D-A49A-1EB839B5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Access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8C634-A3DA-4E7A-9044-7CAB8D4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62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Sequential vs random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735CD-8035-49D4-A5D0-265CD2BB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efficiency vs operation pressure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E4DA1-1F59-4C7B-B033-4BD90296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51CBC-5869-41D7-94A0-A889D466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Block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885A0-20E9-41C3-94A0-20D5574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4 KiB vs 1 MiB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90354-3D23-46B6-8486-6D2185C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IOPS emphasis vs bandwidth emphasis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22DEA-FF16-45B2-80BD-07B0DFB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508C2-400F-4161-AF86-8175815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Read/write mix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12332-B49C-4834-8BFE-1A5CAED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100% read; 70/30; 100%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000F8-6817-40C3-9CB5-B290C47D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Service path and protection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22218-9826-423A-AD2D-450ED2C9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BAC68-0536-4022-BDDD-1A96BE2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Concurrency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4A7EF-A2B9-4D3E-AD27-165629D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numjobs + queue depth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0C3B05-2A15-4D04-956B-3288430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Parallelism, saturation, waiting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971EE-7EAF-4F42-B6DB-8C59321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B89DE-9271-41D0-86EC-D2F3E90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Working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6D6AD-9F54-4509-A853-BEDE987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Cached vs larger than 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511803-7B61-4552-9C2F-E63B689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Client cache and repeatability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0EC7D7-5E48-4612-9DDC-2B1038D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997248-472E-473C-9BA9-C169AD9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6F1258-CF2F-4CFB-A54B-5B49A954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steady vs bursty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00AD0-110F-4492-BD49-655A883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Peak demand and tail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DF600-F762-4262-906E-46BC3382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588CEA-FC78-4247-A066-9882254B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9A48A-4145-4389-AD00-0A1FA26A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61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BASELINE RECORD | Save workload definition, client state, protocol/mount, dataset size, IOPS, bandwidth, average/P95/P99 latency, CPU, memory, network, and disk utilization.</a:t>
            </a:r>
          </a:p>
        </p:txBody>
      </p:sp>
    </p:spTree>
    <p:extLst>
      <p:ext uri="{BB962C8B-B14F-4D97-AF65-F5344CB8AC3E}">
        <p14:creationId xmlns:p14="http://schemas.microsoft.com/office/powerpoint/2010/main" val="11723062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D6785-5EEE-413C-ADFF-9D7E3F3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844DB-F1F5-4E15-B1E9-EFA51F5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5BE61-8678-47A2-AFFB-C5E50AD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D7961-8A6F-4D2F-8D9F-C5FBAC3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Record host identity and resources before benchmarking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F6E11-09F8-4C4B-8074-9BC04DF1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BCB41-C244-4136-B9CF-E819BB56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1DC02-8C03-4E9D-89C5-9E92E1CE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4DBBF-4B0D-4B80-968F-1A0DB663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1912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5365F-6571-4EAA-90D2-D53E425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UBUNTU 24.04 BASELINE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5078A-437A-49D2-89A7-84234EAA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88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3EB4C-1FF6-478B-A782-701F776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uname -a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A703F-1BF6-4FF0-B104-4FB9890F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38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lscpu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84A88-C1CD-441E-998E-018FB9F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40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free -h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78766-79F5-45D5-B494-56CFD642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43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lsblk -o NAME,SIZE,TYPE,FSTYPE,MOUNTPOINTS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5B90B-8B34-49FB-8481-A930318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46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df -hT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1B476-9E4C-409F-BA3A-D44D0A7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48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ip -br address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5E5ED-84BD-40CD-8106-81E89B7C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5150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ip -s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CD611-416C-4786-8770-4B2AA99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5417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ss -s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08675-91CB-4B58-BF67-C9C9C49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5683"/>
            <a:ext cx="5848350" cy="459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7F5"/>
                </a:solidFill>
              </a:defRPr>
            </a:pPr>
            <a:r>
              <a:rPr sz="1350" b="0" i="0">
                <a:solidFill>
                  <a:srgbClr val="D7E7F5"/>
                </a:solidFill>
              </a:rPr>
              <a:t>ss -tanp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D05D9-2C88-4EBF-BB33-2188469D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430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2EB09-4D63-46AF-BD65-C8B6FBB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9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RECORD WITH EVERY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0CEDE-1D0A-4C92-9CC9-C133DDD0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39814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UTC start/end timestamp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Target path and protocol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fio job definition and JSON output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Concurrent jobs and queue depth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CPU, memory, disk, and network samples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Any VMS alarm or metric anomaly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69B54-9EBC-48C6-8220-FCB2263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743A4-B0FB-44D2-86F8-7AF1AD14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FD025-8A02-4B87-BA6C-90CCAB69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1F42E-C403-4597-A726-E4C4D59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Use a dedicated lab dataset and confirm free space before any write workload.</a:t>
            </a:r>
          </a:p>
        </p:txBody>
      </p:sp>
    </p:spTree>
    <p:extLst>
      <p:ext uri="{BB962C8B-B14F-4D97-AF65-F5344CB8AC3E}">
        <p14:creationId xmlns:p14="http://schemas.microsoft.com/office/powerpoint/2010/main" val="11026521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F43ED-8B79-4B25-95CD-5A6A1F5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D24F7-AB16-488A-92EA-7150F32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E714B-C529-4C33-A066-94C3AC07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49DC7-9878-42AB-8297-DA07AEB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 | Establish a healthy system and storage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B2BFF-D402-4DEA-82B3-483FE8F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66B88-02D3-4A5F-A235-FD4F9DFB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C2565-4AB5-495C-8457-13008682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C3354-FD70-423C-A7ED-35A5862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20D8C-3613-4ACD-A9F3-FA6D12B0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C99BD-8814-4A25-B0F4-AF023D5D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B71C3-C285-484C-A6D3-E77554C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D7033-BEF4-41FF-B5CE-1A9D90A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Create a reproducible reference for client resources, protocol health, and storage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738FC-AE95-498D-9E85-11EDDE0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4DC30-1118-4CEB-AEBC-73C96B7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F2A3D-1F40-4335-8BFF-28F6A691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7335E-5219-4636-9946-F81C2E75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No failure is injected. The risk is an incomplete baseline that cannot be reproduced.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53EB0-4942-458A-8188-2E38A86F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30C6B-DB4C-4BB4-ACB5-17CF4C99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283F3-BC7D-4E75-A3D6-8D942E6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workload client → approved NFS/SMB/S3 lab endpoint; Prometheus/Grafana observe the Ubuntu host; VMS supplies native VAST context when used.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14DCF-5AAD-463C-8389-73767493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9200A-7CAD-4065-98E4-8081B88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56968-4731-4ECB-B1E9-75FCE2D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lab path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free capacity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Services healthy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Prometheus target UP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UTC clocks aligned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21E0B-56F0-4BD0-89B9-423CB1A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86AFB-EB6B-4FA6-B206-EE404F4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2E75B-FFBC-4DCC-B3CD-960E2ACD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Record host, network, mount, and service state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Run a small validation I/O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one stable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Capture resource metrics and fio JSON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Document normal ranges and variance</a:t>
            </a:r>
          </a:p>
        </p:txBody>
      </p:sp>
    </p:spTree>
    <p:extLst>
      <p:ext uri="{BB962C8B-B14F-4D97-AF65-F5344CB8AC3E}">
        <p14:creationId xmlns:p14="http://schemas.microsoft.com/office/powerpoint/2010/main" val="10716017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08C13-F5AC-40A0-A0A2-6BEEEBEE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E3232-4C56-40FC-8D9D-1A2B486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F2DC-3068-463A-A665-11DDF1C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40594-F734-4F7D-A538-1617048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 | Establish a healthy system and storage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0259E-A602-40B7-AEE0-2598C540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8B4C1-8FC4-4EF2-B3B9-3DC9517E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9060A-7564-4FFA-9A1E-AC0E1C3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C12BA-BF4C-41DA-9D00-4DEC6609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2FB4C-BE31-41F6-B038-DE56FC09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BAFEF-4334-49B7-B1AB-3B8C5FF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FEFB7-6B32-4AA9-ACC0-1C56ED0D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D3119-4746-47A5-BBE8-A6145AF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-u; uname -a; lscpu; free -h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35B50-25BD-453F-B448-A7DADAFD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lsblk; df -hT; ip -br a; ss -s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858F2-6FD6-4ED2-A59E-77499D27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mount | grep '&lt;lab-mount&gt;'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DCDDC-D60D-4F27-A68D-8FEDF23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  # when NFS is used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5E039-F153-4950-83C7-5885779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--name=baseline --directory=&lt;lab-path&gt; \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12AF2-F1E0-4573-9E63-D2454D05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--rw=read --bs=1M --size=4G --iodepth=16 \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E2865-B1D3-43C8-8C4C-B642B39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--runtime=60 --time_based --group_reporting \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CBBD7-051D-40B0-892B-EF634DE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--output-format=json --output=baseline.json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53595-DCEC-41B8-9C26-D0EC416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iostat -xz 1 10; vmstat 1 10; sar -n DEV 1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1A761-A234-43FB-9030-DCFA8AA3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7DD5E-0601-4B41-91DF-287B9310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8F580-545F-4D18-8DA6-8D646F1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Stable throughput and latency; no protocol errors; Prometheus/Grafana show time-aligned CPU, memory, network, and disk movement.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54166-0B89-4C75-94D9-25847EE5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E7056-65E6-4E41-9D78-0DEC50D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D3BC7-4DB8-4B50-8546-10BCAB7C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Inventory text, mount state, fio JSON, Linux samples, Grafana time window, optional VMS metric window.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548A8-D27A-4B99-A850-57509CD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4AEB6-EB31-4A81-94E1-7FA07BE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D42F4-ED9D-4A70-AB7B-8E140A2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only the dedicated fio file after confirming the path; retain baseline.json.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62CDE-A967-4759-91B3-F4B41B7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9DB1F-F01C-4A07-9D06-DB6C68C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D80F3-953A-45FA-B2E1-244BC6B6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Another participant can reproduce the run and obtain the same operating range.</a:t>
            </a:r>
          </a:p>
        </p:txBody>
      </p:sp>
    </p:spTree>
    <p:extLst>
      <p:ext uri="{BB962C8B-B14F-4D97-AF65-F5344CB8AC3E}">
        <p14:creationId xmlns:p14="http://schemas.microsoft.com/office/powerpoint/2010/main" val="5733244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460EE-FD35-425C-9E1D-252EE21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52976-0858-49BD-BDBC-4EF7DC9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5B739-4DFE-4C35-BC34-401C85F8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52200-1888-412E-99BA-84B7076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3 | Compare sequential throughput and random IOPS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A384B-6A3A-4EC6-A37C-FD8D913E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466D7-CA38-41EC-AA1A-B581DD9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749B5-0AD2-473E-81AB-FA361B6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16B84-020F-46FA-B7E7-E3B92C26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ED4E4-514F-413B-B78B-700A39C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B5E86-9F1B-489A-A48C-EEF9C2D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431D9-AF7A-441D-ABB6-E6D1C86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4D408-9438-4DBD-930F-4153A1C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Show how access pattern and block size shift the dominant performance metric.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1EAED-B92C-4F57-A361-47F4EFD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AAC17-C414-497D-8895-EBD0278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45E2F-3B9B-4C3C-ABA7-99D167C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B485A-0C64-4C22-BF84-BB05EBA6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team compares unrelated tests and incorrectly labels one protocol or storage path slow.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06D97-9F38-44EC-8688-6FD17D9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7E58F-1FE0-4012-A555-D7EC017B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071A7-59A3-4864-8C2E-566AF0A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dedicated lab path → selected protocol endpoint; Linux and Grafana observe client resource demand.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F9992-9767-4558-A024-8165BBCD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E5E1C-B4C8-4996-B7CC-31F8631E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566B8-03B7-41CB-A7BE-CF43B00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complete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At least 8 GiB free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test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competing lab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CF669-2A9B-4151-A139-FCE6DF3E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D291A-DAED-4E41-AA50-622AA31E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5509E-0E7A-41C3-80EB-130D5B1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Hold dataset and client constant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Run 1 MiB sequential read/write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4 KiB random read/write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Compare IOPS, bandwidth, and latency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Explain the result using workload shape</a:t>
            </a:r>
          </a:p>
        </p:txBody>
      </p:sp>
    </p:spTree>
    <p:extLst>
      <p:ext uri="{BB962C8B-B14F-4D97-AF65-F5344CB8AC3E}">
        <p14:creationId xmlns:p14="http://schemas.microsoft.com/office/powerpoint/2010/main" val="18393074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A92542-EE2A-4368-9A0F-39C540F5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64F33-6002-4FC2-90BF-60CD1427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42597-73D6-4CE8-93B6-C3A1A07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865C8-1547-44C4-AC48-4487591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3 | Compare sequential throughput and random IOPS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7B52C-390E-45E0-B728-C62B57C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4D27D-F5FF-48A5-AE5B-AFF1E92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10593-9DDC-4842-90E5-F51665A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9C41-F7D1-483B-836C-4CB8C8C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F1CA8-D676-4950-AA3F-4EB0FECF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388C9-FDA8-400E-BE9A-3D8AD724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4DF09-46A4-4B63-8B2C-D21E513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2AFA6-A821-4619-80F0-33C54FCD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mkdir -p &lt;lab-path&gt;/fio-lab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928D1-880B-4675-A494-3626E035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0473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mode in read write;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0C74B-F9C6-4FA3-88CE-1A2196E7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549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--name=seq-$mode --directory=&lt;lab-path&gt;/fio-lab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F29B9-C754-436D-90D0-377DFF5D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0518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--rw=$mode --bs=1M --size=4G --iodepth=16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BF4B-5EBF-476A-91E8-88C1475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5541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--runtime=60 --time_based --group_reporting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12515-FB8D-4929-8FEF-15C4CCF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0564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93D87-66E7-4783-85E8-BDB68B2C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5586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mode in randread randwrite;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5C217-898E-4F80-ADF3-6AC8005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0609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--name=$mode --directory=&lt;lab-path&gt;/fio-lab \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AEEF2-50E5-4CB1-BD63-C9FE231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5632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--rw=$mode --bs=4k --size=4G --iodepth=32 \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DFDDF-3DDD-4147-B095-F59A13A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065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--numjobs=4 --runtime=60 --time_based --group_reporting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21F01-688A-4CBE-9F78-E65C0DD6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5677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070BA-226D-4AD1-A1DE-C6B014CD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C2B74-CA6D-4C56-8DB2-127B72C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E93FB-945D-43CF-8F43-9E06B37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Sequential tests emphasize MB/s; 4 KiB random tests emphasize IOPS and usually show different latency behavior.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E580E-CA66-4285-94A9-A36F1D8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408E0-AF80-4D73-B6B3-66616BF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9E791-7751-4045-9EF2-FC252D5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Four fio results with identical path, runtime, and recorded client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313A8-A6B2-45A1-8C78-1DF1796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37D59-4E89-42E0-85DB-8ACECD4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F3026-75EF-49A1-B31F-8010835A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rm -f &lt;lab-path&gt;/fio-lab/seq-* &lt;lab-path&gt;/fio-lab/rand*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9BC9B-EF32-45E8-98C7-740925B8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57D36-53E3-433E-B0BA-99735DDE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2D944-FBC3-4388-8EAB-17118EE3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comparison attributes differences to controlled workload variables.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36FCF1-7504-4FC3-AC27-5C47F50A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B80414-9C5C-4D38-B65E-2FE584D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55A92-ED1A-4E5D-A5EF-C261BAA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Write workloads can overwrite data if the path is wrong. Use only the dedicated lab directory.</a:t>
            </a:r>
          </a:p>
        </p:txBody>
      </p:sp>
    </p:spTree>
    <p:extLst>
      <p:ext uri="{BB962C8B-B14F-4D97-AF65-F5344CB8AC3E}">
        <p14:creationId xmlns:p14="http://schemas.microsoft.com/office/powerpoint/2010/main" val="215929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C3EF8-C774-42D9-87FE-979762D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70108-93FE-4A47-A006-2F0C5C1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5CA79-DDCF-4102-8515-D8040BB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6873B-FD4D-499E-BE22-894CEEA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4 | Observe queue-depth effects on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3A487-04A9-4814-AFB0-5E11628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8DF72-A661-4EC4-8A8E-E6F64E0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FA4C-C5F5-4F78-961F-8D508F8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8F50D-D97D-47C5-B665-8320BF94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A8BE8-E574-4A4D-8374-326F0390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969BA-511B-4996-BBCA-BC446889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EB7A6-B98D-4966-A098-71C8E90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560FD-9B97-42B8-B7F1-1372362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Locate the queue-depth knee where latency rises without useful throughput gain.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820DF-077E-408A-B7A9-61A853A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9EB99-3504-4BA1-899E-F0DFF32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3C6D0-22F6-4B6E-B293-3D43B9C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4145A-8F35-4BDA-AD5B-A6F3CA1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Tuning advice increases queue depth and worsens application response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A18CB-C801-4178-8F10-CDECAB9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CF0C4-9AFE-4832-A388-4483E223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FF5AF-36F5-4936-8475-09ED328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one fixed target path; collect JSON and client metrics for QD 1, 4, 16, 32, and 64.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ADD01-3240-4F1C-AAA8-A16B128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EE5FF-A366-4743-A8EE-94CD888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E3816-D738-4A65-8B63-1D33077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Same client/path/dataset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concurrent workload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JSON output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captured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C2060-96B6-49B4-88DC-0F7CB14B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1C7B4-00E7-4580-BA7C-9FEE849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AFCBA-1250-47AE-AE8E-6743A1F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Run the same workload at each queue depth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Extract throughput, IOPS, mean, P95, P99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Plot QD against throughput and P99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Identify the knee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Select the lowest QD meeting the target</a:t>
            </a:r>
          </a:p>
        </p:txBody>
      </p:sp>
    </p:spTree>
    <p:extLst>
      <p:ext uri="{BB962C8B-B14F-4D97-AF65-F5344CB8AC3E}">
        <p14:creationId xmlns:p14="http://schemas.microsoft.com/office/powerpoint/2010/main" val="271937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CB359-7DFB-46C8-AF77-70B8948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C70FE-D9E7-48B8-87DD-DED224A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77B7B-B56E-43E5-9B3E-0674007A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9A73C-63AD-4DE0-AE9F-315A6B71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4 | Observe queue-depth effects on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E01A-63CF-4CFD-8BC7-17A20A3C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3558E-3249-4386-AF15-E07A686D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21850-EA55-4345-957C-70DFC60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DC5F8-902A-405F-88BB-CC6EA82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60BB0-7A1C-42DE-8353-3A9A2202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669A-94BB-4377-900A-0E0739F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D3FB7-C7AE-4F25-881F-E3EFF7F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F1589-864D-4B31-A9F6-8AEEF0A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for qd in 1 4 16 32 64;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5F58B-0E5D-4FCB-8A04-8131D050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3606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fio --name=qd-$qd --directory=&lt;lab-path&gt; 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9172E-D274-4AAC-93A7-03B0B60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1763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--rw=randread --bs=4k --size=4G --iodepth=$qd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04995-AE41-45F5-B4C3-75426FC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9919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--runtime=45 --time_based --group_reporting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F044D-2185-47C8-A9B5-17956C66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  --output-format=json --output=qd-$qd.json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E3ACA-42A6-4FA6-9604-FB829D94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6231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2F589-52BB-4351-8A5C-4CC31A6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4388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qd-16.json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36E45-E88D-4F21-91A8-D8E09127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2544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'.jobs[0].read.clat_ns.percentile["99.000000"]' qd-16.json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FED46-A497-4B6D-8AE4-C3416D3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11629-1EA1-406E-8958-8EF433A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1D276-4049-4AB5-B20D-CE6410A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Throughput/IOPS initially increase; beyond the efficient point, P95/P99 can rise sharply with little useful 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B0E44-CA66-4CB4-B4BD-73E9B924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A537F-AEFE-4DB3-B6B7-47BDF449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F95FE-CF65-44BC-AF34-711847C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QD comparison table and saved JSON for every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F453C-E690-4D30-A417-98D1990B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5A797-6742-4BFA-860B-F9B1757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272A96-8AF8-43B0-B4D3-85DDDFE9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only the fio test file; retain qd-*.json for the optimization lab.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04DA3-F415-492C-818F-C14D93D6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01891-B3E7-49BA-8755-80B38BC2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6AF289-AFB9-4EAC-AD66-069799B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selected QD is justified by throughput and tail latency, not maximum concurrency.</a:t>
            </a:r>
          </a:p>
        </p:txBody>
      </p:sp>
    </p:spTree>
    <p:extLst>
      <p:ext uri="{BB962C8B-B14F-4D97-AF65-F5344CB8AC3E}">
        <p14:creationId xmlns:p14="http://schemas.microsoft.com/office/powerpoint/2010/main" val="11140320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676E0-BB62-486D-B223-2A612BE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06A87-64A0-4414-8BC1-03FD62D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92978-5686-4B32-B698-F9DF4DA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BD3B7-6C6D-4F72-B9FA-609D397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Ubuntu lab | Compare dd transfer rate with fio workload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BC0B9-A5C3-4480-A38F-063FD314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DISPOSABLE TARGET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A9826-FFFB-4539-B63D-CF613961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5E84E-66B3-42B8-965D-AD43B5BF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BE950-AFA2-43D1-BFDE-D5209B1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C533F-6352-4043-9A0C-4E3D9FD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C4405-5C48-4324-BFF4-9F6DC75F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RUN ON APPROVED LOCAL LAB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F398B-257E-4DEC-9ED0-E0EF569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831ED-91CA-471C-8B4F-77EC7FE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export LAB=/var/tmp/vast-training-target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E1B64-95D9-4BF1-A455-FFCB53C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2457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test -f "$LAB/.vast-training-lab-approved" || exit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20D6B-AEF2-49F2-A6C5-3512B21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4214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dd if=/dev/zero of="$LAB/dd-probe.bin" bs=1M count=256 conv=fdatasync status=progress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1D889-1CE6-4E72-9DAF-076B1D3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5971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dd if="$LAB/dd-probe.bin" of=/dev/null bs=1M iflag=direct status=progress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E52E4-7363-4522-9465-359C9145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7729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fio --name=seq --directory="$LAB" --rw=read --bs=1M \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731C8-9DB6-4059-A32D-8BC3EED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9486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  --size=256M --runtime=15 --time_based --output-format=json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4509D-C7C9-4EAC-9A5B-A2A115A1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1243"/>
            <a:ext cx="63246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rm -f "$LAB/dd-probe.bin"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6BB2E-7F09-41CF-8A50-A1BC0E84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81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DD546-276A-45A1-B60F-792AFF8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0C737-34A6-45D4-8E78-4363346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3543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dd reports one transfer path; it is not an IOPS/latency workload model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fio records workload shape, concurrency, bandwidth, IOPS, and latency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Cache and direct-I/O choices must be declared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Compare only equivalent targets, sizes, and time 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B44A-F05B-4BA6-A5C2-B798CBCD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3695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B3E50-D516-45BC-85FA-75CCC30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54DBB-A92B-407D-AE30-4553F0F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24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SAFETY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ABB4B-C16A-41D2-95A6-288E2F5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10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Never run the write command against a production mount. The sentinel file and approved disposable target are mandatory.</a:t>
            </a:r>
          </a:p>
        </p:txBody>
      </p:sp>
    </p:spTree>
    <p:extLst>
      <p:ext uri="{BB962C8B-B14F-4D97-AF65-F5344CB8AC3E}">
        <p14:creationId xmlns:p14="http://schemas.microsoft.com/office/powerpoint/2010/main" val="675585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778CF-0D17-4E4F-92FC-FED132C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A89F2-ED9C-4313-8194-84566B8C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8007-A99B-475D-9164-4CE9800C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M3 · STORAGE PERFORMANCE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D7A50-2021-42FC-BAB1-C0D98BCE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Storage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2F57F-F117-4718-9F56-D16F60CA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1EB66-D5F0-41DE-BDB1-B7773EE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4546-4088-4D3F-8BCA-4B728E3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M3 · STORAGE PERFORMANCE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0E0FD-749D-4AF2-922B-EB5FB710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3DFC4-A874-42DC-AEFF-2B7A989E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0FAA8-BCF8-411F-80F1-2A724F8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Why are P95 and P99 latency useful?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B1F1B-C72F-429C-A440-465A58A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Show capacity     B Count files     C Replace logs     D Expose slow-tail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53879-26DB-43CA-9C81-A7FBB42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10753-1CBA-4912-8D26-FCAB594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DE085-BC91-4D82-B6CA-5DB63BE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can occur beyond the efficient queue depth?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E7EF0-3826-4709-84A8-1FA3ADF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Latency becomes zero     B Latency rises without useful gain     C Capacity doubles     D Authentication accelerates</a:t>
            </a:r>
          </a:p>
        </p:txBody>
      </p:sp>
    </p:spTree>
    <p:extLst>
      <p:ext uri="{BB962C8B-B14F-4D97-AF65-F5344CB8AC3E}">
        <p14:creationId xmlns:p14="http://schemas.microsoft.com/office/powerpoint/2010/main" val="9397565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F6682-E47B-4D5A-846D-F78EFA6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0D283-EBA2-4C1C-B735-935FEE08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140D5-C369-45BD-B6D5-8B0CFD61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A01FF-35F7-40B1-B9B6-B8FAE100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4 | Network evidence separates reachability and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3C2A9-9FE0-4AE5-811A-76287C9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6E909-1BAA-4F91-AC27-2F3A3F2E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2A0F9-93F9-494B-84A3-C6B727D3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EF9E0-9D0F-48D8-8A20-08B40E2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64D7F-1E1A-46C2-93B5-F685DC38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9BFF1-835E-4B24-8553-60D179C3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4E39D-6B61-4873-87E8-D6884E0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Review network architecture, utilization, packet flow, latency sources, congestion, routes, connectivity, and capacity headroom.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5873C-9687-4CE8-86A9-AE32318F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33B76-DF03-4D89-AF79-966E004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1A570-010E-42AF-B49D-36C85D5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endpoint, route, gateway, MTU, and port reachability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saturation, loss, drops, retransmissions, and asymmetry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Capture protocol traffic safely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Plan for peak demand and failure-path headroom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7B3BB-8D77-43BF-8496-229BA8E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0A63A-2A76-4E11-B85C-EAC1885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CE56B-F784-4F31-AC87-78D35A92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064B7-DBDF-48EF-946B-0D96906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Network Access, VIP pools, CNode assignment, Data Flow. Ubuntu: ip, ss, ping, tcpdump, sar, tc netem on isolated interfaces.</a:t>
            </a:r>
          </a:p>
        </p:txBody>
      </p:sp>
    </p:spTree>
    <p:extLst>
      <p:ext uri="{BB962C8B-B14F-4D97-AF65-F5344CB8AC3E}">
        <p14:creationId xmlns:p14="http://schemas.microsoft.com/office/powerpoint/2010/main" val="8391060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8A4E2-A10A-4FDD-9793-B4EF86E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21EBD-B698-4E5C-808B-4FFB93E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F5A08-5EFF-449D-8E61-2ABB3EB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04CDB-60F9-4FDF-B192-7F53E15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Saturation, latency, and packet loss leave different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5D21C-36CF-40F3-834D-6133454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2A879-AFA9-4F9F-8012-675955A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71586-A429-49C6-A8AA-9BC815C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6F6AF-C07F-4F64-A717-7CC64724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37A3B-52F0-484C-A305-B3CB541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CEBD5-1B7B-4BAD-913A-3BA5FD52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47800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Client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81328-6A64-439F-9694-E6947433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Protocol / application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9DE17-A038-4762-A77D-46DA203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EBFC6-B3FA-4093-A2BD-AAEBC9B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Saturation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D3AEC-5EA8-4A1F-BF47-B765C66E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Near line rate, queues/drops, rising RTT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C8B33-540B-437E-A428-C5A2722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ceiling; latency grows under 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81E51-DE24-4A68-BB71-76AED95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49541-0241-4D60-9DD4-F57A191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Added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BEDA9-7671-4A16-A764-1C595F1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RTT shifts consistently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E2857-1303-4ABE-A59C-5123EF3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Longer request completion; chatty protocols amplify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D7C52-0BC5-46DE-A141-7932667A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1EAE9-1737-433B-8832-5E3AAAE5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Packet 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F8647-7957-485E-8C40-370657C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814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Drops, retransmissions, timeouts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F790A-00E7-4640-9D5F-BADFDE8A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Irregular tail latency and stalls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F9AE0-17ED-4093-A7B5-A3F7BFD5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EF946-48AF-4FC9-96EB-3414B46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Routing issue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93187-E07D-4B3C-A59F-93DC70A1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Wrong gateway/path, asymmetry, reachability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7E969-21A2-4473-B796-57BBA01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Some endpoints fail or behave differently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5E867-2DC7-46FA-918E-55286EB4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0B377-BD4F-46FE-BBEB-6885881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Endpoint imbalance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56EF9E-A089-46B5-8657-A318ECCA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292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Connections concentrated on one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139D8D-AEE0-4FF8-B7FE-B06A689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Localized contention despite aggregate headroom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90DA2-F416-4DC6-A1E8-97FF4EB8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D9C85-F07E-4E01-AF49-292BA56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8F88F-886E-4DCC-A863-8F5594D0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61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CAPACITY PLAN | Use peak and percentile demand, growth, safety margin, and degraded/failure-path requirements — not one idle sample.</a:t>
            </a:r>
          </a:p>
        </p:txBody>
      </p:sp>
    </p:spTree>
    <p:extLst>
      <p:ext uri="{BB962C8B-B14F-4D97-AF65-F5344CB8AC3E}">
        <p14:creationId xmlns:p14="http://schemas.microsoft.com/office/powerpoint/2010/main" val="14163130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FB173-ADD8-4B5A-90E2-DCF23E7A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4E2CB-3F14-43BE-9BF1-8CA107A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D0A31-2667-4DDD-8B2B-4BEDC36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59895-2CF7-4221-96A5-0DE06933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Collect interface, route, connection, and packet evidence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B8FDF-B5E7-43D7-9594-EF9C325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B0A56-C516-43EB-9C71-498D050F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D2E16-38C7-447E-8753-F54F0A8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12AA0-B8D5-42B5-9016-3F18B4B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219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64AE2-80C2-4296-9FC1-83191F1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NETWORK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B7768-59A5-4FEE-86AC-9AC007FF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89CE1-CCD5-472D-AC90-1877EC29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-br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C3A21-F891-4868-8082-F9B971DF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route get &lt;server-ip&gt;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5EBA0-F449-438C-A921-4283991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-s link show dev &lt;lab-if&gt;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81806-E6D5-4B7D-84E6-AD436A40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ss -s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91898-57DD-400C-A25C-B5A0F95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ss -tanp '( dport = :2049 or dport = :445 or dport = :9000 )'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C4308-0F7A-471A-B50C-192005F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ping -c 10 &lt;server-ip&gt;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EC650-5DD1-4EE7-9254-983796F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sar -n DEV 1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CCFC6-3A73-4967-AF6A-F4AE00F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ethtool &lt;lab-if&gt;  # if 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B178E-37A3-4430-950D-ED953DA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57300"/>
            <a:ext cx="541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53D31-5363-4DC9-AB22-892626B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716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PROTOCOL PACKET FILTERS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B086A-C158-4460-8450-A0C63B0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22ADA-A5C8-4279-A0E3-C5474F0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2049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2C498-5926-4D9C-974B-610F8C8B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456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445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7F440-46B6-4BC0-818D-61E78CC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5557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port 9000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8A03E-9FAC-4D13-AD01-46B05E5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1658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sudo tcpdump -i &lt;lab-if&gt; -nn -s 0 -w incident.pcap \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C857D-3B71-444D-B70B-BF73E5F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77590"/>
            <a:ext cx="5067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  'port 2049 or port 445 or port 9000'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56FEE-0E8C-48B2-A3C1-02A706BB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541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652CF-1671-46DF-A335-01110422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FFB50-FB45-425A-8108-52D5BEBD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INTERPRET CAREFULLY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8A3D6-75D1-4B52-8A3E-AD60962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packet capture shows exchanges, timing, retransmissions, and errors. It does not prove a storage root cause by itself.</a:t>
            </a:r>
          </a:p>
        </p:txBody>
      </p:sp>
    </p:spTree>
    <p:extLst>
      <p:ext uri="{BB962C8B-B14F-4D97-AF65-F5344CB8AC3E}">
        <p14:creationId xmlns:p14="http://schemas.microsoft.com/office/powerpoint/2010/main" val="3726412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32E03-BFC8-4819-A223-B574F2D5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C0584-CF2C-409B-9E81-95F634B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FC227-FD24-4587-B4B6-FD859BA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795DB-C218-4EF9-BF4D-125EE84B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5 | Identify saturation, latency, or packet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CE014-D4DB-422A-B8F5-CD0A6E1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04F5F-6339-413A-9E25-6FC50186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0F0C1-C1AD-40FD-BBD9-180E4A6F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62436-396E-4BE1-BA23-D34FD993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D834E-BB52-42F9-B3E5-AFCCF98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F749D-6F5C-4359-83D7-B25705D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5A915-8682-4291-B802-B6D4653C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27B9E-9332-43C9-B635-059612C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Correlate a controlled network fault with application, interface, protocol, and latency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7B53A-2588-4299-9DCF-4AA5D07F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F9C52-0B9F-4622-B671-47B4B97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17957-EDF3-40C8-AC1D-E1EB942D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7F672-8E03-446D-A552-6BBCFBCF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Throughput becomes unstable; P99 latency and retransmissions rise.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2355-3DE9-4A4C-9E2A-CA120C21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F8237-05D2-41FF-ACED-8B777D08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2860B-BDD7-40A1-9EE3-E92CFB31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workload → isolated lab interface or Docker bridge → NFS/SMB/S3 lab service. Management path must remain unaffected.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27956-DDE1-4C10-88E5-714EDB3C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C168F-7ACC-4C81-B0C0-206FDBE8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2C263-EA29-435E-8B68-CE6E16D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Console recovery available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lab interface verified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Baseline RTT and workload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production traffic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869D2-C856-42A8-81ED-52C8FEE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689F7-C9C5-46CE-9F83-06D987F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0799B-9938-44FA-8B9D-28ED407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Confirm path and baseline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one stable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Inject latency or small packet loss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Capture ip/sar/tcpdump/fio evidence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Rollback and re-test</a:t>
            </a:r>
          </a:p>
        </p:txBody>
      </p:sp>
    </p:spTree>
    <p:extLst>
      <p:ext uri="{BB962C8B-B14F-4D97-AF65-F5344CB8AC3E}">
        <p14:creationId xmlns:p14="http://schemas.microsoft.com/office/powerpoint/2010/main" val="13869363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050626-0435-406A-96EF-D96A5EC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2E317-9FA0-41F3-9C79-1397BDF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34215-4430-4A1E-B21E-41DE9558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BB447-6C09-48A0-981B-5D98481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5 | Identify saturation, latency, or packet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F231-D2CB-4E96-B770-72809764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A8F2-37B5-4EB8-AD09-9E737FA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A118E-4739-4A2A-8753-7259E5D0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CCCF-6BAD-47CC-B6D1-0DC480C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98869-8E00-48EA-894E-C868DF6E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CC2E4-150B-4F2E-8017-F49FE5F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2272-314F-4226-B919-5C44A47F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1084F-56DE-4511-BF27-CD39A2E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ip route get &lt;server-ip&gt;; ip -s link show &lt;lab-if&gt;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8826C-405B-41E6-A1FD-5DB6A1C8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ping -c 10 &lt;server-ip&gt;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03AFD-3939-468A-818A-0F73BD6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isolated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1215E-8147-4642-B0E7-02C7B355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sudo tc qdisc add dev &lt;lab-if&gt; root netem delay 20ms loss 0.5%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AB749-3BAF-4556-B640-AE2A2C8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tc qdisc show dev &lt;lab-if&gt;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1306-AEF0-4E9C-8B88-3DD6EF2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sar -n DEV 1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29545-6B6E-4B7A-9871-A6695B4C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tcpdump -i &lt;lab-if&gt; -nn -s 0 -w netem.pcap host &lt;server-ip&gt;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130F2-C151-4053-BED2-071CC877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A07A3-BBEA-4EDD-B1CE-CAEE776F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sudo tc qdisc del dev &lt;lab-if&gt; root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35271-AC16-4677-A346-0DFCA11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ping -c 10 &lt;server-ip&gt;; tc qdisc show dev &lt;lab-if&gt;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A2415-6F29-49C1-9DC0-A1E1B5D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D4776-F85D-43E5-A19A-7C019F0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46E4A-A1E2-45CE-8FA6-98AAA54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RTT and tail latency rise; loss can create retransmissions/timeouts. Metrics return toward baseline after rollback.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CA2B2-EBBE-4EF9-B18B-6D659E05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00BF7-9B7C-4116-B3BB-1B0AE84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330F5-6F3B-4CFC-AE30-B5D6D7C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Before/during/after RTT, fio latency, interface counters, pcap, and exact tc state.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89670-8165-47DA-B7BB-E017FC56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2353F-378E-4BBD-BA0D-18FE35F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6C2DF-EFAE-4831-B66E-61BCF62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Delete the netem qdisc and validate the route, RTT, and workload.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AD816-30D0-4B9E-AA6F-E904116D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BB61F6-A999-4D27-B162-8563DB9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E22E1-173B-4402-9510-1B915DA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fault is removed and the same workload returns to its baseline range.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9F696-B5B1-40BA-A26E-B40AE02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87FFDB-3D4A-4CD7-8571-3E5B6D0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6B256-172B-48BF-B2A4-687DEB09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tc netem can disconnect the trainer. Use a secondary interface or Docker bridge only.</a:t>
            </a:r>
          </a:p>
        </p:txBody>
      </p:sp>
    </p:spTree>
    <p:extLst>
      <p:ext uri="{BB962C8B-B14F-4D97-AF65-F5344CB8AC3E}">
        <p14:creationId xmlns:p14="http://schemas.microsoft.com/office/powerpoint/2010/main" val="165900961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F7FC4-367B-4C4A-B096-C7C15F0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4D759-1F93-4DBC-818D-0A1189B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FBD23-50F0-41D4-A0FE-BC84C9F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B3A7D-1B52-4453-93A4-DA4CCF2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6 | Capture and interpret NFS, SMB, or S3 packets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00002-E7DC-47D8-8E80-343355C6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0A441-09B4-46A7-A099-DC9BAF2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108A9-85E2-4FCF-A777-646EF84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C2C97-7F7C-47F3-88E3-78D655A0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FFBDC-7507-4000-AFF5-C7B39FC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00961-9346-4B8F-AF49-679774F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EA7ED-4DEA-43FE-919C-3C786B76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A66EF-75BE-41C8-BCF9-73D8392C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a bounded packet capture to prove endpoint, connection, timing, and protocol exchange.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D4118-AAAD-48C0-9528-A58B03ED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A310D-315C-4765-B574-EC82CCCA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3AFCD-DB8A-43FA-81CB-67136BC7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A8432-DC7B-406B-99F7-BF8DE03F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request is slow or fails intermittently; connection evidence is missing.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B448E-AF96-4747-A9E6-7AC7C58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2DDB9-02EC-4CA6-8DF1-576BEC2F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ED249-2219-4DC2-9D0C-E1044076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client and lab service on a known interface. Capture one selected protocol and one reproducible operation.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66405-D7FC-4A05-ADF1-CE62118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D1C6D-BDF0-4DEE-8633-4C6DD2A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DEE0A-5E01-4846-918B-FE18756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Approved capture scope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interface and endpoint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pcap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test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DD3B3-3217-4B7F-95D1-66396B3C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08D15-3714-4FF3-A7B0-42ACAB07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3C322-7830-4DCB-B771-7F63839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Define host/port/time scope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bounded capture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Run one labeled operation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Stop capture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Inspect timing, resets, retransmissions, status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Correlate with logs</a:t>
            </a:r>
          </a:p>
        </p:txBody>
      </p:sp>
    </p:spTree>
    <p:extLst>
      <p:ext uri="{BB962C8B-B14F-4D97-AF65-F5344CB8AC3E}">
        <p14:creationId xmlns:p14="http://schemas.microsoft.com/office/powerpoint/2010/main" val="10803366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12FE7-2EB0-4D4D-A484-722E8761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8ACC2-4EE1-4161-B2E5-0F355F1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7639-89E8-4361-BAA3-EA3A428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A34D-56F3-45F4-B209-1E92A11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6 | Capture and interpret NFS, SMB, or S3 packets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3B3E-2CCF-4503-97E6-1EDEDAB5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954A7-12DB-4009-B1D8-FDF5838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759C-D042-4070-A3B1-5304898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8C0F8-1901-4C23-9E3F-748AB4F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EB985-A30B-4DA7-A376-BC1ECE40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6DE36-3560-4AD4-8590-D90E0A24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058B7-C556-45B7-9E4B-0720063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1C560-AB1F-4BBA-84D5-A3072A4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mkdir -p ./pcap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33B23-127D-4199-9A8C-EAE7800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3343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timeout 30 tcpdump -i &lt;lab-if&gt; -nn -s 0 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1A2B4-8F74-4E98-8C4B-75EF772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1236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-w ./pcap/protocol.pcap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A516D-15B7-449B-A697-38E41A5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9129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'host &lt;server-ip&gt; and (port 2049 or port 445 or port 9000)'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4A582-AE97-4D1B-9B9E-284AA990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7021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During capture: perform one file/object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CFD67-3255-40C7-9E5C-0655546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4914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tcpdump -nn -tttt -r ./pcap/protocol.pcap | head -n 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78A9D-5930-423E-9EF7-8BF51001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2807"/>
            <a:ext cx="6134100" cy="576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-tanp | grep -E ':2049|:445|:9000'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03600-3951-4612-B329-992E327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9E49E-9CC5-41D0-BB84-37096F1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0148E-A394-4301-952D-E5171F9D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bounded exchange between expected endpoints. Slow gaps, resets, retransmissions, or status errors guide the next layer.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136D6-E029-4CEF-BB9E-B035424F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99686-D9A3-4781-80F2-FC5D2CB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6CE4E-5F99-4B55-841F-A9D8526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pcap, command timestamp, exact operation, client error, and relevant service log lines.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9BCB6-B973-42E2-A9AC-283CB99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5ACA9-C743-4CE2-905E-690B3CA7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DEEA08-B831-4DCB-B6E0-1BFDB459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Restrict pcap permissions; remove it after the exercise if policy requires.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A79BE-0EFE-47E9-B749-354F337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41243-2676-4D82-87F6-79F29A24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9CACC-D4A2-4DAB-B92E-FEEEA03D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Participants state what the packets prove — and what they do not prove.</a:t>
            </a:r>
          </a:p>
        </p:txBody>
      </p:sp>
    </p:spTree>
    <p:extLst>
      <p:ext uri="{BB962C8B-B14F-4D97-AF65-F5344CB8AC3E}">
        <p14:creationId xmlns:p14="http://schemas.microsoft.com/office/powerpoint/2010/main" val="45668542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FDC15-9175-408F-86B1-CED0FE4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8B0D5-CB13-4930-977E-8A5FB0A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CF231-0C06-4C71-9072-D55A7B3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72FC5-46E2-4245-B25F-6F7F2CF8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Ubuntu lab | Measure network throughput with iperf3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F0693-A98D-4923-ACB5-6384D2C9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CLIENT-SIDE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38CE3-E096-462B-B3B4-D8C49E93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BD70E-2B4C-497F-9188-AFE8274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EBE17-07BC-4A0A-AF34-4ACCB000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01C31-D7B6-493F-99D3-934EAB1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572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0220E-2DF7-40F5-B2B7-1930D3B3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TWO APPROVED UBUNTU ENDPOINTS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7DD08-EC55-4528-903A-D3EBC9C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27C37-D781-4FE8-9219-555F0DD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D2C7"/>
                </a:solidFill>
              </a:defRPr>
            </a:pPr>
            <a:r>
              <a:rPr sz="1125" b="0" i="0">
                <a:solidFill>
                  <a:srgbClr val="5FD2C7"/>
                </a:solidFill>
              </a:rPr>
              <a:t># Server 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2B1A4-3B3F-4A57-A6DD-D0318EBB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0621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iperf3 -s 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0CD7A-7C2B-4D80-AC95-6E56233B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3393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D2C7"/>
                </a:solidFill>
              </a:defRPr>
            </a:pPr>
            <a:r>
              <a:rPr sz="1125" b="0" i="0">
                <a:solidFill>
                  <a:srgbClr val="5FD2C7"/>
                </a:solidFill>
              </a:rPr>
              <a:t># Client VM — forward and reverse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B5398-F498-4033-9AD1-537F73E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6164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iperf3 -c &lt;server-ip&gt; -t 20 -P 4 --json &gt; iperf3-forward.json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D7541-243C-435A-A004-8079F8E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8936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iperf3 -c &lt;server-ip&gt; -t 20 -P 4 -R --json &gt; iperf3-reverse.json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CFE41-8C6A-4EC1-9FCE-3F7541F1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1707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jq '.end.sum_received | {bits_per_second,retransmits}' iperf3-forward.json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90D05-2561-4D49-9771-B61933C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4479"/>
            <a:ext cx="6229350" cy="42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 -s link show dev &lt;interface&gt;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25F7F-E889-4833-AB57-D9001B0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382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8E482-A7E3-461E-A86E-313F3B8A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906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7C21B-7C0B-4305-9256-A9B6265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Forward versus reverse throughput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Parallel-stream versus single-stream behavior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Retransmissions and interface drops/errors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Route, MTU, CPU, and timestamp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E4521-03E3-4B53-A72E-2202518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86350"/>
            <a:ext cx="8305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167EA-745C-4073-B182-B4BE4435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863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E6EE7-C53E-4CDE-A658-0011CEE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19700"/>
            <a:ext cx="794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8A514-68E6-42A7-8F4E-1C61D0E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05450"/>
            <a:ext cx="794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iperf3 proves host-to-host network capability. It does not prove VAST storage throughput or internal fabric health.</a:t>
            </a:r>
          </a:p>
        </p:txBody>
      </p:sp>
    </p:spTree>
    <p:extLst>
      <p:ext uri="{BB962C8B-B14F-4D97-AF65-F5344CB8AC3E}">
        <p14:creationId xmlns:p14="http://schemas.microsoft.com/office/powerpoint/2010/main" val="157577114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EB5A6-B420-4FD9-AEBF-115829D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9C00C-5A64-4628-BA1D-77992AAC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8A086-FA45-407E-A56A-157B04E2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2FD4E-3E8F-47E0-9790-2400F87C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Ubuntu lab | Inspect link state and counters with ethtool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48C94-9E94-43C2-99DF-EB48386F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READ-ONLY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9DD25-245D-4017-BC1C-47619DB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7D6C7-A22D-448C-9536-35EB903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2725-364C-4B6F-BC07-352341A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90252-FC49-4FA9-90E1-3AD5981E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572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76C51-A011-468A-933D-7B90F4C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INTERFACE INSPECTION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C1FA1-8B00-4AB0-B26D-1AF344B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3B380-ADF9-4FC0-A264-80128A2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IFACE=&lt;approved-interface&gt;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1C551-4D06-4296-8C20-8FA29A93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9671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 -br link show dev "$IFACE"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81B7A-161F-4309-8E34-638F49C3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1493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ethtool "$IFACE"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E57A9-F4DC-46EE-BA1F-C336322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3314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ethtool -i "$IFACE"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440F0-B9D4-4D75-A272-AC6E8E58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5136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ethtool -S "$IFACE" | grep -Ei 'drop|discard|error|crc|miss|timeout'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3BC82-D9F8-49EA-8F7A-CE32EC1E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6957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ip -s link show dev "$IFACE"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DB9FD-6342-460D-99B4-0E414F3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8779"/>
            <a:ext cx="6229350" cy="440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journalctl -k --since '-15 min' | grep -Ei "$IFACE|link|nic"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C0768-DE17-48BA-B30A-3E8E0B84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6AC72-DF87-40C3-923E-2B505121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46427-665A-46E1-A348-AC98CF4D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918FE-18B0-42DD-8DD1-4400179E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277D9-A75C-4AE7-9D4C-2C638D2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Speed/duplex/link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9AF22-717C-4183-A4FF-6C96A9B2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Negotiation and carrier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98699-B02D-403B-A5EE-0C8D294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5BA36-05E0-41B6-8A9A-FE08128B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Driver/firmware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7DCC8-857F-4918-BE0A-39478FD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Identity for compatibility investigation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E41C3-F270-4B88-AE37-F0B7522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DBFAD-605F-4567-9715-BE0D67D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CRC/errors/drops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EF100-D6A8-4CE8-A504-1058CDD0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Possible physical, queue, MTU, or congestion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95D8D-8EFC-4A0D-BEC6-499FFA38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4CD1B-29F9-46CF-84AE-574EB85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Counter delta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EE1C65-BEF6-45E0-8711-93EA671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Measure before/after the workload; totals lack time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89B17-F5B8-4931-9BBC-02A4D81B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400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545E1-C234-4EEC-9E9A-DE8C683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A00558-1F5B-477B-AF43-2FE5319A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SAFETY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C80EA-D8B3-4D69-838A-D7C8E4D3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87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Do not change offloads, speed, rings, channels, MTU, or firmware during this lab.</a:t>
            </a:r>
          </a:p>
        </p:txBody>
      </p:sp>
    </p:spTree>
    <p:extLst>
      <p:ext uri="{BB962C8B-B14F-4D97-AF65-F5344CB8AC3E}">
        <p14:creationId xmlns:p14="http://schemas.microsoft.com/office/powerpoint/2010/main" val="92262243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71875-3A12-41BB-8AA6-0AD269F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DCD9F-1F0F-48DF-BE40-9270CAD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34E75-E95F-4279-9D22-E4A56B9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M4 · NETWORK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E719E-32C6-4D10-8FCF-532AFB47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5D320-1750-44DB-A058-B6B87145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AFC2-B46D-4BD2-A44B-C4E0524A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3FC88-5262-494E-B481-98BCEF9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M4 · NETWORK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C3B6-C765-4654-823C-CD246D3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02257-0B43-438C-81AD-3286B9C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D4081-82FF-4F2E-8CF4-12955FE4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Which condition most likely creates retransmissions and irregular latency?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4B60-C186-4998-9F57-6079614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More free capacity     B Lower metadata use     C Correct DNS     D Packet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F7C4A-0CEC-4D9D-9ED6-01FA2D56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9474E-8413-4655-82F6-55BD202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FDD40-F9CB-42DA-98AA-A2DF7F12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should routing validation confirm?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24319-0339-48CA-88AB-6FB51A9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Hostname only     B Capacity only     C Intended path, gateway, reachability, and no unintended asymmetry     D Permissions only</a:t>
            </a:r>
          </a:p>
        </p:txBody>
      </p:sp>
    </p:spTree>
    <p:extLst>
      <p:ext uri="{BB962C8B-B14F-4D97-AF65-F5344CB8AC3E}">
        <p14:creationId xmlns:p14="http://schemas.microsoft.com/office/powerpoint/2010/main" val="49426404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D3FC5-F50B-4918-B9D3-3EAE7969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BBCA7-27AF-4CBD-A5E6-4BEA7A0B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1FFAF-24E2-492F-897D-D6E1062C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D5EF8-2B28-4E8F-8FB3-81DF2C49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Module 5 | Diagnose every protocol in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81B52-CF6A-45BB-922D-D1B0439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2BF93-B7E8-466E-B74A-3A921DA4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300D9-D756-45BE-8F8F-E0B349D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98BB1-85DF-4DDE-984C-8022C102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034EB-328B-4D4B-A614-D92DFF0E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19E3-77C6-41E6-981F-49A4A6E9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163B1-1C59-4E83-89FE-0D5A2A4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Trace NFS, SMB, and S3 request paths; validate configuration, identity, authorization, access, and client-side performance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33ACA-A891-4345-B9F9-666829B0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ECE13-CC65-443A-BCCA-7C4DF67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4D76D-719A-4F18-8E74-605AD9F7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NFS exports, mounts, and client options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SMB authentication from share/ACL authorization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S3 endpoint, identity, bucket, object key, and policy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Compare protocols under controlled workload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77CF6-2712-4208-BC2E-FA055263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8B23D-7B8B-481D-B570-65662B02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E93A3-BDC4-4AF8-91CD-2398182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8BA7F-05BF-43D9-9C6B-528B405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inspect Views and protocol exposure. Ubuntu: local NFS/Samba/MinIO for configuration, commands, packet capture, and safe failures.</a:t>
            </a:r>
          </a:p>
        </p:txBody>
      </p:sp>
    </p:spTree>
    <p:extLst>
      <p:ext uri="{BB962C8B-B14F-4D97-AF65-F5344CB8AC3E}">
        <p14:creationId xmlns:p14="http://schemas.microsoft.com/office/powerpoint/2010/main" val="14192491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06676C-ADA8-46FA-891A-9300D70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48E26-D8C5-4CC4-9E42-BE87BEE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3FAE3-4BB9-4563-A71F-5AA2C75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3420E-4E92-4063-958C-1C27580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NFS access requires export, route, mount, and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0A578-A25D-4629-ABFC-6FEC5C1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4285F-19A0-4486-BB8E-013E7C1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C8FE9-1AFB-4688-9BC7-E820BE7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DA5FC-EBF7-48A1-8DDB-03F368D1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DC17-80D0-4094-ADFF-94CBC7A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90DA5-5C7C-4E9A-B28A-CEEF8A3F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55598-FCCC-476E-88BF-7907CE7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UID/GID +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E0213-01E2-4E1F-9685-03FA2FA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CFFF-DB26-412E-B4D7-C3CC2D60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CCC93-9221-4F91-BB7C-9F1EC19D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NFS 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A0719-224D-44BF-A0B6-7B945E3F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version +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824A7-DFD1-4B46-9566-1BF9F091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BD08C-A6E1-4B16-AD0F-5F5226F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D9041-A037-4CC7-B64C-BFE6882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TCP 2049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0EB83-6E76-4F1A-BFD8-2F17958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route + reachability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B9A92-E9C6-4BD8-9964-65E460B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8F1AE-6488-4A2A-AC1A-9CC87474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95226-F492-429C-B9D3-7C943A6E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Export /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F1A3C-3153-45AC-B808-AB870F0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client +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40930-8A54-4E08-8199-52B9985C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19200"/>
            <a:ext cx="199644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3AD52-F1E6-4860-AAF1-C9FE055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1920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B2EAA-302C-461D-B170-F571BF9D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239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64160-D218-4837-9432-7FDD48B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43075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ownership + mode/ACL</a:t>
            </a:r>
          </a:p>
        </p:txBody>
      </p:sp>
      <p:cxnSp>
        <p:nvCxnSpPr>
          <p:cNvPr id="7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6954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18571-9723-4E4B-9DCF-F9AA5B7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95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D4C16-F348-45CD-83E8-91438F8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NFS 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FF402A-5FDC-4CD3-9601-331F1D65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63691D-A295-41AD-87D7-5DBB76E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showmount -e &lt;server-ip&gt;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9A9EDF-76F9-4872-B5DF-1482BF9A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mkdir -p /mnt/vast-nfs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4E515A-5669-43A9-AF26-65B3AF3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mount -t nfs -o vers=4.1,hard,timeo=600,retrans=2 \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2C6214-D925-4F1C-973B-E34FE94C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  &lt;server-ip&gt;:/&lt;export-path&gt; /mnt/vast-nfs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4C226E-543F-44BD-A3B5-F905002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mount | grep /mnt/vast-nfs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E71FCA-13D1-4BB1-AA3E-4CF217DD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nfsstat -m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FCAB9D-95B8-4A93-B8CC-A317935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D2C7"/>
                </a:solidFill>
              </a:defRPr>
            </a:pPr>
            <a:r>
              <a:rPr sz="1125" b="0" i="0">
                <a:solidFill>
                  <a:srgbClr val="5FD2C7"/>
                </a:solidFill>
              </a:rPr>
              <a:t># Default read-only; write only to an approved disposable export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40FDFF-3F82-460F-B5D2-248E422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test -r /mnt/vast-nfs/&lt;approved-test-file&gt;; stat /mnt/vast-nfs/&lt;approved-test-file&gt;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C1251A-868D-4CDD-AAA4-07BCFE96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661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umount /mnt/vast-nfs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A5FD92-D00F-4A7E-B0B9-049D8E48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676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3FF53-3D06-469D-9388-C8853866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B85DDE-DEEC-4F54-A8E6-792CBD9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PERFORMANCE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1EA854-83AA-47A3-8C58-4BD464A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Confirm mount version/options, client cache effects, retransmissions, concurrency, request size, and server-side View/export policy.</a:t>
            </a:r>
          </a:p>
        </p:txBody>
      </p:sp>
    </p:spTree>
    <p:extLst>
      <p:ext uri="{BB962C8B-B14F-4D97-AF65-F5344CB8AC3E}">
        <p14:creationId xmlns:p14="http://schemas.microsoft.com/office/powerpoint/2010/main" val="30284050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4201C3-D5AF-496F-B85C-300C6D0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16620-8975-4EBA-82FA-9D4AA11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698E1-8AAE-45E7-9A54-DCE2ED0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EEEE9-08ED-4A52-9B15-CCE4245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SMB access passes four independent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38E0E-9F0D-44FF-97B9-120CBEF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206EC-ECAA-4A65-AF6C-65B22F1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9759B-4B30-4AFE-8F32-FE958357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37900-378A-4265-AAB4-1EF980DB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D9C42-C27A-4A66-9AC2-64D5CC48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42E66-2D31-4C89-BBAC-9968FA7C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TCP 445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3DF91-0278-4E94-9E42-EA53B014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connectivity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BC827-93E9-445A-A280-1A89FBC2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1EBBF-555B-49B9-A626-39B9E6A1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13299-AADF-4DBE-8EB2-E465F4D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Identity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2CC2F-3469-4584-B449-239CE33A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3D21F-B36F-4804-A8C4-D908BD7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EBE07-5B2F-4A6C-BAAE-197B2097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AA3CD-C1D5-4DF0-BFF2-DA14EA6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Share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10C81-8AF9-4D3A-A4A6-01143CF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authorization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43BC-C544-4C7B-99B7-4137E04D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14450"/>
            <a:ext cx="25574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BBDE2-7D09-4446-A66C-BA1AC670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314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E18E3-EE77-47C1-B55D-0396656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4192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ACL + file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37AFC-5B54-49FD-9528-7F7BD788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838325"/>
            <a:ext cx="22907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effective access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67063" y="1847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6" y="184785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7288" y="1847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B5244-E2DA-4176-BDDE-BDEDC28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048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BF35F-A1B1-4E7A-8F94-AE604FE2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70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SMB DISCOVERY AND MOUNT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2380B-9DD7-4575-8D73-10C4156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F1207-F947-4800-A82B-F7E1CFD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-L //&lt;server-ip&gt; -U &lt;username&gt;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A9ED1-DB46-4B2A-B198-AF1A6640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0217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//&lt;server-ip&gt;/&lt;share&gt; -U &lt;username&gt; -c 'ls'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D5EE6-EFF1-4F96-9381-77C24F7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9983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mkdir -p /mnt/vast-smb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DF4DF-9D71-49B4-9C2D-92E2B57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9750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cifs //&lt;server-ip&gt;/&lt;share&gt; /mnt/vast-smb \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B3915-2BC6-4D80-AF47-00737DF7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9517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-o username=&lt;username&gt;,vers=3.1.1,credentials=&lt;credential-file&gt;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D3424D-BEDA-4EF8-8341-1F7B0C4B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9283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mount | grep /mnt/vast-smb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6BB39D-C7F7-4368-B749-8CC1E67F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9050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Default read-only; write only to an approved disposable share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EF29E4-BFCA-49C4-AAE2-5A0C4CD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8817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test -r /mnt/vast-smb/&lt;approved-test-file&gt;; stat /mnt/vast-smb/&lt;approved-test-file&gt;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7F0AD1-56A6-4005-B6C2-0243246E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8583"/>
            <a:ext cx="6705600" cy="26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/mnt/vast-smb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C3FDC7-6332-4DA6-A3F2-3FCC565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619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F8FE8-F5A1-4C8C-A1E4-CCEDB568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F41F53-BD16-4FB5-8292-9CEDA60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DIAGNOSIS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A87A19-07E8-441C-9DB8-71DC567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257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successful login with “access denied” shifts the investigation to share permissions, ACLs, identity mapping, and underlying file-system permissions.</a:t>
            </a:r>
          </a:p>
        </p:txBody>
      </p:sp>
    </p:spTree>
    <p:extLst>
      <p:ext uri="{BB962C8B-B14F-4D97-AF65-F5344CB8AC3E}">
        <p14:creationId xmlns:p14="http://schemas.microsoft.com/office/powerpoint/2010/main" val="87257520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A0F304-C845-4476-BC8F-004F5ED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0F782-605C-4B4E-AC72-DB06103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14C47-97A9-403A-B2FB-85507CA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013FC-0795-434F-9884-BDC61EB9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S3 validation follows five ordered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9B929-4B2E-461F-89F8-A23DA002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00CF-98C7-4122-ADB8-42128FB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0D67A-94B0-4A73-8156-AACAA27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A07FB-C8AC-4DF4-B79D-34EB762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DAA9-9937-4411-82CE-C47005B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68108-2195-4153-B117-BB9C34F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Client / mc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AC2FF-5926-404D-A8DF-7E49282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request +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1DBF2-F71B-4B40-8BE1-A1993173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D953C-CD99-4B7B-B9A3-CF809C5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7F74A-8E01-457D-8BC9-D747AA2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S3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34A93-94BE-4637-BBD3-0C0D7D2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TCP 9000 in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AB9A0-2F13-4B28-BDA1-9691355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E4501-8052-4449-BB63-D2F6232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547F9-6BC3-49E0-9F11-D13D05D7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C903E-DFED-4499-92CA-4E93C6B3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access key mapping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8BBF6-E081-4A5A-9602-362EE0A4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F1799-9548-496D-A3C5-F39E97CF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4AE06-3B69-41AF-9901-33816F6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Bucket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E7269-D8AB-4E8B-BB5F-96214940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allowed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C6551-D538-4FAF-90AB-AF3BF9ED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00150"/>
            <a:ext cx="199644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D572B-AFBA-4ECA-AAEC-B40DA760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001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8AD42-FB8D-430D-AF5C-4FE1FF82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049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Object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D4C1C-8344-486D-9C8E-7783901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24025"/>
            <a:ext cx="17297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exact case + prefix</a:t>
            </a:r>
          </a:p>
        </p:txBody>
      </p:sp>
      <p:cxnSp>
        <p:nvCxnSpPr>
          <p:cNvPr id="7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685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CEDDA-65AB-46DC-9F52-BA04FA5E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84739-1C88-4DE5-AEC6-DCA1A41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MINIO CLIENT 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4F1C60-F807-4747-B3F3-BF5D976A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257F1C-A04F-40A7-AA7E-2B4C2403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read -rsp 'S3 secret: ' S3_SECRET; echo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2AE988-37C8-43D1-840B-CCA0561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4745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alias set lab http://&lt;server-ip&gt;:9000 "$S3_USER" "$S3_SECRET"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7A08D-A0A4-42C5-B6A8-19ED85E5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0490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D2C7"/>
                </a:solidFill>
              </a:defRPr>
            </a:pPr>
            <a:r>
              <a:rPr sz="1125" b="0" i="0">
                <a:solidFill>
                  <a:srgbClr val="5FD2C7"/>
                </a:solidFill>
              </a:rPr>
              <a:t># Create/delete only in an approved disposable lab bucket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ACAF8E-AD0D-4FBB-A549-3CF044C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6235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mb lab/&lt;disposable-bucket&gt;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2A697-2431-445B-BC26-3880C8B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1980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printf 'probe\n' &gt; /tmp/probe.txt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2C3607-7CBF-4854-B5FF-608B2A0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cp /tmp/probe.txt lab/&lt;disposable-bucket&gt;/dataset/probe.txt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FC94F6-8FE4-4564-ADA7-7AED602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3470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stat lab/&lt;disposable-bucket&gt;/dataset/probe.txt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9966CA-F816-403F-ACAC-E531D6F1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9215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cp lab/&lt;disposable-bucket&gt;/dataset/probe.txt /tmp/probe.out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7A1D3-6121-414D-B7E4-9CE641CC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4960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cmp /tmp/probe.txt /tmp/probe.out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6C2F53-398A-4112-8990-B2BA7A7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0705"/>
            <a:ext cx="65151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mc rm lab/&lt;disposable-bucket&gt;/dataset/probe.txt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73C5C0-2C53-449A-9004-9E5273D2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3771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B84B69-0346-4949-B0C6-24EF2A52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BBADD-2BBC-44F7-B1F1-F56F389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SAFETY + 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836833-57EF-4900-B927-2C814E7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409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Read-only by default. Create/delete only in the approved disposable bucket. Timeout = connectivity; 401 = authentication; 403 = authorization; 404 = name/lifecycle evidence.</a:t>
            </a:r>
          </a:p>
        </p:txBody>
      </p:sp>
    </p:spTree>
    <p:extLst>
      <p:ext uri="{BB962C8B-B14F-4D97-AF65-F5344CB8AC3E}">
        <p14:creationId xmlns:p14="http://schemas.microsoft.com/office/powerpoint/2010/main" val="110801120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3BE34-F667-4684-8232-6868DF6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856FA-B09C-4E1D-916F-956E8867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C7AD6-4AEB-4561-9CEC-0E6AF43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C1D3-EAD3-46D3-BAB5-CF72533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7 | Validate NFS export and mount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5DF56-8445-4FF3-AC95-F05CD7B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E2F35-CAE7-423B-9037-25D892F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E3AA3-8753-4A0B-BD3A-AC7DC76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17950-072E-496C-871D-6E7043C1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34ADA-57C8-4857-BD89-7AF501F7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6417E-317C-409E-9E7D-2293839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2197A-5B9A-4AF1-AE2D-E676878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EC172-C824-45AF-9B61-10FD7ABC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each NFS access gate from export visibility through read/write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C00AB-C5F8-4460-AE4D-EFD1B13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19954-2CBB-4BA9-BE9C-AF9B3E07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59AE2-8237-45C3-970C-12601DF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FB035-F359-4599-8EEE-F3123EB9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Mount fails, hangs, or returns permission denied.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D2063-770A-4135-B525-FB798AF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049D0-B60E-4981-8529-82E29DE4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0DC28-EE39-4474-9C67-CD46C0F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NFS client → local/approved NFS lab server; VAST View inspection is separate in VAST Data Labs.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05C5E-6F54-41B2-A5A2-8C92B5C2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A2EA7-E7AB-49F6-9CBA-6828FE9F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845FE-C6D9-42BA-B6CF-920BD99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NFS client tools installed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Approved export path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Client identity known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Dedicated test 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FF159-2BBC-4FF6-96F7-6333930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97739-C694-4C42-A74B-2DF40B19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8D87C-F4FA-4DBD-9979-05E3B6D0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Resolve and reach endpoint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List/confirm export or View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Mount with explicit version/options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Validate nfsstat and file operation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Inspect logs/packets if the gate fails</a:t>
            </a:r>
          </a:p>
        </p:txBody>
      </p:sp>
    </p:spTree>
    <p:extLst>
      <p:ext uri="{BB962C8B-B14F-4D97-AF65-F5344CB8AC3E}">
        <p14:creationId xmlns:p14="http://schemas.microsoft.com/office/powerpoint/2010/main" val="164258129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B042E-F97D-496D-BFBF-6E2CF198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2DBD-5599-40AA-989E-CC9564D0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B1F87-6B58-47A8-9D9E-36E2A11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5BBF2-4FF7-4604-A54A-2111BA19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7 | Validate NFS export and mount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E2A5-7385-4C9D-8FD6-3EBED18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986D3-E72A-40A8-91AC-4C63B9FD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808BC-2D40-4768-BEBB-9D38E36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FB997-B6ED-4480-B3FB-E83EB35B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D1FA5-6A63-4972-9CDC-276114E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14336-CA60-464F-A013-4AC172E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E3631-5D4F-420B-AACB-3ED6B8F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363B2-CE55-4174-8F0F-F9258F40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showmount -e &lt;server-ip&gt;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68CE6-6F8A-4ABE-8822-796F21BE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-tan | grep ':2049'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73655-0976-4901-AB64-1F704C1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nfs -o vers=4.1,hard \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DB6B9-2C23-4A46-BC93-08A2F1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&lt;server-ip&gt;:/&lt;export-path&gt; /mnt/vast-nfs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EE1BA-6A96-4CD0-A027-210106E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-m; findmnt /mnt/vast-nfs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83B8D-0F09-4713-AF86-AB3F5BF3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test -f /mnt/vast-nfs/.vast-training-lab-approved || exit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036D8-14A0-4C89-B4F5-FB49D469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id; touch /mnt/vast-nfs/&lt;test-file&gt;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80F50-E586-410B-AB48-6C5A5951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stat /mnt/vast-nfs/&lt;test-file&gt;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905AC-F581-4659-96B5-F6085BF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journalctl -u nfs-kernel-server --since '-10 min'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C3FAB-11E8-472A-AD06-9F983CAC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613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/mnt/vast-nfs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88030-885A-464B-9EC1-CD33AF4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A8097-6EE5-4292-8623-684EB8C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70011-2425-4C8B-BE79-5D8E192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Each failure maps to endpoint/export, mount negotiation, identity, authorization, or file-system permissions.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8B67C-0511-4E06-9ED6-268013E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D6122-8318-402D-A96D-D3F2D67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B57A1-480F-471B-B278-40BF1C6C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showmount/findmnt/nfsstat output, exact error, identity, stat, server journal, optional port-2049 pcap.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9846F-49F4-4AC6-9E57-30EFDBA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FE192-D10C-493E-80FA-2CC352D3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A8002-FF00-43AD-800B-AC17E26C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Delete the test file and unmount. Do not modify the production export.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14CAB-7601-4BF1-9B4C-DB3DA33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B9BB9-A74A-48E5-B7F1-45CD5C6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25CF8-97DA-4407-AE09-47F15B0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 create/read/delete validation succeeds or the failed gate is proven.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B7A92-BA0F-4EF0-A87A-A18D6860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A97A1C-479F-4D3F-A41B-466E7D9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59A42E-61D2-4506-A5DA-13779E1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Write validation requires the approved disposable export and sentinel file; otherwise stop after read-only checks.</a:t>
            </a:r>
          </a:p>
        </p:txBody>
      </p:sp>
    </p:spTree>
    <p:extLst>
      <p:ext uri="{BB962C8B-B14F-4D97-AF65-F5344CB8AC3E}">
        <p14:creationId xmlns:p14="http://schemas.microsoft.com/office/powerpoint/2010/main" val="27595991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41C25-F872-4490-9F59-69C3AC5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D07B5-43CD-44ED-AE20-1E1BD40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CF9EF-7A32-49D7-8305-9C4A851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872D8-E058-446D-B506-0CAAE21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8 | Diagnose SMB authentication versus authorization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6DF0D-CAFC-411F-88C2-01C9167A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003F-5E59-45F1-859A-8E34AA3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F717-80E2-4B74-81C4-7CA03D77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822B9-4383-4EC1-B7EA-328560B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92FA8-7A94-4B58-8F84-5B30D19F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860A7-A1DF-4C6C-9458-8BF35D3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8D9F9-1761-4E17-A768-0038E00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7EC3E-5981-4822-A3F8-A967F44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Separate identity failure from share, ACL, and file-system permission failure.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5B052-6384-464E-AA6E-A5E731BD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4FCDB-75D3-407A-A30C-FB14734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2C83A-1D27-41E0-A38A-61001E49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088EC-3E51-48B0-B1EC-0F8E6B2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Some users log in but cannot list or create; others receive logon failure.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6BF29-2409-42BC-94F5-4E017F0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1F44B-0443-4D9C-A763-85ED18E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C4ACE-9642-4946-B4CC-49336EA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smbclient/CIFS client → Samba lab share; VAST View/SMB exposure observed separately in VMS.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155D7-911A-450F-85C1-104B9BA6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99A3B-BCF2-471B-AA8E-193C594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953DC-9B5D-474A-B370-409079B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test user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Share exists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TCP 445 reachable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Protected credential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B0194-DBA0-4972-BB07-D069E8C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63FA8-1552-4F9A-B8B4-E33E25FA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55E17-21F1-4266-A0C4-6E630F76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Confirm TCP 445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Discover shares with test identity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Interpret authentication result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Check share authorization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Check ACL/ownership and effective create/read</a:t>
            </a:r>
          </a:p>
        </p:txBody>
      </p:sp>
    </p:spTree>
    <p:extLst>
      <p:ext uri="{BB962C8B-B14F-4D97-AF65-F5344CB8AC3E}">
        <p14:creationId xmlns:p14="http://schemas.microsoft.com/office/powerpoint/2010/main" val="116052490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0E6D8-B9E8-446E-8A2F-644EBE38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0D546-0DBC-4336-A452-6BFE1A1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C6537-0E3C-46E8-8F3E-9EA9F559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4B5EB-C7A9-4C69-9A3D-496B240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8 | Diagnose SMB authentication versus authorization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3B2C5-2D17-4BD7-8978-C47D868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D8968-4E2A-4AB8-809C-67F7967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47A6C-6998-4873-8591-13E05FA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2718F-14CC-4719-9816-6FD85B0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ABA63-CB09-4327-8D02-B6F6624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9C654-6852-4DF6-97D6-9C2B8BB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A956B-5FD1-4A67-B09E-7BAC0ABD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3F8A2-DD0F-4DEA-A20C-EBAE105F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nc -vz &lt;server-ip&gt; 445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61E66-D0C3-4A60-81DA-CC8645D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-L //&lt;server-ip&gt; -U &lt;username&gt;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535C9-6023-44F8-B240-7ADD884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//&lt;server-ip&gt;/&lt;share&gt; -U &lt;username&gt; -c 'ls'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6BCD-8309-432E-9F5E-22E71B0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cifs //&lt;server-ip&gt;/&lt;share&gt; /mnt/vast-smb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AA858-0EB4-40EC-B22C-99DD150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-o username=&lt;username&gt;,vers=3.1.1,credentials=&lt;credential-file&gt;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42955-90B2-41CC-BB98-55DAF866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test -f /mnt/vast-smb/.vast-training-lab-approved || exit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80A60-D41E-4E92-9BE2-1640F8E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id; touch /mnt/vast-smb/&lt;test-file&gt;; stat /mnt/vast-smb/&lt;test-file&gt;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5EE57-8BF4-4F91-80B9-C821BB6B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journalctl -u smbd --since '-10 min'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4B5EA-51FA-4FE6-8830-747F2634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/mnt/vast-smb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38696-3052-4142-8BED-C680628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7AE6E-9CA8-404B-A8EF-BA12CE9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5A771-CABC-4492-B06A-7EF7C86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Logon failure proves an authentication path issue; access denied after login shifts to share/ACL/file permissions.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E9D40-7847-4CA8-BB27-6CF40B4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1AECF-BBAC-432B-86FA-F0C8EBD1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0D028-1EFE-49ED-A3F4-54E14D69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Exact smbclient status, identity, share listing, mount state, create/read result, smbd log timestamp.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6A1B2-939D-4644-9850-2D35BF19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9AF78-D791-4E3B-ADEA-C9BF3C5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C07EE-DE90-4BAD-B371-10F1E49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Restore the lab user's share/ACL permission; remove test file; unmount.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B3AF7-F887-4BED-99AD-A18425C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0DB2F9-C1F8-463A-BA51-D74289E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C9015-7E4D-4722-B6B2-5965D09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Participants classify the failed gate before changing any permission.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FA97E1-F518-4B45-9A01-19B6CA89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A5151-9E82-443B-8CD0-1921E794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43127-F96F-4E66-8F1F-3ADB21B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Writes and permission changes are restricted to the approved disposable Samba share with sentinel and must be restored.</a:t>
            </a:r>
          </a:p>
        </p:txBody>
      </p:sp>
    </p:spTree>
    <p:extLst>
      <p:ext uri="{BB962C8B-B14F-4D97-AF65-F5344CB8AC3E}">
        <p14:creationId xmlns:p14="http://schemas.microsoft.com/office/powerpoint/2010/main" val="1219833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5D956-21CA-4338-B49E-C62196F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AE153-DEE4-420A-864D-49AAEC21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D85BA-84BA-40DD-B85C-53C5FFD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5F4D8-EE0D-46C4-A3B3-D5C26635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9 | Validate S3 endpoint, identity, and bucket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C285-2182-4E4C-972D-7E033B11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10C5C-967D-4DD6-BF30-10BCD69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1A5E7-C9A7-4B22-910B-51ECC08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04AC7-9DE7-49BF-9D4C-CD498545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FCDAE-A057-4E19-AA4F-BB914732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17455-D876-484E-AEB8-8DDD06F8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F633E-EE0B-4A80-85B0-4E0D707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1F8BA-721F-4814-9140-28F3C445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S3 connectivity, authentication, authorization, bucket, and exact object-key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EC410-CE92-4C3B-9CCD-6A6A2EA5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D028-85A3-4DC6-ADCF-084EEA9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5627B-AAB1-4AF5-95FA-92DC947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B8205-40AE-4686-BC3B-943C9B91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Upload or download returns timeout, invalid key, access denied, or object not found.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16F01-EF3C-430A-AE67-9FE2681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78E86-6240-412C-8D80-D1D3BF16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5DF0E-596C-45DA-93F6-776EEB9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mc client → MinIO S3-compatible API on TCP 9000. VAST S3 behavior remains a separate native product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09EE5-9194-436E-AEFF-89C7C1D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A5351-A87D-4A98-B18A-911047D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1AC7C-FB9C-42E6-8FD5-A0EA0024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MinIO healthy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Lab identity prepared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Unique bucket name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real credentials in history/slides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370C6-1747-46DD-A5BC-D745739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45B1F-B181-4A51-B949-EF59B64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80D73-FC36-4F32-9B5D-168F629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Check endpoint health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Configure lab alias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Create/list bucket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Upload/stat/download/compare object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Inject one safe identity or policy failure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Restore and retest</a:t>
            </a:r>
          </a:p>
        </p:txBody>
      </p:sp>
    </p:spTree>
    <p:extLst>
      <p:ext uri="{BB962C8B-B14F-4D97-AF65-F5344CB8AC3E}">
        <p14:creationId xmlns:p14="http://schemas.microsoft.com/office/powerpoint/2010/main" val="15992417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FDD1A-1E34-4BAC-84EA-46328833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DD0BA-E852-4BB6-B9CE-68C986D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26653-6DC7-4EC8-A00D-DA2795DE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EA067-AED1-4B48-8310-D79167B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9 | Validate S3 endpoint, identity, and bucket permissions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D459A-8086-4A1B-B892-294AA4B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B55C4-81F2-4EDC-B66F-0E35155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37107-D006-498B-81B6-1C241FC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755DA-9EEC-40F2-8E1E-90BECEE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13A9C-88CF-4BB3-9A3C-69B858BA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F128E-D97E-4DCC-A276-CAAAC85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1119-2EA2-46FA-969D-5D133B91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90239-8D98-40FE-B012-EDBC3B6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curl -fsS http://&lt;server-ip&gt;:9000/minio/health/live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D6A5B-E66E-4378-A2B8-A03C699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0473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read -rsp 'S3 secret: ' S3_SECRET; echo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ED930-E830-48D6-AC0F-CFA1E88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549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alias set lab http://&lt;server-ip&gt;:9000 "$S3_USER" "$S3_SECRET"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11302-E5F1-44A5-92A3-956511BD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0518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Create/delete only in an approved disposable lab bucket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8C799-1B07-477F-A223-F1079AF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5541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mb lab/&lt;disposable-bucket&gt;; mc ls 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D3053-229D-4024-A8F3-713D51C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0564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echo probe &gt; /tmp/probe.txt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80314-E79E-4A77-8919-53D0D30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5586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cp /tmp/probe.txt lab/&lt;disposable-bucket&gt;/dataset/probe.txt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FC508-B218-4618-A4A8-A48BEDE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0609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stat lab/&lt;disposable-bucket&gt;/dataset/probe.txt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57A63-79BD-4D10-8291-07DEA50E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5632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cp lab/&lt;disposable-bucket&gt;/dataset/probe.txt /tmp/probe.out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B307C-EF48-440C-9093-FD341BAF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065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cmp /tmp/probe.txt /tmp/probe.out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40075-1C61-4DDA-A855-6CB41AA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5677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mc rm --recursive --force lab/&lt;disposable-bucket&gt;; rm -f /tmp/probe.*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734A3-8DF8-4DB2-823A-E5D6CCC5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4E3D2-1449-484E-8CD5-33AEDBDB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5BE53-B826-4E9B-9583-796446C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Healthy endpoint, recognized identity, allowed bucket actions, exact key match, and verified payload.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14E6F-F69C-4C82-8ADE-EB3E5E4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0A0A7-D626-4B60-BF68-E42A33AC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35B50-DAE5-4555-AB1E-F67440BE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HTTP health, mc error/status, bucket/key, identity label, object stat, checksum/compare result, service log time.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E4D26-270E-4AAB-8785-D18087F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7D499-21EA-4487-8F3F-A243DE21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987DA8-A7EA-4E76-A992-84E405B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the temporary bucket and local probe files; revoke temporary lab credentials if created.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F801ED-AB92-4005-8D5C-F0051836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D5AA1-3B5F-45B3-AF4B-3DA4817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04E2AA-5B2D-4201-9CC5-7208DAA0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All five gates are validated and the error category is stated precisely.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33EAE0-03C5-4AF2-A1E2-F7113D6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92B4C-3E7C-41CE-BA65-B200E11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CFFE43-D94F-424A-A55E-99E8657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Create/delete only in the approved disposable lab bucket; production buckets are prohibited.</a:t>
            </a:r>
          </a:p>
        </p:txBody>
      </p:sp>
    </p:spTree>
    <p:extLst>
      <p:ext uri="{BB962C8B-B14F-4D97-AF65-F5344CB8AC3E}">
        <p14:creationId xmlns:p14="http://schemas.microsoft.com/office/powerpoint/2010/main" val="139589454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F4975-28F5-471A-9E08-083FCED1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7CAE3-32D8-4A7C-8757-B4835A4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8DA3-A674-4AC2-8E6D-712D95F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6CF1F-83E8-40A6-9CF8-BC2BBED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Ubuntu lab | Validate CIFS safely before any write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A69FC-4484-4083-90FF-BBDE1A25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READ-ONLY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1B8E-A2EE-4A10-B0EA-69B7C08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46686-C94C-49F9-A8F3-14BA7AE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78EC5-02F8-464E-94C2-97D46C1B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C0D46-66BD-4AE0-8A02-C4231684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8199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0E6E8-6ABE-4DFB-B474-373079B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PROTECTED CREDENTIAL + READ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D9860-E5E9-447F-8D52-FD9F6A9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87AFE-86BA-4907-B819-50FE59F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install -m 600 /dev/null "$HOME/.smb-lab-credentials"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690A9-1BD7-4780-84A0-7407C85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8369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Add username/password interactively; never display the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47167-BA56-4CA8-8E9B-37CA0DA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5088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smbclient //&lt;server&gt;/&lt;share&gt; -A "$HOME/.smb-lab-credentials" -c 'ls'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57A9A-2E4F-4AEE-B8D5-8A09B5A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1806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mount -t cifs //&lt;server&gt;/&lt;share&gt; /mnt/vast-smb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02B98-E487-4A99-BB6C-B10DE36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-o ro,vers=3.1.1,credentials=$HOME/.smb-lab-credentials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77A05-D4DB-489C-9B5C-B549D73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5244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findmnt -no SOURCE,FSTYPE,OPTIONS /mnt/vast-smb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F51B5-94CF-4AC0-BDCB-4B74511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1963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find /mnt/vast-smb -maxdepth 1 -type f -readable | 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6F5B5-D4D6-45FA-9EE7-8F9AE0C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8681"/>
            <a:ext cx="6477000" cy="435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umount /mnt/vast-smb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5E0A2-61B5-4601-9B50-0F14680B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620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BF9E7-9CC4-4BB1-8A88-963A2D2A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WRITE ESCALATION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838F0-875D-4FC8-8AB5-6E111227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429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Disposable share and test filename approved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Owner, capacity, cleanup, and rollback recorded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Mount changed from ro only for the approved step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Create/read/delete result captured, then return to 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35012-F878-425F-927F-126824E0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702A4-5D6F-4CDD-9F30-EB02CF8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55B3A-5D74-4749-BF36-56FAA1CF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NEVER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143EF-C272-49D9-8B23-43E0E36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Do not use chmod 777, expose credentials, or write to an unknown or production share.</a:t>
            </a:r>
          </a:p>
        </p:txBody>
      </p:sp>
    </p:spTree>
    <p:extLst>
      <p:ext uri="{BB962C8B-B14F-4D97-AF65-F5344CB8AC3E}">
        <p14:creationId xmlns:p14="http://schemas.microsoft.com/office/powerpoint/2010/main" val="82940479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2BF27-FA61-42B9-A02B-2DA54E2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1FD1A-2407-499C-B059-BAE9996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7384-AD71-45B2-B3A1-1F0E8474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58CAA-10D0-4ED1-944C-75A24D9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Ubuntu lab | Diagnose fstab and logs with safe fixtures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32836-B0A1-484D-80BF-CF19860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NO BOOT-TIME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9B7E-594D-41D6-9366-8847185F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847A6-A243-4C7F-BB40-8D09267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84883-E64A-42DB-A2BC-9805F2E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BBE34-21C5-4360-9A9B-45EC531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9532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12B86-332E-4FEF-A6BD-5F828B1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VALIDATE A FIXTURE BEFORE EDITING /ETC/FSTAB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AB840-8BBE-49E9-8DC0-4697940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440DF-369E-4B0B-A0FE-EABE73B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cp /etc/fstab /var/tmp/fstab.fixture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AEDE4-91ED-41F9-9A52-9398E3CC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4293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printf '%s\n' '&lt;server&gt;:/&lt;export&gt; /mnt/lab nfs4 ro,_netdev,nofail 0 0' &gt;&gt; /var/tmp/fstab.fixture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693DF-81D1-4232-8289-080E5CD4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7886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findmnt --verify --tab-file /var/tmp/fstab.fixture --verbose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FB3F7-B4E7-42D9-B2F7-92D0F048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1479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systemd-analyze verify /run/systemd/generator/*.mount 2&gt;/dev/null ||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C4A0F-9394-44AC-93DB-DFB1D0F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5071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-b -u remote-fs.target --no-pager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9C7CA-3836-41EA-90F7-039E184A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8664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-k --since '-20 min' | grep -Ei 'nfs|cifs|timeout|denied'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D3C8F-7F5C-432C-8E0B-57C999D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2257"/>
            <a:ext cx="6610350" cy="462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grep -RniE 'mount|nfs|cifs|timeout|denied' fixtures/logs/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12470-CA7B-4B15-8404-3D67E6A6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97A73-5070-43B9-A66F-ECE426C1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335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PARTICIPANT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C7462-18E2-41B5-9418-66B7283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Syntax error or dependency/order issue?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DNS/route/endpoint or authorization failure?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Boot-time failure or application-time failure?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Which UTC log line proves the failed gate?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8DBFF-B524-4C5A-B688-61EC947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486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81EAC-9E5E-496A-9E09-58BD540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73049-F245-471D-9D87-B466D981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SAFETY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6A8D3-CF32-49AE-AD39-23D7D8E7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33950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Validate the copied fixture first. Do not edit production /etc/fstab or reboot during the exercise.</a:t>
            </a:r>
          </a:p>
        </p:txBody>
      </p:sp>
    </p:spTree>
    <p:extLst>
      <p:ext uri="{BB962C8B-B14F-4D97-AF65-F5344CB8AC3E}">
        <p14:creationId xmlns:p14="http://schemas.microsoft.com/office/powerpoint/2010/main" val="31811350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6FA0A-4FD3-4506-817D-035ED84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2747C-E89A-47B2-8417-7F7A7D0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450D9-3779-423F-B877-1589654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M5 · PROTOCOL PERFORMANCE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E6250-6F95-4A81-95A3-F9476BA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Protocols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BDDC5-A734-46DC-935B-0E9BA02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F4B3-A831-4C7F-B155-1DC7487A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30B10-0820-4D7F-8F1B-5221C436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M5 · PROTOCOL PERFORMANCE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37E9C-0E62-4718-AC86-D9473DC6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56E22-AB5A-4AA3-86B3-F3715EF0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AA070-EBA7-40E3-A25E-CD57CE8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A user authenticates but cannot create a file in SMB. What comes next?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530DA-8B6C-4539-AF0A-E1D2922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Network bandwidth only     B CPU temperature     C Grafana theme     D Share permissions, ACLs, and file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F70F7-8038-4F02-A4D2-2DFFFE6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BB1AD-38B4-400B-977E-D0345D8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21D93-8EC8-4227-B07D-D708BE7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makes a defensible protocol-performance comparison?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702B2-BFBB-4D1B-B3FD-22CA08A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Same dataset, client conditions, workload, and protocol metrics     B Different clients and sizes     C Unrelated times     D Ignore settings</a:t>
            </a:r>
          </a:p>
        </p:txBody>
      </p:sp>
    </p:spTree>
    <p:extLst>
      <p:ext uri="{BB962C8B-B14F-4D97-AF65-F5344CB8AC3E}">
        <p14:creationId xmlns:p14="http://schemas.microsoft.com/office/powerpoint/2010/main" val="184638530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C1B2E-1E14-4E51-82C6-DB077DB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C9DA-A672-49AE-8273-8975D3B2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68E86-8544-4EE6-996B-600C93CD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4CB35-F952-461F-809A-6532D60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Module 6 | Optimization is a controlled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95E16-9104-480A-9854-F3A0CD0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CACC8-9D48-47FD-8371-748F00C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AD012-0DF0-4D54-BB07-D40F03A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6CB04-FB35-41F2-AD34-B3FBA64C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0B5B8-7D9A-401D-B89E-60F8D41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2D53B-6BC8-405C-AB49-E9D9E2F6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46604-294B-43DD-AB3D-C590AA8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Build baselines, isolate bottlenecks, optimize constrained resources or services, review configuration, and validate improvement without regression.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2CB18-9816-473F-BEF5-07829FB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15B6B-4746-47CD-804E-7070AC5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F1F0C-C807-40CE-975F-D2175B12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Change one major variable at a time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Measure target and guardrail metrics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Document before/after workload equivalence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Rollback when reliability or latency regresses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BD81F-D116-4112-897E-33759CE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3A172-1F80-4855-8C35-6DF530C6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C278D-0E18-49B0-8758-866FCB3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96801-EF41-405C-8A9E-7FDB09F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Ubuntu: controlled workload, resource contention, parameter comparison. VAST Data Labs: historical metrics, capacity, alarms, and configuration review concepts.</a:t>
            </a:r>
          </a:p>
        </p:txBody>
      </p:sp>
    </p:spTree>
    <p:extLst>
      <p:ext uri="{BB962C8B-B14F-4D97-AF65-F5344CB8AC3E}">
        <p14:creationId xmlns:p14="http://schemas.microsoft.com/office/powerpoint/2010/main" val="183236329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3E9A65-7DE6-4296-9616-12D98396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24D6A-503A-4C8A-BF85-6DE30E51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5BFD1-75BF-40DF-9036-EDD5FCBB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BDDCB-ED34-4B8C-9037-52386FC7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A valid optimization improves targets within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5CB24-5A83-4F0D-AA84-C0F40726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208CE-28A4-466E-9850-E8CB23D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734CF-9263-4652-9E42-B3FBD36D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0145F-A35F-4441-9204-C68311E6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4AAB3-94AB-41C8-AB1A-2EC2071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F6CAD-FC41-44C2-BC46-24F2C41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5283D-176E-42C4-A604-7F33E44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15613-C2AA-4E94-B094-79AF344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84527-4457-4D4D-BF5D-10D3838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07E07-D555-42AF-A559-92875C2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23792-3E9F-49E9-9BF4-7B7531F6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bottleneck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3FE04-7717-4946-92B1-199D4B7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57667-9240-466B-A186-AAD2CC1E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71169-D2F4-4ABB-B122-5A0BFF9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One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B7F26-04D9-4CD3-85C8-F2165133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one major variable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BE698-1FF3-4673-866C-96DDAA5F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1A254-EE40-42D5-990F-3D61518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F90FB-4504-4046-8D8C-E6D3957B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Re-test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9B3BA-E9B4-40D7-B2A8-007AA6E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same workload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00852-7ADD-4F43-9990-4220A24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333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DF5DD-E817-4482-8BA2-22A387EF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33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9FFE3-DCD9-4785-9C69-B4A3B12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382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39AAD-4BE1-4482-BCEE-E4DD178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857375"/>
            <a:ext cx="172974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performance + correctness</a:t>
            </a:r>
          </a:p>
        </p:txBody>
      </p:sp>
      <p:cxnSp>
        <p:nvCxnSpPr>
          <p:cNvPr id="8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838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945F4-1EF1-436D-A8A2-0364D8FD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D09E5-8F5E-4463-9BD1-13274C79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6FF25-E20B-4203-B062-A578385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9873E-E663-4E3B-8044-C3AF0ADC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7728C-5599-44ED-AFA2-86453297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Guardrail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6B4A2E-419B-4243-B507-3ECA936A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868DAC-27C1-4A9D-AA11-67652B9B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Throughput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1C188A-A621-4AC6-90FE-DA31786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840 MB/s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572040-7B77-45C7-B6B9-59C6BD1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960 MB/s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45E60B-47F7-428B-A0D3-341DF392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Target improved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FA7128-8B40-4DD2-AAE0-0D01774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90065C-9B47-45F6-BE7B-7B4610C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P99 latency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A0A29F-22D0-40E6-8227-2AB1EC3B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7.2 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347161-A672-464A-9D2F-3E4F89D3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7.8 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022501-2F32-4C66-8415-5EE23B5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Within 9 ms SLO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811597-CAB0-4BA6-B2D2-52AB073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D1F23B-DF19-40CE-8959-8118CEF8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Errors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49FB69-4EA7-45D8-B706-E401C26C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911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215DEF-D7FF-4CB0-91DB-61954DD5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11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306F1A-4D7D-4F6C-A0BC-424C9D6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No regression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8117CE-8AAB-4574-907B-E4820EF2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E148F3-4353-4533-BFC2-E0CEE9F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CPU / network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4BA4D5-E60B-412D-BB84-9529037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81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62% / 71%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E06130-BA8C-472F-894D-E8CD484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816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74% / 82%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DE5F6C-5E37-47A1-8962-2A8371FB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Headroom remains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B9E444-AE44-4293-A347-96CF06FB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86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2667A"/>
                </a:solidFill>
              </a:defRPr>
            </a:pPr>
            <a:r>
              <a:rPr sz="1050" b="0" i="1">
                <a:solidFill>
                  <a:srgbClr val="52667A"/>
                </a:solidFill>
              </a:rPr>
              <a:t>Illustrative workshop data — replace with measured lab results.</a:t>
            </a:r>
          </a:p>
        </p:txBody>
      </p:sp>
    </p:spTree>
    <p:extLst>
      <p:ext uri="{BB962C8B-B14F-4D97-AF65-F5344CB8AC3E}">
        <p14:creationId xmlns:p14="http://schemas.microsoft.com/office/powerpoint/2010/main" val="177830958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17A7D-0510-44C6-B9C3-B33D99B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49639-FC45-4492-BB5B-8488638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3B105-0CC7-478F-99EE-E937A4C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42313-AA93-49F7-9325-494F23A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10 | Introduce resource contention and correlate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C18B5-78FC-4BCC-A4E8-8C8A9609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6C79-CF6E-4839-A733-38B23AF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F4F01-E0F2-4734-9DDB-ACDC3DF3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2D291-8DFA-4A31-B224-062D4B8F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BDA68-00AF-4F40-9B63-9083B65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EA01D-A63D-40EE-9D85-05DAC5AC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2833F-8134-4674-AB7F-9D5F5BD6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63384-FF96-4A73-B698-EF9EEA9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Prove how client CPU, memory, or I/O contention changes storage workload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7AEDB-98EA-46D1-A9D6-EA8194D6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55AAB-FA3F-4D00-9514-8E18C8E1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E0FBC-EBB0-49F7-9406-D1585BE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CAE4F-9510-4C2C-B494-958550C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Storage latency rises, but the actual constraint is on the client.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2D995-05B5-4FC9-A048-6C1041BC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B1867-9FE6-4350-B45D-C0723EDF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C4044-6F7A-47CC-8FBD-D566456C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workload + stress-ng contention → same lab target; vmstat/iostat/pidstat/Grafana capture the client impact.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23184-FAA8-4B50-B33D-A15A9664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63A9A-8ED7-4304-BD23-A32083E5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86F9D-1100-4635-A194-6AB4303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Healthy baseline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Console access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stop/timeout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shared production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163DF-E6BF-47F6-B662-DB6F32B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8D767-26A6-490E-89EF-EADBE02A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CBE0D-26EE-46E7-AF49-820FBC1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Run baseline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Start one bounded contention profile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Repeat identical workload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Align host and fio metrics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Stop contention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Re-test baseline</a:t>
            </a:r>
          </a:p>
        </p:txBody>
      </p:sp>
    </p:spTree>
    <p:extLst>
      <p:ext uri="{BB962C8B-B14F-4D97-AF65-F5344CB8AC3E}">
        <p14:creationId xmlns:p14="http://schemas.microsoft.com/office/powerpoint/2010/main" val="76660923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25F54F-8847-422A-8395-2F1B39A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82FB5-C893-4209-8E82-6B32591E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52CFE-BA0B-4930-80B0-BD28F6A1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9FB2D-9B30-4C3B-BFA0-C694CC5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Lab 10 | Introduce resource contention and correlate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B4F7-89CE-4F99-A701-20914CA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A2DF9-138A-418C-A62F-25BB43FE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A62D5-BC2E-48FC-BBEF-9679FDE3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B67A9-6B96-4B2E-ADAE-A49B38C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031FD-F267-45BE-916B-25F27C1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48D23-5CC8-42D5-A95B-59D8361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DDE4F-9F4B-45F7-BD86-5EA498CC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8B337-D672-4B7D-B0F3-3F2F4A98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bounded contention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DB9FD-C14E-42D4-A763-20FA55A2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0473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stress-ng --cpu 4 --vm 2 --vm-bytes 60% --timeout 120s --metrics-brief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BAF3E-6F8D-4567-A590-E132F2B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549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Optional isolated I/O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68848-86E1-487D-8D54-20A7A76D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0518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stress-ng --hdd 1 --hdd-bytes 2G --timeout 120s --metrics-brief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EF535-0035-4B0C-989D-AE5C2B9C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5541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vmstat 1 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3A088-0992-406B-8B23-DCF1A4E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0564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iostat -xz 1 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142CA-1CC3-4112-A665-7CBD59D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5586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pidstat -dur 1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DC078-46BB-4605-9E17-9ADE1C9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0609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sar -n DEV 1 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B704-AE7C-45A9-A67A-4E0EC62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5632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Stop early if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D3373-2EB7-40A3-9F5F-FB94B78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0655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pkill -INT stress-ng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50E99-C888-4B81-9DBA-FBE5A91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5677"/>
            <a:ext cx="6134100" cy="374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pgrep -a stress-ng ||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35147-8E59-49F2-AAF2-093FA3B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302D5-7452-4346-A201-3127947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EE29A-A788-49B1-BF09-3096A1F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CPU run queue, memory pressure, or local I/O wait moves with fio throughput/latency. Shared storage may remain healthy.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2A5BC-A081-403F-AA5E-FF85588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ABE0C-EE95-44C5-8162-D101C894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F3C42-D905-4874-8809-FC5292C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Baseline/contended/recovered fio results plus aligned host and Grafana time windows.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FBA04-FA75-4DF7-A328-5102871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EE26E-6CF7-4997-BE31-3C4CE1F2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FB3A3-9B47-4AFA-B4A5-88340DF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Stop stress-ng, confirm no worker remains, and re-run the original workload.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F0DA2-1CB1-4869-A934-3E59D55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02792-8148-4C56-BB45-D2B0EF9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8A49E-6FBB-4373-A4C1-F8DC9D1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explanation identifies the constrained client resource and proves recovery.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C173EC-E999-4E10-9F09-AF124AD2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34831-2E79-4E8A-84EB-E8BE553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D1AFAF-5395-420D-B37D-A7F5A4C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CONTROLLED LAB ONLY | stress-ng can destabilize a small VM. Keep timeouts and retain console recovery.</a:t>
            </a:r>
          </a:p>
        </p:txBody>
      </p:sp>
    </p:spTree>
    <p:extLst>
      <p:ext uri="{BB962C8B-B14F-4D97-AF65-F5344CB8AC3E}">
        <p14:creationId xmlns:p14="http://schemas.microsoft.com/office/powerpoint/2010/main" val="15635061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320A5-5141-4BFB-8F9A-F526BF32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6715E-8670-488C-9D47-C5D2105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7C043-9803-4734-90B8-4990C63A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35665-A33E-43DA-93B1-9B77FAC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11 | Perform before-and-after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B5EC9-93B4-4E9A-AFD9-AF9ABC2B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695CE-1ED0-4533-9B76-9396C4E5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02B8F-F2BA-4EC4-977B-58F07F9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D2423-CB60-4B25-B16C-2723D724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AE6B4-93DD-48D0-B1CC-0E6E3006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5F6D7-6D25-4B95-8925-BCCAD5CA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FCB36-6DF4-4D7C-87C2-84B0D679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B92F-BA44-4A67-88DA-495BB757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Apply one evidence-backed change and demonstrate improvement with equivalent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DA657-0F47-4BE1-B6C0-A927587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304C0-892E-4E05-88E5-FDDF0D7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4473E-2A5A-476A-BBA8-892C9AFF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D281F-2407-4B74-B8D0-D8CDD7E2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 proposed tuning change has no measured benefit or shifts pain to P99 latency.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2FE3A-3777-46F9-93C0-9B3C4F4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B0226-934C-433C-84B3-2E5456B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34602-3E3D-4B6B-9ECF-83E01A6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fio → same target/path; compare one queue-depth, block-size, concurrency, or contention-removal 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2AB2F-1FBB-40B3-BF1D-1E2C1583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53D08-4194-4754-A617-48199E96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8631C-4362-4E90-8C7B-585D9EF3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Saved baseline/job file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Target metric and guardrails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Rollback step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No unrelated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6C17E-707A-46B7-830A-1158207F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5EEC2-E23A-4842-8B60-CA4D3B44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D4C88-3F98-4558-9456-6F410F2F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State hypothesis and target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Freeze workload and environment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Apply one change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Re-run and compare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Validate correctness and stability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Keep or rollback</a:t>
            </a:r>
          </a:p>
        </p:txBody>
      </p:sp>
    </p:spTree>
    <p:extLst>
      <p:ext uri="{BB962C8B-B14F-4D97-AF65-F5344CB8AC3E}">
        <p14:creationId xmlns:p14="http://schemas.microsoft.com/office/powerpoint/2010/main" val="140969008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AABFC-0FF5-4168-B5B4-5CB96CB1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3B161-01B9-42F6-92C7-3E2AE3E8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032E-1422-4634-A507-7576A71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2E244-CE15-4BE6-96E9-199598B9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Lab 11 | Perform before-and-after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36FA2-F152-4722-8021-29A1FA2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9C169-8D94-4D5A-B586-6B9CB4EC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680B0-FBA4-4AC9-A65E-6D32AD58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00CE8-8924-4EC2-9391-1714189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E244B-5D1C-4957-BF3F-5D82923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0EBC6-BD41-45A2-9668-C9126BB6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7445-4F37-4798-A8DA-5C80F19A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30D4F-D71E-405C-BF64-FF7BBD6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baseline.fio --output-format=json --output=before.json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CB7AC-04F1-4560-BD5B-ED130B6D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93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Apply ONE change in the lab job file: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A96C1-C9A9-45ED-9095-52905FDE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32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example: iodepth=32 → iodepth=16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7D082-81C0-48FC-A243-CD5EAEB5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720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candidate.fio --output-format=json --output=after.json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2AC61-891F-4FAC-B172-68FDE52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111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before.json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5B094-3A53-4919-9EE0-17F85C60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503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jq '.jobs[0].read | {iops,bw_bytes,clat_ns}' after.json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BA7F3-D81C-4250-A7F4-8573B0E2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8950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cmp &lt;validation-source&gt; &lt;validation-copy&gt;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6B34D-8D77-40BF-AD50-0E827967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867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D2C7"/>
                </a:solidFill>
              </a:defRPr>
            </a:pPr>
            <a:r>
              <a:rPr sz="1050" b="0" i="0">
                <a:solidFill>
                  <a:srgbClr val="5FD2C7"/>
                </a:solidFill>
              </a:rPr>
              <a:t># ROLLBACK: restore baseline.fio parameter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0A48B-8AAC-4F9C-A352-DD1CE32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6783"/>
            <a:ext cx="61341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baseline.fio --output-format=json --output=rollback.json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80E06-4D70-4FEA-80C8-820865D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FBEF6-4CE7-4526-94BC-FEAF5A3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595CD-7D4F-40E0-973C-D119B7E8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A measurable target improvement with acceptable P95/P99, zero errors, equivalent workload, and retained headroom.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9B977-0720-4665-A709-C6FD180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76A6B-A120-43B1-ADDE-2F047ADD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B51D3-C440-4147-9407-341AF06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Hypothesis, diff, before/after/rollback JSON, guardrail table, correctness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DB246-8633-4F9A-A7A2-9062EC9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C1D77-68A9-43F3-BE34-48B17AA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E2E4C-9CD8-4029-AE20-E12A7E3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Restore the original setting if the target or guardrail fails.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574CF9-5E4A-4151-B228-3D9CC5D9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16C91-BE0D-4D48-B38A-BFD1BED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4AA88-F2C5-4E57-B5D9-49D98DB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The team can attribute the result to one change and reproduce it.</a:t>
            </a:r>
          </a:p>
        </p:txBody>
      </p:sp>
    </p:spTree>
    <p:extLst>
      <p:ext uri="{BB962C8B-B14F-4D97-AF65-F5344CB8AC3E}">
        <p14:creationId xmlns:p14="http://schemas.microsoft.com/office/powerpoint/2010/main" val="82701000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6D5C8-3932-4D94-9CF5-4D29628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DED67-F466-46BF-812B-9BF13AD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54002-C9B6-4928-B7A0-50B13CA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M6 · PERFORMANCE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035F2-25C6-4E75-9E9A-D7EA631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57F3A-6BBE-4F0D-BD68-C87236B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6B52-11E3-46F0-A04D-BCF0664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F54B9-E2F0-4856-A7A8-EE4AA55E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1 | M6 · PERFORMANCE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5E8D7-7D62-4F32-8003-2EEA6D5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CE246-FA42-4AFE-8957-022418D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D5978-220F-4A54-B34D-C539455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first step in a defensible optimization?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B58AE-6854-4EE7-8A8C-75BF2CD1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Change all settings     B Establish a reproducible baseline     C Restart services     D Disable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9E206-2A76-464E-9704-18BA2A7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CF4E6-78C2-488B-BCC5-158BAF2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6E44D-18D5-40E4-897C-959DA89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must happen after an optimization?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79CE-3B69-4EEE-884A-C627EBDD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Assume success     B Stop monitoring     C Change more settings     D Re-run the same workload and validate</a:t>
            </a:r>
          </a:p>
        </p:txBody>
      </p:sp>
    </p:spTree>
    <p:extLst>
      <p:ext uri="{BB962C8B-B14F-4D97-AF65-F5344CB8AC3E}">
        <p14:creationId xmlns:p14="http://schemas.microsoft.com/office/powerpoint/2010/main" val="143543536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28D3B-C568-4C8F-821E-2BED2D1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252F8-AE88-4399-A399-D10B349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D7493-4F00-4F82-BB4F-13809AC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40E0-FE85-4D33-A7F3-CCC39640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Module 7 | Service troubleshooting proves the failed access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60C08-0D17-4E0B-8131-E9CB23C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0F569-89A2-4ED3-BA2D-CBCA249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94EB8-E4D4-4A06-94F7-68BBA5E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EE07-C3BD-4EFC-974E-0D74E8B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64B20-561F-4FBF-867D-742D6395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2F036-A4F1-4C2F-BBB2-97C3890D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C0BA7-1598-4F66-A23C-C1FD3DD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an incident workflow to isolate service availability, export access, authentication, authorization, permissions, connectivity, and namespace failures.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56BC3-C5A0-4540-BEE5-F207A69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EE822-5B3D-46EA-8511-342208EF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A7CA6-564D-4F85-8DBF-D94E9A2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Capture transient state before recovery action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connectivity, authentication, authorization, and permissions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Investigate exact path, identity, time, and concurrent operations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Validate service end to end after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47456-3E38-4733-8AC6-BC21A2E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52C42-77E0-43C0-B027-73EE225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751EE-7350-4159-9121-5603069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FC110-DD66-4EB5-A84F-2255E16B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alarms, affected resources, Views, events. Ubuntu: controlled NFS/Samba/MinIO service and access failures.</a:t>
            </a:r>
          </a:p>
        </p:txBody>
      </p:sp>
    </p:spTree>
    <p:extLst>
      <p:ext uri="{BB962C8B-B14F-4D97-AF65-F5344CB8AC3E}">
        <p14:creationId xmlns:p14="http://schemas.microsoft.com/office/powerpoint/2010/main" val="94359928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4556BF-7FC9-490C-B0C0-1741761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BA3DB-B981-4C93-AD7F-E45CEE8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D9C79-48FF-4F6D-992C-F4AF2E5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B0D23-4B59-40C4-BA1B-182D80C0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Access failures map to distinct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78CA7-23EC-4767-9BCC-AB59A6E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56AD9-3944-4DC9-BCD9-4FF6B4A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25874-F627-4CE7-A079-9F2A18B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9104F-3271-47C3-9D63-1B429F6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C94CC-BD51-4E8A-AED6-8734CB3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9FDEA-A443-44E0-BAB9-21EFC654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Connectivity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0A41D-F84E-443B-A272-9226FBA6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name • route • 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418FD-97B0-4174-89B1-AA708DD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13237-F4C8-49CF-8D37-2592D25C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88917-5CB1-4E7B-9E54-4404455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Authentication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0720D-2AB4-427E-962D-F26379B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who are you?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B8CA9-7850-4A63-94D7-52BD994C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ECA45-5B50-474E-8A81-A6293393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6205B-8B6D-473B-AA92-39666C4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Authorization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012B6-40F4-47DB-899B-5801AEF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may you access?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0434-698D-4CC3-9661-221391D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BEE63-6BF4-46BC-8FEF-615165D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7A953-2482-44EE-92FE-678ED5ED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File permissions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083FD-C6A0-41E9-8564-51D2C0D5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effective ACL/mode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AEFC4-3FC6-4C2F-9EC9-4EB14C65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57300"/>
            <a:ext cx="19964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60CF5-5F44-42AC-9490-A2A88FC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257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BA5EE-D0AA-4ECD-84A8-7C03D95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3620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Namespace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06458-875A-42C6-9F14-DE8D6D6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7811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exact path/key</a:t>
            </a:r>
          </a:p>
        </p:txBody>
      </p:sp>
      <p:cxnSp>
        <p:nvCxnSpPr>
          <p:cNvPr id="8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1752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46B2B-6F1E-4397-ACAE-71F15EB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2DE6E-62E0-4736-9272-CD780AF1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Observed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8FEC5-7BF6-4175-BC19-FE89C73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Likely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CA16B4-9CF7-44A3-AF0D-59D8731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766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Next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6DBEFB-6072-4E4D-BE11-55594C1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366015-39A7-4729-9CB6-6ACA3633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Timeout / refused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E91D6E-FC05-4DAD-9578-2AC563E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Connectivity or service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10F68E-50CB-4B1A-AE24-DE46989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DNS, route, port, service state, packet capture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D43B88-C111-4721-91E3-AA4E8894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8C08AE-D59A-42A6-B95E-BF435BC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Logon / invalid 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073F38-4C3B-4F72-BE1D-6709072C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Authentication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4DCA8B-863E-4FC7-9BEB-BD86A77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81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Identity source, credential mapping, time skew, logs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E9EEF5-6C69-41B7-BDBE-26F1C549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CE6D97-A75D-4C1F-A989-55D1B9F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Access denied / 403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7A6F63-4D4A-468F-9350-9D8462B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Authorization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E3AF2B-1CF6-4812-BCF3-8B187490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Share/bucket/View policy, ACL, effective identity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8C5A5E-9AEE-43DE-AEAE-75F45F4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7C7E4A-4848-4998-8C52-75FED44F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Permission denied after access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9B7A49-7FA5-43A8-9541-ABF1313E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24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File-system permission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BB3F2B-265C-4776-BDF7-26457C8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24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Ownership, mode, ACL, identity mapping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1CE695-0E84-43D6-A2E5-93C7809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9F412B-D9EF-4605-96CB-7BDA7EF1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Not found / 404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5495C4-6A9E-4A9B-8492-BADF69D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96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Namespace or concurrent operation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306378-A6D8-4C8E-8D05-B127869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096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Exact path/key, View, rename/delete/lifecycle, cache</a:t>
            </a:r>
          </a:p>
        </p:txBody>
      </p:sp>
    </p:spTree>
    <p:extLst>
      <p:ext uri="{BB962C8B-B14F-4D97-AF65-F5344CB8AC3E}">
        <p14:creationId xmlns:p14="http://schemas.microsoft.com/office/powerpoint/2010/main" val="50286409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01EA6C-C3CB-49E6-A61F-0F5E0F7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55C87-090B-455A-9DCF-ABE464A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E4A5D-A5EB-4EB3-810A-FB2B4AD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727D5-BE43-4427-A8ED-C8B2B2A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Collect service state before restart, rollback, or failover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6826D-662D-4A4F-BE99-3F44EC2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B0972-9642-4ACA-B9B3-09EA17B8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D203-8A85-46F3-BB65-4D57FA7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72799-F7BC-4DE5-8F36-E31D810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2F4FC-DD9E-470A-8777-4C919CE8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499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PRE-CHANGE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B8B58-7A7D-4D57-92FE-61734F4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20F0C-AA58-48A8-8AF9-C5A7F20E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date -u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8E04D-3767-4C94-96FB-4E5B170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5307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systemctl --no-pager --full status &lt;service&gt;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9C830-C267-4C0D-B342-21D94623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7064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journalctl -u &lt;service&gt; --since '-15 min'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44D3C-E28F-4DB3-83DB-4CCC7B4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8821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dmesg --ctime | tail -n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F525C-797C-4465-BEA7-FBFB76B8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0579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ip -s link; ss -tanp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9BFC2-6890-4FA7-BCB1-4370B90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2336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findmnt; nfsstat -m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6F6DB-19E6-4D0C-B1F3-8E6D6BEB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4093"/>
            <a:ext cx="4991100" cy="470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id; namei -l &lt;failing-path&gt;; getfacl &lt;failing-path&gt;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822BA-E3E3-4C85-9AE4-5EE60581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97631-289C-43EB-8DC0-F9D9F4C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11719-80EA-4D12-8CFF-EB067D7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049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Preserve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4DF66-E9C1-4117-A118-02BEB05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24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errors +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50948-7246-4030-9802-537FFAFE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3802E-DB67-4052-8130-3BAC680D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12AB6-BDE9-4715-B8F9-48B8CB1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049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Recover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2CA96-4680-498E-9404-A28BF56E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24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smallest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5588F-D31F-4F0F-B841-945F43B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0020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D3775-D6DD-4DBE-8F4E-F8B4C96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00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87D70-1D68-47FF-8F54-F53D970F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049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1F0EC-F7AF-44F2-A083-34A279D0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240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customer path</a:t>
            </a:r>
          </a:p>
        </p:txBody>
      </p: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62900" y="2038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791700" y="2038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6B51F-ED96-48AB-89C5-EE017D4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5105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2A8C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112D14-4A0C-4599-9B5B-BB1CABB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74AD3B-0CF5-4BAA-8C96-79753F2D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C68"/>
                </a:solidFill>
              </a:defRPr>
            </a:pPr>
            <a:r>
              <a:rPr sz="1050" b="1" i="0">
                <a:solidFill>
                  <a:srgbClr val="2A8C68"/>
                </a:solidFill>
              </a:rPr>
              <a:t>RECOVERY COMPLETION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FEBBC-EB84-47AF-8DF7-F3F41E8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743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A process in “active” state is not enough. Prove endpoint, authentication, access, workload, monitoring, and error clearance.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2872E-552C-497F-AA5D-EF7B03C9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F055B-AF05-44E2-A645-AE19CCC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57939-F87E-4B85-9C0B-E248128C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10200"/>
            <a:ext cx="744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RULE | Do not restart everything. Choose the smallest reversible action supported by evidence.</a:t>
            </a:r>
          </a:p>
        </p:txBody>
      </p:sp>
    </p:spTree>
    <p:extLst>
      <p:ext uri="{BB962C8B-B14F-4D97-AF65-F5344CB8AC3E}">
        <p14:creationId xmlns:p14="http://schemas.microsoft.com/office/powerpoint/2010/main" val="14511292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A9828-CD44-4C29-B02F-925F7162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8F5E5-4190-4430-991B-AE91FF7D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B658-5C2F-425B-AD3C-2B1825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A8E4-5444-4F48-AFCB-EDBD01A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Controlled service recovery drill | Preserve → stop → prove → restore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37245-63C9-4EB2-AE2C-EDA2FC7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CONTROLLED UBUNTU LAB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2D83C-8997-4D2F-9F1D-3DDFABE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02E9B-ACD3-4FC0-9AF0-05B32BE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1AD0E-B919-42A5-BDB8-26204BF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FC26E-E65C-437E-B125-C26850C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9055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681DF-6747-4CF0-84E5-BB66FA27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556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NFS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D04F9-48F5-4779-86AB-B5834BF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85122-C7CF-4709-AF01-498B965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date -u; systemctl status nfs-kernel-server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74928-3242-4A27-9B60-E301B69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746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journalctl -u nfs-kernel-server --since '-10 min'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5CD39-E3B1-406A-BFC5-61BC4F7C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138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ss -ltnp | grep ':2049'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D0D4B-6663-4147-83DF-0F799370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530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6A"/>
                </a:solidFill>
              </a:defRPr>
            </a:pPr>
            <a:r>
              <a:rPr sz="1125" b="1" i="0">
                <a:solidFill>
                  <a:srgbClr val="FFC86A"/>
                </a:solidFill>
              </a:rPr>
              <a:t># CONTROLLED LAB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382BF-5558-41C9-8B64-96FA65BF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921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C86A"/>
                </a:solidFill>
              </a:defRPr>
            </a:pPr>
            <a:r>
              <a:rPr sz="1125" b="1" i="0">
                <a:solidFill>
                  <a:srgbClr val="FFC86A"/>
                </a:solidFill>
              </a:rPr>
              <a:t>sudo systemctl stop nfs-kernel-server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FA0C8-3ACD-4B84-B6A3-36AEF4F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313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timeout 10 stat /mnt/vast-nfs/&lt;test-file&gt; ||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4D5DB-6C67-4F00-A9EF-F9AC3976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7050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sudo systemctl start nfs-kernel-server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8A66B-4AB4-4221-BEB2-EC1895C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0967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systemctl is-active nfs-kernel-server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F4F74-84B1-470A-8D98-EB5C695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4883"/>
            <a:ext cx="5562600" cy="452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E7F5"/>
                </a:solidFill>
              </a:defRPr>
            </a:pPr>
            <a:r>
              <a:rPr sz="1125" b="0" i="0">
                <a:solidFill>
                  <a:srgbClr val="D7E7F5"/>
                </a:solidFill>
              </a:rPr>
              <a:t>stat /mnt/vast-nfs/&lt;test-file&gt;; nfsstat -m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EF314-81B8-45A5-8867-29A50C8E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430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7670B-40E6-4750-96E6-E20D6F0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991E8-B26C-45C5-B3D3-0D9D037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41719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Pre-stop state is preserved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Failure reproduces with a known timestamp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Client and server evidence align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Service is restored with the smallest action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File access and monitoring validate recovery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No VAST service is stopped or modified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E52D7-1B81-4C54-B0B5-4177CAD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D4260-F699-4285-B733-190C3D1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C5E96-5C82-42ED-85A9-6F625BE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24450"/>
            <a:ext cx="3962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ROLLBACK | Start the service, verify TCP 2049, re-run the file operation, and confirm no active lab error.</a:t>
            </a:r>
          </a:p>
        </p:txBody>
      </p:sp>
    </p:spTree>
    <p:extLst>
      <p:ext uri="{BB962C8B-B14F-4D97-AF65-F5344CB8AC3E}">
        <p14:creationId xmlns:p14="http://schemas.microsoft.com/office/powerpoint/2010/main" val="3056079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82FD6-3C32-402E-B4ED-34C30200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D608D-63E6-4EE1-BEDD-1CBDEF7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6F0CA-A4C9-4E5F-A561-D881051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M7 · STORAGE SERVICE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703C7-F9F4-4A91-A385-995129B3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Service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5B7C-31F8-4E8F-973D-A74B6F84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A8A20-5950-4660-85CC-9932FB89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555EE-901C-4277-9498-897BB95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M7 · STORAGE SERVICE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00D92-4738-4E15-BF6C-69B5467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ABB2A-08C3-4D2F-9353-BC581C6E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8EEB3-8D08-4540-8851-D24426F2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should happen before restarting a failing service?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B77DC-08CD-47E2-B0B8-6F2E1848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Delete logs     B Change permissions     C Capture errors, state, logs, connections, and time     D Remove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D94D0-E816-4590-A5A3-E76BC49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7ACCA-83B8-413C-9BC1-C2B8B7B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1E95D-BCD3-4B8B-9767-03195DC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When is recovery complete?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AAC9B-7BE0-44F7-8EEA-46B6986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Process starts     B Alert clears once     C Admin logs in     D Access, workload, monitoring, and errors validate end to end</a:t>
            </a:r>
          </a:p>
        </p:txBody>
      </p:sp>
    </p:spTree>
    <p:extLst>
      <p:ext uri="{BB962C8B-B14F-4D97-AF65-F5344CB8AC3E}">
        <p14:creationId xmlns:p14="http://schemas.microsoft.com/office/powerpoint/2010/main" val="98574444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3A9A5A-9DD0-45C7-9DD3-3253E70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7AA38-201D-412E-94EE-057D658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AC10A-7947-4872-8EAC-4D74F08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404C8-F1C9-46A6-90C2-207D79A3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Participants follow one operating procedure for every incident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4C4C3-266D-41BF-81C3-BCD79FA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EVIDENCE-LED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F44E4-EECB-4643-94B9-B5EF776C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247F4-4391-42FD-8F2B-AFABD64F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B623F-D39E-4A7C-BB33-82EE8C1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0800A-524A-431B-A062-1B6935F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99644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89ED9-9E10-44E4-825C-BEC5ED49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62233-B2F6-4391-B09F-B0B07D8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3BFEC-C257-49E9-B953-E932D26E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7297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symptom +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76031-4744-4434-982C-2354B16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428750"/>
            <a:ext cx="199644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6A065-DE5F-4B69-97C4-F39E20C6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428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76B1D-8D79-490F-8ED1-94690C6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533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Hypothesize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4B3C5-443F-4907-A9BE-573FD86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952625"/>
            <a:ext cx="17297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rank plausible causes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83023-B2A5-4084-B154-202281D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428750"/>
            <a:ext cx="199644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AC57A-028A-40F5-8E63-0F182B6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428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2E4EA-24BA-4CC6-AB73-948D70C6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533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22AB0-930B-4335-9A35-5A5E395F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52625"/>
            <a:ext cx="17297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approved evidence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AF123-BB7E-48DB-83A0-BA5206E5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428750"/>
            <a:ext cx="199644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70D30-BA92-4D4A-8682-68FA6799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428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C87B8-4162-40C2-B91D-D6D2407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533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88A9C-FD8A-4F44-AA50-BEE0456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952625"/>
            <a:ext cx="17297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smallest reversible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6520C-D6ED-48E9-99DD-15BCCD5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428750"/>
            <a:ext cx="199644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B5781-B0E4-43CC-A8EB-6A6379BD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428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D1ADF-FAB8-474A-B0EE-591E2439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53352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64897-D46E-4ECA-B803-534FD53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52625"/>
            <a:ext cx="17297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same test + all users</a:t>
            </a:r>
          </a:p>
        </p:txBody>
      </p:sp>
      <p:cxnSp>
        <p:nvCxnSpPr>
          <p:cNvPr id="7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606040" y="1962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0130" y="1962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94220" y="1962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338310" y="1962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D693E-9EE7-4CCA-AC5F-87FAA79F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B1AF7E-1E73-4AA5-970F-9204FDD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Participant obligation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187DF-E92F-4EE4-957E-A4BA31D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Required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84C5A7-DE57-4B19-86BD-5A6DFDF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8214D-2008-4757-9608-2F8C0C2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Separate evidence domains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AFF53-602B-4479-A270-FB3BB000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Client, network, protocol, simulated VMS, and real VAST labeled independently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E8449-FFDB-4254-BBB6-EFEF832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E12133-944A-4075-9B9F-B807553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Challenge the hypothesis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E36B9-AEFA-4343-B984-B8C5165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State what evidence would disprove the leading cause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A185FB-EFC1-4090-9262-46023C8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5F7D55-EDC4-4888-965B-289BFE6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Control the change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16781-AE5D-4F84-B13B-D22ECD6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Approval, target, expected movement, rollback, and owner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EE4DCB-57C5-47E5-AB4E-EB26F49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FA7D9-477E-4DF1-AC71-1C0564F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91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Close defensibly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C8781E-FA2A-4EED-BE91-A477F29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912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UTC timeline, causal mechanism, validation, prevention, and remaining risk</a:t>
            </a:r>
          </a:p>
        </p:txBody>
      </p:sp>
    </p:spTree>
    <p:extLst>
      <p:ext uri="{BB962C8B-B14F-4D97-AF65-F5344CB8AC3E}">
        <p14:creationId xmlns:p14="http://schemas.microsoft.com/office/powerpoint/2010/main" val="79763662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DC986D-CDFA-4767-B41C-21F9AC1C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9525B-B3E5-4467-AD62-F875A2C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1F16-C1E9-4D7F-B2A2-34D3623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63D8C-A7C9-465F-9254-3E2C5190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The VAST Admin Simulator reproduces decisions — not VAST internals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375A-5DE8-4065-82D9-AD5AB450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15 CONTROLLED INCIDENTS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26EC4-6A5C-4F76-A5C4-3C4A0BE3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AE65E-05E0-4653-86F7-048BE68D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7DBE0-0959-4E2F-BE6B-4564AF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DBF86-E367-4B21-8F68-F45E1C7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E89B3-F592-4BDA-B997-C508423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E7ECE-4142-4F9A-A931-C8E2B1B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771E4-0DFE-4E6E-AFDC-0B21D6D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healthy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7C493-DA3A-47B2-A552-483F9C4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75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617D3-6D1E-4939-AA5B-305D20E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75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49975-E879-4598-9C08-842BF5E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Inject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DCD9F-A7D9-4C89-BCDE-F26EB26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bounded incident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427A5-EDBA-490A-B91A-9AA0549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31EA2-4237-4A20-AC38-8F09768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B3273-97EB-48C8-A616-77348BA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Collect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70FEA-367C-4FE0-8E50-58F2FBA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artifacts + UTC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074BA-5929-42B3-B4B7-328035B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3BB84-A9EF-44FB-A071-C1B08CF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DCAFF-E094-48E9-B89A-041AE98E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Diagnose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534E2-3339-42F1-9E71-42A1FFA2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evidence 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3CC1C-A486-4562-BAE7-119BC05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8564E-82B2-4986-952D-A8CC7C4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906DD-70E9-4236-8A8D-533896C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Recover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0CC4E-9A35-437A-9E1E-AA3F6AC7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approved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F9AB4-5B91-4C48-A84E-F3CF2983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975" y="1428750"/>
            <a:ext cx="1622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C63FE-344F-403E-B466-06474BB8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975" y="1428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D24423-B7D1-436D-BB6A-615F060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375" y="1533525"/>
            <a:ext cx="1355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5131B-F1A7-4A4C-9D10-ED3595B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375" y="1952625"/>
            <a:ext cx="1355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PASS / FAIL</a:t>
            </a:r>
          </a:p>
        </p:txBody>
      </p:sp>
      <p:cxnSp>
        <p:nvCxnSpPr>
          <p:cNvPr id="8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232025" y="1943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102100" y="1943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72175" y="1943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42250" y="1943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12325" y="1943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80EDD2-FFBD-44B6-80C4-404512F4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A3D602-3D31-4394-9813-F04C7D4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9EE2B-33C5-424F-9FB7-214A59E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WHAT IS REAL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56F517-400E-4D43-B0F1-B592BEF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Python/shell execution, files, logs, metrics, checksums, participant decisions, and repeatable validation on Ubuntu.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CA90AC-BCC0-4967-A675-56752FF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190A5C-6C20-4C21-9512-9E42DF27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58D8E1-EA40-4380-B93D-C7BF6C6D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WHAT IS SIMULATED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3F7FF8-CCE5-461B-A7A1-59418D5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VMS-like objects, alarms, Views, quotas, snapshots, rebuilds, replication, failover, and upgrade decision states.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FC5AF3-7A45-400B-BFB1-25925BE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4F934B-7CF2-4E37-AA7E-61F9D69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5A3372-5627-4B27-A24C-40D9C22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57800"/>
            <a:ext cx="8782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CLAIM BOUNDARY | Simulator success proves the troubleshooting workflow and code path—not compatibility with a specific VAST release or customer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59813211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AE0755-7F3A-410E-A53B-FB98E8B3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FCA16-B233-4CCE-B45B-80ADB7E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FF337-DF1F-4B67-A773-638EDC76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2BCE-3C65-4F7F-A483-CC63076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Simulator evidence must survive review and 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14C6A-4E11-4667-AA1B-51A0E21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EB4A9-EB95-4F7D-BE24-0EF749EB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81957-C17E-49C3-8A46-0FED6C5F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F91AF-9D4A-423C-868B-BF68A77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9117E-AADD-4D29-B1A8-CF07EB6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1006B-95A2-4C18-8DB8-A73E76BB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AEEF5-541D-4F58-8E31-5DCAE9B5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33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Required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6C0DF-9DF6-4EAA-B0D2-E7BDB525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335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Acceptance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C97BE-5648-4CD2-B310-02FCB03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F5D94-391F-41C0-A940-0114309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B5433-F065-42F0-9DDE-C21FCB8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240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Health, configuration, workload, and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FEF86-6725-4734-B451-0D077B5F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240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Known-good result is reproducible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8091C-4057-4DCA-B650-F8488DA6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54E0F-FAA5-4F75-8597-3014ED6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Incident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3EE8B-C82F-4CE8-A7F5-4FEB265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Injected condition and exact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2071B-708B-47E3-AF67-1DA82064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527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Only the intended scenario state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F57F0-7053-458C-B034-915ADC0A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7EB41-3F16-499D-949D-DBFDF0A2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Collection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24DA-314F-45C9-8E14-84CFC4C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813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Raw JSON/CSV/log/text plus checksum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AD4EF-5504-4240-A4DC-F6E708E8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Evidence is timestamped and attributable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2952C-C416-480D-9D04-BE26112B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340B5-4635-4D2A-A11A-31F9F218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Diagnosis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81DAE-046B-4B65-9F4B-52E969F0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100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Hypothesis, disproof test, and causal 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87792-DCCA-4E92-86A6-FC5421D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Explains time, scope, symptom, and mechanism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BB2CD-B041-491E-A6CF-0A48298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444E2-5274-4351-827F-EDE4C44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Recovery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50230-A89F-4F41-AE13-FE96C0B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386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Action, authority, rollback, and operator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E39C0-19E6-46E5-AF39-1C8FFE30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Smallest reversible action is used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2AA82-5D11-4BBC-89F3-5234FD4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AD8FB-FD09-4463-8D7D-2A52B9E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Verification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F66DF-6282-413C-BE50-0D484F3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Same workload, representative clients, health and errors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98937-3203-4EF4-80B2-B8016F9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673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Expected recovery thresholds 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E2228C-A552-4B81-A57E-B44AC5A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0A05C2-7EF3-4846-9C21-7C790BC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BA31A9-4268-4C6C-AB79-EA812F6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REPEATABILITY | A second participant must be able to replay the scenario from the README and obtain the same class of evidence and PASS/FAIL outcome.</a:t>
            </a:r>
          </a:p>
        </p:txBody>
      </p:sp>
    </p:spTree>
    <p:extLst>
      <p:ext uri="{BB962C8B-B14F-4D97-AF65-F5344CB8AC3E}">
        <p14:creationId xmlns:p14="http://schemas.microsoft.com/office/powerpoint/2010/main" val="131092492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D42437-01CC-4A7D-AD99-AAF8112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927C7-0AE4-4D85-A543-D6F1A1E9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C9925-A0A5-4BDE-893F-08270D54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45B6-1A81-4394-A205-27DFCB91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Scenarios 1–3 | Performance and GPU feeding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742F2-A4DC-4D72-9BAA-454E852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PRODUCTION ISSUE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6B3EE-A0ED-4A06-A68B-DA2150B9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543E-3672-4262-B402-FC60CC08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F5E26-89DC-4D19-B700-4ABBBDD9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C10CE-4EA7-4165-9FF0-E6D250F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BB51-C09C-4860-A81D-0F49040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7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24735-CC1E-4DE6-B63B-4C5D43D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C1582-FEEE-40C8-835D-D35E7DB2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43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0BE28-E285-46DB-B752-74A59A6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3067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Recovery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EB69F-614D-4DEB-95EF-06AC2295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4986D-98C7-44AE-9853-EA29B893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C4739-C9AD-42FC-B0F4-8F5CC76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Training slows; GPUs starve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81DF5-8880-46D4-8285-D5498929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Loader wait, throughput, latency, network/noisy-neighbor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FC42B-187B-4319-9805-93B1FC6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067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Job projection and GPU teaching signal return near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F1D55-0E41-4210-8F09-69D14296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6E68D-D696-43B6-9056-C959DD1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2D2E1-D3B4-4A41-AD9F-23CBC25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High read latency on a hot 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328C6-22E6-4525-92C0-B63E091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Concurrency, View/path concentration, P95/P99, affected vs healthy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83F2E-17ED-4388-96B3-090F34A3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067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Tail latency falls under the same demand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C728B-23E4-4779-B1CA-7918BDE2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77E84-6DDE-4031-B253-D5E4B7EA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B2CBC-9C87-4A59-926B-4C2BD819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Metadata slowness with millions of 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8D87E-3606-46F8-9885-A8DA3C12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list/stat rate, namespace size, CPU/network/storage correlation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65FDD-0289-455B-BA37-690E7C5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3067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Browse/stat latency and error rate 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EAD75-566F-4EA4-B46E-670247ED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303BEE-5113-42DD-8963-FEF68BE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FB86C-F8A0-4C7B-8863-E2B2A0AC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859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TEACHING RESULT | Low GPU utilization is treated as a downstream starvation symptom until accelerator failure is independently proven.</a:t>
            </a:r>
          </a:p>
        </p:txBody>
      </p:sp>
    </p:spTree>
    <p:extLst>
      <p:ext uri="{BB962C8B-B14F-4D97-AF65-F5344CB8AC3E}">
        <p14:creationId xmlns:p14="http://schemas.microsoft.com/office/powerpoint/2010/main" val="54259081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6892F-1BAC-4A66-9FB5-0E1476B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CCC0F-CC82-4089-9E13-F975E3D5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F06BE-58E5-454F-8E6C-263CD368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7E27A-07AF-4E75-ABFE-441F9F01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Scenarios 4–6 | Access and connectivity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33884-19F6-4EB9-B5D3-9A71BC1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PRODUCTION ISSUE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6AE2E-E593-4CC7-BFE9-7B60258D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19759-306F-4C95-B8EF-96E9FAD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2208-0A09-47DA-B79A-9561D4E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3C82F-3C75-4D66-A1DF-2E88FAE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646F0-930E-44D8-A590-D50EACA2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7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ECF9D-27C8-47F4-827D-2C3A18F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2F53C-55E7-4E13-B14E-B3240BC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43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Failed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E4991-BA5E-415F-8434-1E70864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Recovery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D55FB-56DC-48CF-9595-9C7A5CDB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FC7B4-BC52-4470-86BB-38A8B92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228A4-DF68-47DF-8BAF-D0336C0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Mount stalls or cannot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CE203-9AC3-4825-B379-73CAAA1B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Endpoint, route, service, View policy, or mount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CD09A-B762-4BBB-A0C9-4D817CD1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Mount and representative read succeed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B9031-3E94-4AE8-99C2-CE18478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D873B-A707-46FA-9B70-739C1D6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1A617-9203-4A24-B5BA-785F919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New GPU node missing from allow-list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77D58-B6DD-4B1D-B88C-B3AACC52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Client identity/source address and policy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EC467-5B15-410F-99EC-A392B1B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New and existing nodes retain intended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20989-FC0F-41D9-8808-3D2A493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FA22E-ED86-46EB-A67A-DC2E938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C581D-FC89-476A-9A9A-446C521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AD/LDAP or security-flavor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337B0-988D-4676-BD7E-A83E212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Authentication, identity mapping, authorization, or protocol security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8A3C8-5F89-4947-8B89-5205A40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Expected identities succeed; unauthorized identity still fails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9D311-2F24-426C-AAF3-AA7FB52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A8611-168A-4D1F-8739-71483862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DC566-A0CE-4594-8FA4-220E08D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859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CHANGE DISCIPLINE | Never widen a policy globally to make one test pass. Prove the intended identity and minimum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61622325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39BA0-C242-4709-8304-3C4EEA03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B3BFD-8BD4-431C-AD47-7B95CC6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50BE2-FBB7-48D2-B60E-A25C65CF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F35B-DCCC-411E-9EAD-5AF0029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Scenarios 7–9 | Capacity, quota, and snapshots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1C663-E203-4810-9D81-A5BF22C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PRODUCTION ISSUE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C2A8E-0526-49A6-909E-38F46A2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38201-2A36-4795-A084-F760BE1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50A94-BF60-4E55-8805-FD3BA65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5FDAD-2160-4E40-AF7B-44CE3A2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5B9C2-5ED6-4D2D-91E7-0D3568C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7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A016B-39EA-4DEC-ADE4-BDE9A2C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2BC6E-B9BE-47BC-A29F-5824CC4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43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F8EEE-D986-4E01-8EC1-11E565A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Recovery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BCE86-007F-44E7-8D62-40098E8C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75C2B-5E87-497A-9A64-761F357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97CB1-D360-4DE4-9F71-2E60D74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Quota fills during checkpoint 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86127-967C-49EE-9543-3E47DBC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Quota scope, capacity, writer, exact error, intended 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CFF68-619E-46C6-A30F-D522C6A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Checkpoint succeeds without bypassing 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E9C40-F0A8-4A86-8F61-3AD734E3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0D544-E879-473F-9F5F-38343E2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C38EB-D0EA-4546-A207-CA48AA3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Cluster-wide capacity creep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7D09C-C0D3-4D9C-BEBF-BF56C33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Growth rate, owners, unique/logical data, snapshots and stale datasets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D1D9D-1537-4487-8D5D-B706B6A4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Headroom and growth controls are restored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19C8D-CB5E-4840-BFDF-AC14FD2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55B4D-5460-4160-96A2-4A33B5E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47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07913-3E6A-4E56-9CA4-DF998E8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Snapshot retention misconfigured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99059-6E9D-419A-891B-BBFBF78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Policy, age distribution, protected recovery points, consumption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BF4E2-511F-44E2-B651-8DAD693E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Retention meets capacity and recovery requirements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22A8E-5BD6-4A68-B918-EB3150B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AFD4D-71C1-43D0-BB2D-CD9A9310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2CE1C-9430-4B6E-9ACC-FE7588A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19700"/>
            <a:ext cx="897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SAFETY | Never delete snapshots or raise quotas without the data owner, recovery requirement, impact review, approval, and rollback/restore plan.</a:t>
            </a:r>
          </a:p>
        </p:txBody>
      </p:sp>
    </p:spTree>
    <p:extLst>
      <p:ext uri="{BB962C8B-B14F-4D97-AF65-F5344CB8AC3E}">
        <p14:creationId xmlns:p14="http://schemas.microsoft.com/office/powerpoint/2010/main" val="144596919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025AF-C091-45F6-B16D-5F91971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05CD-095C-4BA2-9524-952C22A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0382F-2680-43ED-9562-C2A5836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5020A-7B4D-4278-BD80-91E5FFB9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Scenarios 10–11 | Data version and replication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433FE-BA99-46EA-A2DE-6F7A00D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PRODUCTION ISSUE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A156E-1EE4-4F30-9A07-5471B76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9CD91-D33E-4741-A5C2-395DA30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8A10A-8A47-4D54-A607-5C97763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4A076-EDB9-4FF5-86EB-E18A17B1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2629-9B6F-4B27-BB70-12F1E8E6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7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5173E-7A41-4AC7-BA4E-8695FECE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573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31C72-4FA7-4C5A-AEA8-80FD0C1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573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Evidence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0793F-A45E-4E55-AD86-D7219BA3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573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Recovery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1F416-2DA3-4B2C-8854-DCE0C806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F7585-8EF5-43B3-AA66-14B5C03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57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7479F-4698-4D19-9F7C-BAB22C29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Wrong dataset version mounted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BF2F1-F8D1-48CA-91C6-7A587E6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Canonical path, snapshot/version, publish time, client mapping and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EB133-5F4E-4D51-A2E7-1FB0BC65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686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All clients resolve and read the approved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DD028-9334-435D-9564-4D2CEA3D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92C53-3FF0-4CF9-A929-C5CC635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7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73B0B-6BFE-4946-9B50-E05E08E9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Replication lags or fails to DR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9C932-BAC2-48B4-84E4-32B1BC2F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Lag, last success, backlog, link/errors, RPO, destination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85226-2FDF-4EA2-8F0B-B892C08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686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Lag returns within RPO and a recovery-point check passes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ECAEB-4BFC-4332-9317-287A8B4E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CC2AD-A8C0-4003-9307-D92DE77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BA216-E343-4A60-885D-F828F5AD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916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INTEGRITY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2DA24-8158-4441-9BE8-F613C2D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76850"/>
            <a:ext cx="916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Do not overwrite the suspected version or declare DR healthy from a green status alone. Preserve identity, checksums, timestamps, and recovery-point evidence.</a:t>
            </a:r>
          </a:p>
        </p:txBody>
      </p:sp>
    </p:spTree>
    <p:extLst>
      <p:ext uri="{BB962C8B-B14F-4D97-AF65-F5344CB8AC3E}">
        <p14:creationId xmlns:p14="http://schemas.microsoft.com/office/powerpoint/2010/main" val="114774064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24E6E-8C9B-4C93-BFDA-8318311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B486-9F22-48C6-85BA-D63EA7D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7BA79-8F46-4E2A-B156-BE6EEB7F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VAST ADMIN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5E796-5BDA-445B-8913-785CA449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Scenarios 12–15 | Hardware, failover, network, and upgrades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6FA6E-0A43-4561-870F-666B836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PRODUCTION ISSUE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01EF-6504-4CDE-A8AF-4007F825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FE430-AB74-4230-A11B-D8C7FDC0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VAST ADMIN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24CA4-4A60-441F-AE34-B16F8284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32144-6E38-4ABB-BBBC-7EF2F6A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89801-4BF6-4947-A6FC-E797E83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47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211E4-9FF9-42A9-BCB1-94EAF55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67958-587E-4A11-BCDA-784EA1C9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71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Operational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E5D11-E487-45C6-8AA1-82297523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71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Completion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A46D6-F88E-4F03-A4F0-DE8A4756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AC356-869F-4200-B0B8-A0745078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7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8D29B-F525-4961-9B9F-C099811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Drive failure and rebuild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C67CE-F309-4F1D-9751-AF23B57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Confirm redundancy, impact, rebuild progress, replacement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73792-3F4B-4E18-8753-44070CF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Rebuild completes and health/capacity stabilize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3AAF2-B6CB-4A87-86DE-D7B1AE88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184FA-38AA-4FFA-A5D5-9F89BF4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7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071EA-9BE2-43C7-9F06-3A40D8A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Node or NIC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C9E61-4A4E-4B18-9559-A34AF6B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Confirm failover, affected paths, redundancy and supported replacement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CB36B-77E0-4D63-A0E1-8C290913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Service and path distribution 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61012-D4C6-4805-9F53-E4309D86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57FA9-C034-42FF-ACDC-C8313D3B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7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A966F-24B7-4F9B-871C-0B0CF5C9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Degraded/flapping network link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2CC04-5800-4661-9EDC-CD1D6DB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Correlate link events, errors/drops, retransmits and throughput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3F2A0-BCA8-4E05-86D2-F81668A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Link remains stable under the same workload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48C47-A053-4949-A426-437F1F96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69EB9-A90A-4979-9F05-EEE9A6C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7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DCE8F-47CD-428C-85C7-A30B04DB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Software upgrade coordination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145FF-1733-4FE8-A28E-DA3E1E4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815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Readiness, compatibility, active jobs, maintenance sequence and rollback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7C181-A482-4D18-909F-9A8E490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Health, access, workloads and alarms pass after each stage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9B4F3-73C2-4BCC-86EB-314B682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2EFED-D635-41EC-8F6B-AB7C9C3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B86431-FA28-442D-B41C-C222A5EE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34000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NATIVE ACTION BOUNDARY | Replacement, failover, and upgrade execution belongs to the authorized VAST environment and supported procedure; Ubuntu performs decision rehearsal only.</a:t>
            </a:r>
          </a:p>
        </p:txBody>
      </p:sp>
    </p:spTree>
    <p:extLst>
      <p:ext uri="{BB962C8B-B14F-4D97-AF65-F5344CB8AC3E}">
        <p14:creationId xmlns:p14="http://schemas.microsoft.com/office/powerpoint/2010/main" val="186717464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744B2-5D8D-4990-AB76-E98455E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64EE7-0CD5-4130-8102-68A623A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E6D04-F6F7-4B2A-83FE-637CDFD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6A980-8E61-435F-9090-2056836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Module 8 | Correlate the full performance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407C-A5E5-41E4-B78C-E8C5BEA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690CC-EFE3-405A-929E-31CBEF0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CC0CB-AA97-47A4-B6C4-D0DD1F5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178E3-31D1-4F96-9B5F-F11D49CC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20ABC-37BF-4689-B40E-842043D4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2EB67-DCA8-4961-A88C-CA5A966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71DE8-9FAB-42F6-95EC-263D1C84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Investigate slow applications, storage latency, client bottlenecks, resource contention, workload imbalance, network/protocol behavior, dashboards, alerts, capacity, and end-to-end causes.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3F1F8-C4C6-4A28-82E5-775868EB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72448-488E-496D-8824-CCBEF96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59BB5-4C61-4493-B44B-D45142F6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Correlate application, client, network, protocol, and storage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Compare affected and healthy clients/workloads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Distinguish shared bottlenecks from local bottlenecks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Identify causal mechanism before remediation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2DD9D-D72A-4458-B8E5-7E8D2D2A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D441E-93BD-4A96-8D92-86EA802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C249C-08C5-497E-A649-DA3642A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8A3F7-29C8-46C3-B90C-87ED5BE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Both environments: VMS supplies native VAST evidence; Ubuntu supplies application/client/protocol/workload evidence.</a:t>
            </a:r>
          </a:p>
        </p:txBody>
      </p:sp>
    </p:spTree>
    <p:extLst>
      <p:ext uri="{BB962C8B-B14F-4D97-AF65-F5344CB8AC3E}">
        <p14:creationId xmlns:p14="http://schemas.microsoft.com/office/powerpoint/2010/main" val="11710383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141F0B-BAC1-49E6-844B-F19437AC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4F206-428A-4F54-AA25-A8F5945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33195-5535-4379-B4B2-F3DE2B0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93C9B-E9F4-4ADB-8DD9-BC31F576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Bottleneck isolation asks where divergence first appears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FC6C1-8929-4400-8630-E326DE62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4FB6-3928-4C08-9449-E739421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C4FE8-DFA6-4DDB-8C7D-28106D3A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421A3-916E-45B6-9AB5-12C428D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07A88-991C-4A51-BF4B-11ED9DBD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D7C90-4E71-4774-ADDE-BD13F69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User impact confirmed?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79E4B-7D99-44FB-A86F-6006469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167A5-6289-4AAB-A634-EEDCD13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FFD4B-684E-455A-9C4E-D324361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One client or all?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CD6D2-757B-4D4B-9555-AA71EEC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A365D-8313-45F1-A914-1F22D2E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04ED3-9DBB-4600-9621-236B8EE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Shared metric anomaly?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0F4BD-831F-41CC-BB90-97CCE1F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F3228-CF39-478E-9AD8-F0FE30BE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FB61F-8ECF-42D5-B0AF-5ADE914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52575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Protocol errors/retries?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00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48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96350" y="18764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7E52C-64ED-40C1-AD59-8851E18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F9D84-6CFE-498B-AD28-5D9FA49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55FEE-977D-4D43-9F0F-6845B05D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Client resource / configuration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E9306-2E56-42B9-AEDE-DC5D07A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9C462-D98B-42EF-855D-2921D6BE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6C85E-2DF3-4C33-926E-32C4BB9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Network / endpoint / 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22EA0-7D45-4139-B6D0-21EDC31F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C657C-AC26-44DC-9E73-42512A64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414B43-1B16-4379-B015-EC32033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59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Storage / capacity / contention</a:t>
            </a:r>
          </a:p>
        </p:txBody>
      </p:sp>
      <p:cxnSp>
        <p:nvCxnSpPr>
          <p:cNvPr id="69" name=""/>
          <p:cNvCxnSpPr>
            <a:stCxn xmlns:a="http://schemas.openxmlformats.org/drawingml/2006/main" id="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704975" y="2324100"/>
            <a:ext cx="151447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752975" y="2324100"/>
            <a:ext cx="149542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800975" y="2324100"/>
            <a:ext cx="1476375" cy="1409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EE0CF-18E0-466F-9911-4EFF929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868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27D90-45F1-4F67-AD60-B0E5FFE7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E12F02-0BD8-45B4-A59D-4D753406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832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PROOF STANDARD | The suspected layer must explain the time, scope, symptom, and recovery behavior — and survive a controlled re-test.</a:t>
            </a:r>
          </a:p>
        </p:txBody>
      </p:sp>
    </p:spTree>
    <p:extLst>
      <p:ext uri="{BB962C8B-B14F-4D97-AF65-F5344CB8AC3E}">
        <p14:creationId xmlns:p14="http://schemas.microsoft.com/office/powerpoint/2010/main" val="135463625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0BC5B8-973D-449F-ADEE-15A6D00B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69A00-C5EA-4138-A8F9-A023954A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020CA-580B-4DEE-B56F-310016D2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5F58F-12FF-48A4-A58C-CD463863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One UTC timeline correlates every evidence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A1B6F-746C-42F9-B78F-8C507441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BDC23-5239-4D32-9CCA-D0346B72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05691-564A-48B4-B2E9-ABBFB63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0663F-6740-46E1-BE8A-6E361B0F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09447-948F-44A6-BD15-A704275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E17AE-F658-44FB-A137-DE8B60D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716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Primary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38F46-3202-4418-A27F-147BF89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716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Question answered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05AA4-6569-44E3-B4ED-021A87D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393F9-7079-42B0-B224-4A8074D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2C8D0-A91A-4397-802A-1743FD11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Job duration, batch rate, loader wait,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AD3F2-68B7-4527-916E-7C794CC3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did the workload experience?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90F83-3FF8-491D-9DB0-B8FB32C8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4E7DB-505B-477A-868C-9A833C62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B9610-19B8-43D8-90CA-7FBC46C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051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CPU, memory, run queue, iowait,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DC9A7-D968-425C-8CBB-AF7A561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51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Can the client issue and process I/O?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D1F36-1A07-4446-B7C2-E6D1053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9DC47-383B-4C3E-B941-7DD2C98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Network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27D16-DEB1-4C12-A18C-BC126DE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909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Utilization, RTT, drops, retransmits,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F9268-3ABD-49A0-88D0-942B21D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Can requests move reliably and fast enough?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5A23B-8BEC-4A2F-A382-564741B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8A3D1-29AE-4E77-B17F-02FD7D57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A5DEF-21EF-405A-92D1-ED0DAAB7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NFS stats, SMB status, S3 HTTP, pcap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31ADB-C383-4603-A4DC-00FF40AF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Where do requests wait or fail?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9E689-C4DD-40BD-B66E-15FD3F4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DC0316-6A51-48D7-90A4-4B179B3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Storage / VMS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19AC8-53A3-41B3-BC2A-9A5EB94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Bandwidth, IOPS, latency, capacity, alarms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CE877-119F-44FB-AFD6-18F74032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Is the shared service constrained or unhealthy?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FF38C8-B640-4046-9FD4-0FD67F11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1ED438-5A42-4B5A-9B6C-F39E8009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Workload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68EF1-9ABB-4ACA-B8E6-C3279E5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483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Block size, mix, queue depth, concurrency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24656B-F1D0-4CF2-910D-4994B78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4830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What demand did the system receive?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76F96C-4F5D-42F6-8A3E-92BC651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76D6B-E4D1-41DC-B730-6A14CC2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5A8B2A-A43D-4DE5-9EEB-504AC57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CORRELATION | Align all evidence in UTC and mark baseline, symptom onset, fault/change, recovery action,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85123335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72FED7-1ECA-4457-A6A8-10A21F5A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B979B-E608-4BAE-8E46-4642BFD7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8ADF-14E2-4787-98D3-79A563D8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080BE-B404-4EB7-ADFC-967A5C6A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1 | Training slows and GPU utilization falls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F6740-1250-4D00-9073-DA6582B4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WAVE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D8FEA-D9E8-4443-8BEE-604F08B4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2C8E8-62A9-407A-B0BB-4BED9B4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23E1-A42D-4E80-8407-535DA8FB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4AFEF-F5A5-4D61-BF9C-3EBC572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54BAD-754F-482D-AB66-D855734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Training 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9824-5EBA-497E-97BC-F7DD127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3 h → 6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ED2FF-01D8-414B-950E-9723DA7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Business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F4629-9AA9-48D2-8DFE-4EB815E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4206F-4C1B-4E68-910F-393058EC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GPU utilization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F397B-F33C-4912-8D74-2DFCDD5E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95% → 45%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F9F74-5FE5-4D31-959D-38D7375F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Accelerator starvation symptom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A1D1D-9478-49AD-92C4-296E547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FF2D4-4808-4E27-A7A0-B2D9827D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Dataset loading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697ED-0A3F-4759-A298-5AD0055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Slow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67D45-D93C-44F7-AEBF-A39E586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Data delivery path suspected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8B96B-E092-47DF-852C-F8B29B2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7B623-4B1E-4ED6-8362-191E0E3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Application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A5058-FB2F-4192-ADFF-F55EEB3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No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624A5-5625-4177-AFFB-36D81D01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Do not stop investigating other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258A6-E7CA-498E-8967-EA735730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A3057-FD2A-40FC-860B-499A7136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946F7-053E-4FAE-AEF5-1D8F4E2E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Dataset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33585-4B3E-49CB-8EEE-721BB3E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file / object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15CEB-C0B8-4F0F-9CBF-B0F2C1B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2F4BE-F7FC-4E32-8DC2-70E81712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C7E7F-0195-47C3-88CF-44F6758C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VAST endpoint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E64A7-8A3C-49B9-8B9A-44288746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or S3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AFDBF-85FD-4791-AC3C-7B9C3DE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86691-2FE2-418D-9F10-21BD6C80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2D234-17C0-4D64-934C-6800E8D7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Ubuntu client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7F6BA-3123-4547-B087-653A77D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loader +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337EA-5771-4454-96C4-8695A51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9575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A6CE6-0185-4DD6-A8C4-740E53D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95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E964D-E96A-4DD0-AD29-B702F366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2005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Training job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45F154-B09A-4B2E-A88C-7A8CB1D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619625"/>
            <a:ext cx="22907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GPU consumers</a:t>
            </a:r>
          </a:p>
        </p:txBody>
      </p:sp>
      <p:cxnSp>
        <p:nvCxnSpPr>
          <p:cNvPr id="87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7063" y="46005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72176" y="460057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77288" y="46005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6CB71A-800D-4E5F-8F16-BD01FA9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731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70F3ED-00E0-47C4-AF12-9F5B6693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0E778A-9CF6-4A8B-B8A3-2358DEA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0545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PARTICIPANT TASK | Form hypotheses and request the next evidence wave. Do not name a root cause yet.</a:t>
            </a:r>
          </a:p>
        </p:txBody>
      </p:sp>
    </p:spTree>
    <p:extLst>
      <p:ext uri="{BB962C8B-B14F-4D97-AF65-F5344CB8AC3E}">
        <p14:creationId xmlns:p14="http://schemas.microsoft.com/office/powerpoint/2010/main" val="187561961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9C5089-D692-42ED-920B-3EA3F2DF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6BB3E-DA21-4D35-B0F1-160170F1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31CDA-BCD4-449C-BD28-4348407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F815C-C4DE-4203-B36F-2B44BB4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1 | Evidence waves force cross-layer correlation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8CAB9-B017-481D-BF4C-6BDDEA9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EVIDENCE WAVES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9F158-F85D-4280-9891-3393B5E8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EBE33-483A-4191-98BD-9D87F00A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893C7-E490-4A72-A3FB-3EAC7FD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19001-F664-4B35-83F5-6F0A5569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7A8A2-3884-4ECA-AD71-9152EBF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5CD5E-14A4-4407-AD12-8582026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47800"/>
            <a:ext cx="502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Evidence released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3974D-8993-4414-AF6C-61D5F297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47800"/>
            <a:ext cx="4038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What it should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0BB0F-1017-4E8A-9E65-C28CAA9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22936-15EC-4E38-9F7A-B6C08730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1 ·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44BE3-C4F5-44A3-AB23-40AC890F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Batch throughput down; data-loader wait up; no code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3AE79-77DA-470A-A4E2-0EE39E4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050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Focus on dataset delivery, not model compute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9902E-8980-4D69-AE80-AECC9EF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C1E2D-1EC3-49FB-B39E-6F173F8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2 · Client + protocol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CC99D-12E9-4507-A9F7-F62A175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0040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CPU/memory acceptable; NFS/S3 latency and retries rise; queue depth higher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009BE-586A-4B06-ACFC-22B794D2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Move past a client-only hypothesis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90EEB-D935-4E91-ACC8-43E4A3A7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0F011-D5D6-49BA-9B20-A080590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3 · Network +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F717D-E43D-41C2-A92A-800CE28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9575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Packet loss/retransmits align; bandwidth plateaus; P99 latency rises; concurrent random I/O appears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611B0-94EC-4392-B995-E7CC44FD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9575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Rank network amplification vs shared contention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48D9C-7B2E-4252-B532-4EFF5B01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E7770-93BA-47AA-A785-687838C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2336"/>
                </a:solidFill>
              </a:defRPr>
            </a:pPr>
            <a:r>
              <a:rPr sz="1125" b="1" i="0">
                <a:solidFill>
                  <a:srgbClr val="122336"/>
                </a:solidFill>
              </a:rPr>
              <a:t>4 · VMS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F27AC-8F53-459C-B4F8-7AF606C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91100"/>
            <a:ext cx="502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No broad component failure; workload metrics and event timeline overlap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ACC5B-8121-4A9D-B784-C6685D3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91100"/>
            <a:ext cx="403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22336"/>
                </a:solidFill>
              </a:defRPr>
            </a:pPr>
            <a:r>
              <a:rPr sz="1125" b="0" i="0">
                <a:solidFill>
                  <a:srgbClr val="122336"/>
                </a:solidFill>
              </a:rPr>
              <a:t>Build causal mechanism and recovery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10E81-55A6-4FC0-BC16-8A759742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859D6-00E9-43CC-BD1F-C1C057C4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75B5C-439C-4E22-834E-EE87B78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61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REQUIRED CORRELATION | Application throughput • dataset-read rate • client CPU/memory • protocol • network • storage bandwidth/IOPS/latency • queue depth • contention • VAST alarms/events/logs.</a:t>
            </a:r>
          </a:p>
        </p:txBody>
      </p:sp>
    </p:spTree>
    <p:extLst>
      <p:ext uri="{BB962C8B-B14F-4D97-AF65-F5344CB8AC3E}">
        <p14:creationId xmlns:p14="http://schemas.microsoft.com/office/powerpoint/2010/main" val="126339255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1DEBD-634A-4C86-87B3-1666F77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C3C7E-26DE-4FE4-AADC-0DFCDA57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67DB4-4263-44F2-99D1-B5EFB151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M10 · CAPSTONE — AI TRAINING PERFORMANCE DEGRADATION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43905-F165-4B78-BE46-200A0F1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1 | Prove recovery with the original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2F86A-37BD-427F-A51A-D0BCB1B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13 · EXECUTE + DEBRIEF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3F1CC-A4DE-42E1-B3CC-2E44D5F5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6CBA-D657-4459-99FA-DDBBC51B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M10 · CAPSTONE — AI TRAINING PERFORMANCE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3293C-0ABE-4DB1-9C15-8F01A367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F5226-4401-4957-BE75-D764789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477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0F756-9544-4007-B010-EB83C94C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INVESTIGATION AND CONTROLLED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DCEAB-FC96-4134-AE44-E2BC8471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00C6B-FF9F-451C-9041-FA1F35B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-u; vmstat 1 30; iostat -xz 1 30; sar -n DEV 1 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8EB20-4084-4F12-B629-910856FA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312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nfsstat -m  # or mc stat lab/&lt;bucket&gt;/&lt;key&gt;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AB574-53E2-44CE-BCE8-79FB2182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174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ss -s; ip -s link show &lt;lab-if&gt;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0A9DC-9317-413A-B156-1DE5400D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036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sudo timeout 30 tcpdump -i &lt;lab-if&gt; -nn -w cap1.pcap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8ECB1-81BC-4BED-B3BF-CDF68F8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898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  'port 2049 or port 9000'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06F70-E624-4583-9580-67B04824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pgrep -af 'fio|stress-ng'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B4D80-18EB-4C42-9F5F-60D2053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622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# CONTROLLED LAB ONLY — stop competing workload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2EE34-98D0-482D-AFC0-EB73CC2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484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pkill -INT -f 'fio.*competing' || 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2C4EA-2B16-4BF8-B849-62CA4445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346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C86A"/>
                </a:solidFill>
              </a:defRPr>
            </a:pPr>
            <a:r>
              <a:rPr sz="1050" b="1" i="0">
                <a:solidFill>
                  <a:srgbClr val="FFC86A"/>
                </a:solidFill>
              </a:rPr>
              <a:t>pkill -INT stress-ng || true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5D18C-16D9-4568-BF71-67AA40E5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2080"/>
            <a:ext cx="61341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fio training-read.fio --output-format=json --output=retest.json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1EC56-7D83-4E02-82AB-3A7CF52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239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3E411-0988-4D87-8E7B-F6265CA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763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+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ACA6A-8056-469A-8DC2-10DED798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37909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Before/during/after dataset-read rate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Client, network, protocol, storage timeline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Queue depth and concurrent workload record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GPU utilization trend supplied as business evidence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Training-data throughput returns toward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4CB63-DD40-483E-9945-7DC8920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2A8C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DFAA5-7659-4102-83A6-19D1040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43E11-4A7A-48E0-9DD1-12F631B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C68"/>
                </a:solidFill>
              </a:defRPr>
            </a:pPr>
            <a:r>
              <a:rPr sz="1050" b="1" i="0">
                <a:solidFill>
                  <a:srgbClr val="2A8C68"/>
                </a:solidFill>
              </a:rPr>
              <a:t>SUCCESS CRITERION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B2A00-5752-4BD2-8696-A6A1D2BB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The team proves the causal mechanism, removes the controlled fault, re-runs the same workload, and documents prevention.</a:t>
            </a:r>
          </a:p>
        </p:txBody>
      </p:sp>
    </p:spTree>
    <p:extLst>
      <p:ext uri="{BB962C8B-B14F-4D97-AF65-F5344CB8AC3E}">
        <p14:creationId xmlns:p14="http://schemas.microsoft.com/office/powerpoint/2010/main" val="13678037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07FB5-BEFB-4943-8F76-289E6E75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E46F-AB31-4085-BB55-DD403F5A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BFB27-90DF-43E2-BBA1-A8C3B2D0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M8 · PERFORMANCE 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659F5-3686-48D2-9771-2C31FC3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Performance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0674A-8C87-48E5-9253-D3B9497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E51DA-B846-4153-B535-8698233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268DE-46B6-404E-903C-0F1FAB23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M8 · PERFORMANCE 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412EB-4A16-4069-955F-62EBF523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0BCF-3DAD-4D2A-B180-0631D8EB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7ABA0-DD7E-4DC8-8CF0-1C0D0672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An AI job doubles in duration and data loading slows. What comes first?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DA3E8-BBC8-4CD2-B2F5-E85439D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UI theme     B End-to-end data-delivery path and baseline     C Model accuracy only     D Capacity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001B7-EEF9-4751-BFA2-3CE3A70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C0037-B726-4B29-962A-137467F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CE888-CB0B-4FAE-9086-3D94124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most strongly indicates a client-side bottleneck?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07A76-222D-4AFD-AEB5-D3BFC46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One client slow while storage and peers are healthy     B Every client slows     C All links lose packets     D Cluster latency rises globally</a:t>
            </a:r>
          </a:p>
        </p:txBody>
      </p:sp>
    </p:spTree>
    <p:extLst>
      <p:ext uri="{BB962C8B-B14F-4D97-AF65-F5344CB8AC3E}">
        <p14:creationId xmlns:p14="http://schemas.microsoft.com/office/powerpoint/2010/main" val="102987058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DD652-43E4-43DC-8081-47209B3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5D97-F107-49CF-B224-F32146D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BD12D-0AFE-4662-89CD-3FC5F3FF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BBD23-E34F-4BBA-9099-0F61276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Module 9 | Logs become useful when normalized into a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76AC6-DB88-40CC-BAE7-5DA7D919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D1BF1-7F17-471B-8982-A76DF630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B893-EEBE-4C43-BE08-57289BF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490E-EEDC-49F0-8DFA-250EBF8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55ABB-ECC6-45F8-8728-BFEB813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FD859-4973-41AC-962D-AA0CE1D6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MODULE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64AB-053D-421E-955A-1DDFDE9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Collect diagnostic data, correlate events, identify failure patterns, assess operational health, and discuss backup, high availability, and disaster recovery.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DACB4-07D2-4F0C-9107-6CCEA8D8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51173-5626-442E-BDCE-A5DA19E5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PRODUCTION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669C5-9510-443C-B59A-1E20C36E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66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Normalize timestamps and preserve the incident window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Match identifiers, components, metrics, and user impact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Turn recurring signatures into preventive detection</a:t>
            </a:r>
          </a:p>
          <a:p xmlns:a="http://schemas.openxmlformats.org/drawingml/2006/main">
            <a:pPr algn="l">
              <a:defRPr sz="1575" b="0" i="0">
                <a:solidFill>
                  <a:srgbClr val="122336"/>
                </a:solidFill>
              </a:defRPr>
            </a:pPr>
            <a:r>
              <a:rPr sz="1575" b="0" i="0">
                <a:solidFill>
                  <a:srgbClr val="122336"/>
                </a:solidFill>
              </a:rPr>
              <a:t>• Separate HA, backup, RPO, RTO, and DR objectives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743C6-9EC2-4944-A0ED-985342E6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714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C924D-53D7-4E68-AE6A-83AC48E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95A3A-EF0A-4A29-9343-22600D4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ENVIRONMENT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11A67-A71D-474D-9670-46F25CF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352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VAST Data Labs: events, activities, alarms, supported workflow. Ubuntu: journalctl, dmesg, service/container logs, evidence script, and controlled incident timeline.</a:t>
            </a:r>
          </a:p>
        </p:txBody>
      </p:sp>
    </p:spTree>
    <p:extLst>
      <p:ext uri="{BB962C8B-B14F-4D97-AF65-F5344CB8AC3E}">
        <p14:creationId xmlns:p14="http://schemas.microsoft.com/office/powerpoint/2010/main" val="37008493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73A25D-519A-4A13-907D-73BCB47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D0CA8-ED07-4D6F-96EA-3817F19F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99625-C528-4FAE-A379-FD985050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5694C-2400-4132-BF4B-D833298E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Diagnostic bundles preserve transient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51784-DF9A-4CC6-90AE-E7177D8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8597D-BA8C-47C1-97D1-1B1D01CC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EB01C-632A-46A1-A109-B2CF8A49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DCF1D-9528-4C3C-B357-958ECBD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1247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7D4DC-4A09-4749-858D-F410E9AD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678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COLLECT-EVIDENCE.SH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791AE-84E6-40F4-A771-1E288EF9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1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8D6FF-D10B-49E9-85EE-E074B0A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D2C7"/>
                </a:solidFill>
              </a:defRPr>
            </a:pPr>
            <a:r>
              <a:rPr sz="975" b="0" i="0">
                <a:solidFill>
                  <a:srgbClr val="5FD2C7"/>
                </a:solidFill>
              </a:rPr>
              <a:t>#!/usr/bin/env bash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5F90-4421-4383-A40D-E7778E6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set -u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21F72-32EC-4B43-9EA5-3ADD877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ts=$(date -u +%Y%m%dT%H%M%SZ); out="vast-evidence-$ts"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0371-2ACD-4365-8E7E-FD92842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mkdir -p "$out"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98615-9AA6-4255-851C-45549AA1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{ date -u; uname -a; free -h; df -hT; } &gt; "$out/host.txt"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2A03B-F1DE-43DD-B3AD-C18F7689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ip -s link &gt; "$out/ip-link.txt"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66ECF-DC8E-4AEB-852A-4440EE8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ss -s &gt; "$out/ss-summary.txt"; ss -tanp &gt; "$out/ss-tcp.txt"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481FF-3B72-4691-B57C-007541B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vmstat 1 5 &gt; "$out/vmstat.txt"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EB2D4-1E44-44AB-B938-A7E377E0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iostat -xz 1 5 &gt; "$out/iostat.txt"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D16F9-FB14-46EA-BD5C-A45FCBC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journalctl --since '-15 min' --utc &gt; "$out/journal.txt"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6ADAC-D79C-4EA7-8826-2E10437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dmesg --ctime | tail -n 300 &gt; "$out/dmesg.txt"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B854A-D961-4360-AEAC-0DF3A3A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tar -czf "$out.tar.gz" "$out"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0E929-F1CE-413C-8B7E-F08F463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E7F5"/>
                </a:solidFill>
              </a:defRPr>
            </a:pPr>
            <a:r>
              <a:rPr sz="975" b="0" i="0">
                <a:solidFill>
                  <a:srgbClr val="D7E7F5"/>
                </a:solidFill>
              </a:rPr>
              <a:t>sha256sum "$out.tar.gz"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67653-3299-45CA-B4DA-1B23C1FC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049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FD7F5-BD8D-480E-80F4-D7ED642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57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COLLECTION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98D59-3E66-4841-9497-3CCD1ED8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Use UTC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Record exact incident window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Minimize sensitive data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Preserve raw files and checksum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Add VMS evidence separately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• Document every recovery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29CD3-A481-4CA5-B316-6C862262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F815C-AA18-440F-AEE0-007B01B6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9D4C8-327C-4CED-A1AD-7E2F693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9116"/>
                </a:solidFill>
              </a:defRPr>
            </a:pPr>
            <a:r>
              <a:rPr sz="1050" b="1" i="0">
                <a:solidFill>
                  <a:srgbClr val="D99116"/>
                </a:solidFill>
              </a:rPr>
              <a:t>PRODUCTION CAUTION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6EE51-8E84-43F1-A3F5-BC26ADFA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Review the bundle for secrets, credentials, personal data, and capture scope before sharing.</a:t>
            </a:r>
          </a:p>
        </p:txBody>
      </p:sp>
    </p:spTree>
    <p:extLst>
      <p:ext uri="{BB962C8B-B14F-4D97-AF65-F5344CB8AC3E}">
        <p14:creationId xmlns:p14="http://schemas.microsoft.com/office/powerpoint/2010/main" val="180374156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176D5-2C55-4406-B443-B4CE16E5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35E40-23FA-48C1-89F7-993D40E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5D771-9C39-44C9-A9AF-0029FE1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8AC9E-D6D4-47EE-A861-CD42DB74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12 | Collect logs and build an incident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59E13-3B4D-401C-968A-3AA0AA9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PREPARE +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328B6-E571-4768-8483-82467C4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D9162-C05A-4FB0-81A6-803A9A5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8A50C-A730-4922-905A-B6246FC6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598AE-19CF-48E8-B24C-CC428AFF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781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497E3-B554-40FE-B5A9-F87CE538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4CF95-23A2-4B90-8B10-C4D1E623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21DEB-AE9A-4EBC-A1D1-1895B41C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641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Create a time-aligned evidence bundle and reconstruct symptom, trigger, action, and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8332B-E0D0-4643-A7AD-E2D00B25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962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E11EA-8B31-45FD-9E06-3A790E3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D8D4F-47EC-4F9D-BB6D-6287776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3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4747"/>
                </a:solidFill>
              </a:defRPr>
            </a:pPr>
            <a:r>
              <a:rPr sz="1050" b="1" i="0">
                <a:solidFill>
                  <a:srgbClr val="C64747"/>
                </a:solidFill>
              </a:rPr>
              <a:t>FAILURE SYMPTOM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95931-B8CE-42D8-8F6C-9602B63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Teams have many logs but cannot explain event order or causality.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CFEA3-0408-4CBE-8B21-A37E678D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D4AC8-7DDD-43A7-A62B-084AF56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DABC0-AD52-40E9-BA0F-258A482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Ubuntu client/service logs + packet/metric evidence + VMS alarms/events when available → one UTC timeline.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E664B-971E-459C-8C9F-A39D9F2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A4498-68A8-495D-B22C-A8EF6DE9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PRECONDITIONS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3FC21-783C-4CD6-98B0-D7F874C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Known incident window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UTC clocks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Writable evidence directory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Sensitive-data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9F2E6-4826-4B84-A990-F825C3D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1216A-CE6A-4A5F-91C4-20C0FA7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INVESTIGATION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4CBC7-F599-4DE0-ADC0-A94A5A2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5048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1. Define window and identifiers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2. Collect raw evidence before restart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3. Normalize UTC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4. Mark symptom onset and changes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5. Link metrics and logs</a:t>
            </a:r>
          </a:p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6. Write causal statement and gaps</a:t>
            </a:r>
          </a:p>
        </p:txBody>
      </p:sp>
    </p:spTree>
    <p:extLst>
      <p:ext uri="{BB962C8B-B14F-4D97-AF65-F5344CB8AC3E}">
        <p14:creationId xmlns:p14="http://schemas.microsoft.com/office/powerpoint/2010/main" val="167454213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AA019-4433-4345-9538-EB9B6B27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FF7A6-5925-48D1-9A67-4E0CDB97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0A34-1175-4B7C-8074-D9EE80D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06FD6-B751-41A9-8210-668E30CF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Lab 12 | Collect logs and build an incident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21BF2-78E8-4465-962A-092FBBC5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EXECUTE +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66D71-9532-4B04-97D5-645C802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318FE-CDEB-4F56-A7AC-F7B412F9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C5A4E-FB59-4922-8DBC-7975E0F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4D932-506E-47CF-B66C-0B1CC37D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47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193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5BC4C-F012-492F-B96C-92B2B27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EXACT COMMANDS / VMS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4F16E-DDDA-4A02-A689-0A412D7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7D83C-38EC-4734-9381-B8B500CD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date -u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634AE-012F-421C-AA42-BBBCC3B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3606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-u nfs-kernel-server --since '&lt;UTC-start&gt;' --until '&lt;UTC-end&gt;' --utc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8A5BE-9B8F-4C5E-87BF-DFD08D75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1763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journalctl -u smbd --since '&lt;UTC-start&gt;' --until '&lt;UTC-end&gt;' --utc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B2412-7D9B-43E2-A650-121421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9919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docker compose logs --since=15m minio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359A7-C93D-480D-9884-25199CD2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dmesg --ctime | tail -n 200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53B2D-F9D6-4D2F-8DCF-6CEB975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6231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ip -s link; ss -tanp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DC22B-B3E5-4C5E-9511-A148178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4388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tar -czf incident-evidence.tgz &lt;evidence-dir&gt;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831D1-24F4-49A9-9753-00D4C65F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2544"/>
            <a:ext cx="6134100" cy="50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E7F5"/>
                </a:solidFill>
              </a:defRPr>
            </a:pPr>
            <a:r>
              <a:rPr sz="1050" b="0" i="0">
                <a:solidFill>
                  <a:srgbClr val="D7E7F5"/>
                </a:solidFill>
              </a:rPr>
              <a:t>sha256sum incident-evidence.tgz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6EB71-2CDD-43D0-8A24-74F92E4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77806-E2DA-44CE-B7EE-D8963CF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19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EXPECTED MOVEMENT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49606-E057-4CF9-8D0D-1C35D967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The timeline distinguishes symptom onset, trigger/change, supporting evidence, recovery action, and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D1CB0-F27A-4A36-8356-89F1BC4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78AD0-5A17-4FCC-A71D-F0B4F02D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EVIDENCE 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91F33-A802-4B50-9060-6E4AA73B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9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Raw logs, checksum, metric window, alarm/event details, pcap reference, and timeline 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4EACAD-5D83-4E7D-BADC-3367651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26302-A5DE-4F86-9E95-B2FF3519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CLEANUP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E589B-BBC2-48F2-B8FD-E1BB5FB0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Remove temporary captures after approved retention; preserve the final sanitized bundle and report.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EDCC3-A53D-433D-95A9-D5B8F4D3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BA408-D97C-4B22-A1BE-7BE3411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SUCCESS CRITERIA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90BB1-7A2D-4E37-BCBD-6D2FCD9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Another engineer can follow the evidence and reproduce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83521393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19382-AC9A-4551-9A26-0D4F90A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FE99-E308-4ABF-8478-F64539FD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5FCF0-A6BE-4899-BB31-4F24D3F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A5B95-6FF3-4024-B441-553818A3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HA, backup, and DR protect different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11A5-F871-4873-8187-B0C61B3D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CONCEPTUAL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0E60E-9F7F-4B2C-BB78-74F485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8840F-E484-4D73-A291-B18300B6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85C6E-5715-4CE3-9A68-0AC01162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70183-B311-46C0-AC79-F190D2BE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013CB-4922-4E63-98CE-9C3853C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F2376-45A1-4BBD-9B61-D9766B33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Production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86578-27D3-4C8D-A818-69A2C3C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live data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A057D-1E13-4714-B2B0-8F4D117F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9B880-B63B-470D-86C3-2A4BADE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F5324-C103-4E1D-BD85-3461C9A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97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High 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1A40B-548F-420F-AB5F-72A3891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88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redundancy + failover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A1941-7A46-4BED-B600-C73B256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B7FF2-531B-4C7F-A176-122139F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A6B2D-971A-404B-93C7-2468FA41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909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Backup copy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5C3FF-8BA6-4914-8688-7D509F5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100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independent restore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734CB-260B-411A-A937-675FAFCB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2D565-4F7A-41EE-9EDC-EA3E00D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E36FC-18AB-424E-8E88-46F853B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909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Disaster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919AD-2C49-45BA-887D-359057B3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00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alternate recovery location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EBDFE-D473-422A-9582-E1C10A7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86200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19050">
            <a:solidFill>
              <a:srgbClr val="D991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FABEF-EAAA-4A2E-9C21-B4EE57A3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862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9FA4C-EB60-4CD2-BBEF-7AD8C0B1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0975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RPO / RTO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4B55A-F6F0-43CA-A68C-35898A6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10075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business objectives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90850" y="24384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A6A6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990850" y="2438400"/>
            <a:ext cx="723900" cy="1981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96000" y="2438400"/>
            <a:ext cx="1238250" cy="1981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096000" y="44196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9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9116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78964-9A98-4754-9325-356F06C4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868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2392E7-8F0B-4295-98AD-362A1111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0C164C-ACF9-4C6C-8313-038BF35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34000"/>
            <a:ext cx="832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INVESTIGATION RULE | Capture evidence before failover. A successful failover restores service; it does not identify root cause or replace backup validation.</a:t>
            </a:r>
          </a:p>
        </p:txBody>
      </p:sp>
    </p:spTree>
    <p:extLst>
      <p:ext uri="{BB962C8B-B14F-4D97-AF65-F5344CB8AC3E}">
        <p14:creationId xmlns:p14="http://schemas.microsoft.com/office/powerpoint/2010/main" val="83386183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96AC1-D740-4BFC-8017-737BD53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863E5-1B4D-4FD9-A12B-53229A1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7AE80-6432-40F1-AE05-0F11FF5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M9 · LOG ANALYSIS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29F79-FE89-4A1A-9C3B-4AEE6DA6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Knowledge check | Logs and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68AFC-6C84-4C21-90B5-3599BEC0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KNOWLEDGE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CC40D-5CFD-4827-8384-1C88BCC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11AAD-A255-4752-9093-3BCB496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M9 · LOG ANALYSIS AND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95E0C-C8F8-4E27-9E1A-56EEEC1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4AA5A-90AA-468E-9337-771DFEB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E0E66-BD86-41BD-B573-4039CCF5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is the first step when collecting logs from multiple systems?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695B8-0A4C-48E8-B1BF-FDC8AE0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Normalize timestamps and preserve the window     B Delete duplicates     C Collect successes only     D Restart all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3C6A6-456A-43E5-92EE-E91E78CA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28EF8-5DD7-4479-809F-B4F75923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77C8"/>
                </a:solidFill>
              </a:defRPr>
            </a:pPr>
            <a:r>
              <a:rPr sz="2250" b="1" i="0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1BB44-91EA-49FD-9FCC-483F03E2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336"/>
                </a:solidFill>
              </a:defRPr>
            </a:pPr>
            <a:r>
              <a:rPr sz="1650" b="1" i="0">
                <a:solidFill>
                  <a:srgbClr val="122336"/>
                </a:solidFill>
              </a:rPr>
              <a:t>What does RPO define?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076DF-D2E9-4759-981D-835E771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67A"/>
                </a:solidFill>
              </a:defRPr>
            </a:pPr>
            <a:r>
              <a:rPr sz="1350" b="0" i="0">
                <a:solidFill>
                  <a:srgbClr val="52667A"/>
                </a:solidFill>
              </a:rPr>
              <a:t>A Restoration time     B Maximum acceptable data-loss window     C Queue depth     D Bandwidth</a:t>
            </a:r>
          </a:p>
        </p:txBody>
      </p:sp>
    </p:spTree>
    <p:extLst>
      <p:ext uri="{BB962C8B-B14F-4D97-AF65-F5344CB8AC3E}">
        <p14:creationId xmlns:p14="http://schemas.microsoft.com/office/powerpoint/2010/main" val="125231323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911912-9449-4792-87B7-A2054208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BF9CB-8071-4EF5-AF7C-4D79336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E9112-9DD7-4789-94C1-BA8E177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07473-08B6-46CC-BE32-A3B8011C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2 | Intermittent dataset access fails across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2E416-D783-44D5-9D60-473C0385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EVIDENCE WAVE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56069-01D9-4DCE-A004-05956E2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6E7F-A552-4A01-8E1A-40E3AFC5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E7740-6808-4653-A2E7-7275B58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3A004-279F-4842-B90D-0C712D5B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0120E-D9F4-4D17-AB5F-13A4540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CD5CB-67C5-45D0-B730-B73D570A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File not 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BCE52-AC1E-4415-B3F1-F032DAC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Intermittent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D0091-5678-46A2-8E92-DC395FD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70E81-E2EB-4F6B-9E76-0B58C919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Browsing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376A7-7F28-4B16-B55F-809FB630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Slow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26F5E-0D22-481F-BDCA-4CD8566B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Namespace walk affected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5E63C-253F-454C-B08B-C614974A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73B3D-FD89-4A2B-95A4-E771BED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29E5D-6D89-401F-88BA-B24FA93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Mixed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A5FD2-2B84-4393-8B6B-7D09CE7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Some succeed; others fail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C4C56-63EC-4FDB-BAF4-7E2647B2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9065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B9E21-040B-4651-955E-CDF1D93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6210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E8CDE5-1410-4DC1-B015-49B7554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0500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Increasing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04217-BD06-4B84-B425-8FC4F79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6220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Pressure is plausible, not proven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E4972-76C6-438B-BE4E-B0C1FC8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2C0B9-9215-4627-9B2F-B116AA56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0A242-F5DD-41B9-B8E9-4298003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Dataset producer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5F7DE-E303-4853-8AEA-16EB9BC9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create • rename • delete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2CAA9-8E53-4645-82B5-DE79D8F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B4592-63C3-4311-8CF0-7DCDEA2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A04B5-D7E4-4A74-A42E-ECD48C2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Namespace /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9E699-4833-42B5-98F8-524BC67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path + 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0F7D8-2A94-43E7-A36E-FA4D8BC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1BF7A2-01AE-4BC4-B159-3A4EBE5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A26FC-9B53-41D6-902B-7F93AC2A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A8EA3-43B4-4D97-BCCB-DF73AD2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NFS • SMB • S3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B390B-18A8-48BB-9E53-8DD5FC81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19550"/>
            <a:ext cx="255746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9A0427-754F-4135-959A-D009CB3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0195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091A65-7440-4BFE-8085-16229084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1243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Training clients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CEAC7-705B-4265-96B0-CF8B379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543425"/>
            <a:ext cx="22907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identity + cache</a:t>
            </a:r>
          </a:p>
        </p:txBody>
      </p:sp>
      <p:cxnSp>
        <p:nvCxnSpPr>
          <p:cNvPr id="87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7063" y="4514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72176" y="4514850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77288" y="4514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DD1386-9B33-4F28-A1AD-F28A77C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906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EBFE30-5F30-48B7-9AA7-3F33FA81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2088E9-9CA4-403B-A5B0-76A7ABE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10200"/>
            <a:ext cx="870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REQUIRED SCOPE | Exact path/key • client identity • View/export/share/bucket • authn/authz/ACL • capacity/metadata • lifecycle/rename/delete • cache • network/protocol • correlated logs/alarms/events.</a:t>
            </a:r>
          </a:p>
        </p:txBody>
      </p:sp>
    </p:spTree>
    <p:extLst>
      <p:ext uri="{BB962C8B-B14F-4D97-AF65-F5344CB8AC3E}">
        <p14:creationId xmlns:p14="http://schemas.microsoft.com/office/powerpoint/2010/main" val="6556783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A81073-1D25-436B-AA07-1FE5A92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0D525-4663-4CCC-95DE-2E425303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A9A9D-6922-4652-80D6-4C50ACE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C4DD2-EBDF-4BE5-AF56-28AA68F0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Capstone 2 | Separate missing data from missing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FC60B-EC0A-4CD1-A34D-748F74DE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EVIDENCE WAVES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118DD-D584-497D-92FB-3ACC1861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C056C-C85B-4FF3-838D-B4A766F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1AF1E-A47E-4B8A-A6AA-80BF141C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0827-E6BA-4C1A-A4DC-216E1659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9E26B-A2AA-40D9-B60A-A19FB0D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FDDF5-24CA-432E-BA2F-9B3EB071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14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Failing jobs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1187-71DB-4338-B0E4-B608701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14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Successful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C1153-E975-4617-BDD7-99FC37BD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144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E1610-E424-410F-9451-111051E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F167B-E70D-4D79-9BD4-9309B9A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Path /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FC044-FAEF-4685-98F9-3D204AA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24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/datasets/v7/shard-042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2213-89A1-41D6-BAC9-2091FCB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24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/datasets/current/shard-042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E925F-C27A-4AB1-BADE-2F9445E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Client path mapping differs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F4FEF-66FE-4EED-A3D0-AFA192C1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9E3FC-1CBC-4108-AE04-827B8E98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D2B97-26D1-4706-9233-BA21A44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trainer-a / UID 2001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8832C-E5F4-49DC-B010-81D7E681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trainer-b / UID 2002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BF932-75C3-4308-9A9A-113C0D4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Identity may affect View/ACL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ADB86-7AE4-4823-AD7D-E0A5EB5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8AFF6-2ECC-46D9-A16C-DE089035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Namespace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CB96A-0F8C-4A27-9130-8F04BB9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Rename/delete at 10:14:22Z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666E4-B556-405A-BC9D-D428E40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Reads before/after window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870A4-ACCB-421F-9C92-69055A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Concurrent publish operation aligns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D176A-083C-4C68-9308-5EB27D4C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4D48F-834A-4772-931C-53B6F84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Protocol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D3A58-7ACD-46EC-B1F6-90B6BCD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NFS lookup retries / S3 404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14748-A84D-4AB9-A3C4-D154FB77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Normal lookup/200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10456-CB52-4062-8DFA-FF7987F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Name resolution, not payload latency alone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160E6-0037-4DF8-93B1-437F70D0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0AAD02-87CB-4B9C-BB69-0A201AB4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Capacity / metadata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B0E3E-EE9A-425D-B0F9-B06A3308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148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High growth; browse P99 elevated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65F8C-C6C5-401F-A56F-23A5713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148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Same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F98E35-3BE1-4E22-A1A4-FA366516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148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Contributing pressure; not client-specific proof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EA6D1-EDA3-423F-8C1C-1C3AF723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F0A7D-941C-4178-9EBB-6CC5C700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Network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8A5FA-4D33-46FD-BBA8-40E7901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62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 shared loss spike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9ACC32-918D-461D-A139-3BF2A583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Normal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1F507E-BFCA-41B5-ABBE-AE365B2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625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2336"/>
                </a:solidFill>
              </a:defRPr>
            </a:pPr>
            <a:r>
              <a:rPr sz="1050" b="0" i="0">
                <a:solidFill>
                  <a:srgbClr val="122336"/>
                </a:solidFill>
              </a:rPr>
              <a:t>De-prioritize network root cause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A4B99A-7968-4D94-B953-113E7CB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9"/>
          </a:solidFill>
          <a:ln xmlns:a="http://schemas.openxmlformats.org/drawingml/2006/main" w="9525">
            <a:solidFill>
              <a:srgbClr val="D9911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F78AA2-92D6-4F17-855D-6C3DFD19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D1B351-2BE5-494B-95DD-7AE97C0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INVESTIGATION MOVE | Reproduce with exact client identity and exact name; correlate rename/delete/lifecycle and cache state before changing permissions or restoring data.</a:t>
            </a:r>
          </a:p>
        </p:txBody>
      </p:sp>
    </p:spTree>
    <p:extLst>
      <p:ext uri="{BB962C8B-B14F-4D97-AF65-F5344CB8AC3E}">
        <p14:creationId xmlns:p14="http://schemas.microsoft.com/office/powerpoint/2010/main" val="33754264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9CF3DA-CCBC-414C-827B-005D92C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4D9CA-9D8D-4E12-ACBC-C55AC54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01AE5-AC1C-43FF-B801-A3E3661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D2C7"/>
                </a:solidFill>
              </a:defRPr>
            </a:pPr>
            <a:r>
              <a:rPr sz="750" b="1" i="0">
                <a:solidFill>
                  <a:srgbClr val="5FD2C7"/>
                </a:solidFill>
              </a:rPr>
              <a:t>M11 · CAPSTONE — AI DATASET ACCESS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19E32-6002-4D4E-A9BB-D430B572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Capstone 2 | Recover access and report the causal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5893E-A241-499E-BA65-38011759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LAB 14 · DECIDE + RECOVER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A7591-F232-4CFB-9407-03025220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DE03D-C663-408D-AAE7-3590EFE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M11 · CAPSTONE — AI DATASET ACCESS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A7DEC-A769-4239-ABBC-C81AB2FC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300EE-84A6-48DC-A70B-89F03580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17E63-6E1C-4EF4-B4B7-7B14BD41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3D330-1D8E-4B4F-B152-D67433E5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Does the exact name exist?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C9470-1689-402D-9626-B0E09DA2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5344C-88BA-4AEA-966E-7571847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74552-0717-454C-9438-8C7E3CD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Same result for exact identity?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D1186-96AC-4A22-9DB6-21090288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2343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33551-FF9D-4471-987D-B98FC023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9BD34-432B-4898-AD0B-0D56C6F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76375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Concurrent namespace change?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DB694-4FE5-4893-B13C-7C3B760D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9323A-B44A-48AE-A44C-9DDB24F0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906F4-C6C3-4BB8-B8CB-6863F6AD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7637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336"/>
                </a:solidFill>
              </a:defRPr>
            </a:pPr>
            <a:r>
              <a:rPr sz="1350" b="1" i="0">
                <a:solidFill>
                  <a:srgbClr val="122336"/>
                </a:solidFill>
              </a:rPr>
              <a:t>Capacity or protocol error?</a:t>
            </a:r>
          </a:p>
        </p:txBody>
      </p: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5275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10650" y="17526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3E168-B801-4D34-AACA-4472089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E0CB5-02BD-475A-B76E-A587293A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RECOVERY CHECKLIST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0836F-6A94-422D-BD2E-5BF9A32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953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Freeze or coordinate the publishing/lifecycle job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Restore the intended canonical path or object key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Correct the client path mapping and minimum required ACL/policy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Invalidate/retest client cache only after evidence capture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Validate all representative identities and protocols</a:t>
            </a:r>
          </a:p>
          <a:p xmlns:a="http://schemas.openxmlformats.org/drawingml/2006/main">
            <a:pPr algn="l">
              <a:defRPr sz="1275" b="0" i="0">
                <a:solidFill>
                  <a:srgbClr val="122336"/>
                </a:solidFill>
              </a:defRPr>
            </a:pPr>
            <a:r>
              <a:rPr sz="1275" b="0" i="0">
                <a:solidFill>
                  <a:srgbClr val="122336"/>
                </a:solidFill>
              </a:rPr>
              <a:t>• Confirm capacity headroom, errors, alarms, and browse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CA98F-7167-42A4-A9B9-28365EC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12656-9989-4372-A84B-5A903BE8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336"/>
                </a:solidFill>
              </a:defRPr>
            </a:pPr>
            <a:r>
              <a:rPr sz="1275" b="1" i="0">
                <a:solidFill>
                  <a:srgbClr val="122336"/>
                </a:solidFill>
              </a:rPr>
              <a:t>FINAL ROOT-CAUSE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F4FF5-89CA-4342-8453-5A19960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47911-DC17-446B-B9BF-A5099862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D3628-137B-42C7-AAFD-721EECA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Required 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BED12-A4AF-40E4-A30D-3CE20546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944467-A689-4221-9476-DE02B83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Impact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081FF7-B120-45A9-AD9E-34FFD67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Teams/jobs, duration, dataset, business effect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688409-99C3-4DA5-AE56-BD9602C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E5B5F0-CA2F-4416-9527-1BAC8E3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Timeline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251F7-D477-450E-BDA6-2FFB86C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First symptom, publish action, recovery,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3B40A7-B924-4403-8D20-751069DD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675F49-61EC-4924-AC7A-60A57B3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F88B48-2093-471F-9D87-85B2FA2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Exact names, identities, logs, metrics, alarms/events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CA712A-BBB5-4176-87B5-5F15F67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E5296A-979E-4FFD-83EB-F2F91A5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Cause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BF945B-8AEA-40FB-A8AC-4694934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Mechanism linking operation/configuration to failure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7C879B-E3A9-4A0E-AD3D-DACC04C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495A58-5B57-4A51-95BE-F268455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Recovery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27CC5-AD6D-41FB-83E5-92096D95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578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Action, rollback, all-client validation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9918CD-BED8-45BA-B922-F6EFB392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007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0E26BB-3F31-4197-AB3B-838ECE4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95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336"/>
                </a:solidFill>
              </a:defRPr>
            </a:pPr>
            <a:r>
              <a:rPr sz="975" b="1" i="0">
                <a:solidFill>
                  <a:srgbClr val="122336"/>
                </a:solidFill>
              </a:rPr>
              <a:t>Prevention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DF6C01-A817-4E58-904B-1278BC76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959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22336"/>
                </a:solidFill>
              </a:defRPr>
            </a:pPr>
            <a:r>
              <a:rPr sz="975" b="0" i="0">
                <a:solidFill>
                  <a:srgbClr val="122336"/>
                </a:solidFill>
              </a:rPr>
              <a:t>Atomic publish, path contract, alerts, capacity headroom</a:t>
            </a:r>
          </a:p>
        </p:txBody>
      </p:sp>
    </p:spTree>
    <p:extLst>
      <p:ext uri="{BB962C8B-B14F-4D97-AF65-F5344CB8AC3E}">
        <p14:creationId xmlns:p14="http://schemas.microsoft.com/office/powerpoint/2010/main" val="147145850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B1DA09-1713-4C15-B385-291BE83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4C162-5FC9-443B-A444-B5AA814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BC393-226A-490B-B962-B66E8B11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D0EA1-4C93-4E3E-81CC-860A990E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Production acceptance requires safety, evidence, and sign-off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D4141-7E04-44DE-99B3-DB180DB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FC3D4"/>
                </a:solidFill>
              </a:defRPr>
            </a:pPr>
            <a:r>
              <a:rPr sz="825" b="1" i="0">
                <a:solidFill>
                  <a:srgbClr val="AFC3D4"/>
                </a:solidFill>
              </a:rPr>
              <a:t>GO / NO-GO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77F99-EC8A-4A6E-915E-40E4FC62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EEF4C-A2A5-4983-8EBE-6EA7D6FA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COURSE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59135-1FEA-478A-BBA7-1ABF5CE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B0F96-1C2F-42B7-8A9D-1EFF788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4C950-8E05-48D3-AF95-8DD76BE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DD0A4-DA2D-41AA-8724-CFB4F0F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335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Acceptance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472A4-14DC-4119-A8FB-2207E483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4F482-769F-4DC2-A31E-0EC68DF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Read-only by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764F2-3501-41DA-8D4C-8A0F15B2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Write/change steps are separately approved and target a disposable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D536E-0C33-49C4-A597-054479CC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AE97F-5C36-4198-A006-4EB0705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UTC timestamps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8B719-99B7-45B9-98B7-63E8CE9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Clients, VMS, APIs, logs, metrics, and operator actions share one 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A65A9-75A9-4FA8-AB5E-A2B27BC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BBF47-E58E-41DB-8C1C-DBFECB6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Approved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D49E9-13B4-4EE6-8520-8AA3451E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Exact View/share/export/bucket/path and owner are recorded before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EE9B8-4519-4092-9FB5-DE8C5876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389ED-63C9-4D50-AFCC-059087EB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8837F-B947-4DCB-A3BE-9201993A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Trigger, command/procedure, operator, and validation are rehearsed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AC43D-6925-48CD-AD40-90A649E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0A40A-8249-4D35-B16C-D6CECA70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Evidence bundle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693F5-0B43-4E31-86F3-F37D77A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3865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Raw artifacts, checksums, secrets review, scope, and evidence labels are complete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2E16F-10B1-4788-AC58-E08470FF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23173-95C7-44A6-9495-EFDE8B9C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336"/>
                </a:solidFill>
              </a:defRPr>
            </a:pPr>
            <a:r>
              <a:rPr sz="1200" b="1" i="0">
                <a:solidFill>
                  <a:srgbClr val="122336"/>
                </a:solidFill>
              </a:rPr>
              <a:t>Customer sign-off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F2644-5EFA-45B0-A6CA-610CD76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336"/>
                </a:solidFill>
              </a:defRPr>
            </a:pPr>
            <a:r>
              <a:rPr sz="1200" b="0" i="0">
                <a:solidFill>
                  <a:srgbClr val="122336"/>
                </a:solidFill>
              </a:rPr>
              <a:t>Impact, cause, action, residual risk, prevention owner, and closure are accepted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8E401-9DD0-4279-982F-DA394AD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C647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41E59-ABC4-4C02-96E1-C6D58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26DAC5-7CB8-49EE-8B75-D497FC5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061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2336"/>
                </a:solidFill>
              </a:defRPr>
            </a:pPr>
            <a:r>
              <a:rPr sz="1050" b="1" i="0">
                <a:solidFill>
                  <a:srgbClr val="122336"/>
                </a:solidFill>
              </a:rPr>
              <a:t>NO-GO | Stop when authorization, target identity, data ownership, capacity headroom, rollback, or credential protection cannot be proven.</a:t>
            </a:r>
          </a:p>
        </p:txBody>
      </p:sp>
    </p:spTree>
    <p:extLst>
      <p:ext uri="{BB962C8B-B14F-4D97-AF65-F5344CB8AC3E}">
        <p14:creationId xmlns:p14="http://schemas.microsoft.com/office/powerpoint/2010/main" val="57836768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8A848-1199-4B2D-8F96-F7F62501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2315F-4548-4965-9EC2-466CA228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2F88-F216-46B1-9719-B5CB9197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66A14-E752-4892-B133-954F694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Post-test | Demonstrate applied troubleshooting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CEA51-03C4-493E-9B4F-466DD285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4C2B1-7B44-4957-9608-9A820F7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F5E27-7B12-4827-87AC-B6B37528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92AE0-881E-4BD6-84E6-A48D26D0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B1C2F-FBEF-47A7-9220-277E3EF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5FF91-3A40-4FAB-91A4-93DF0EB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90816-3589-4DF9-813F-E69FF6A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Single-select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A8703-867C-49F1-9C76-0B7BFF8A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B679B-518D-4A2B-9913-99AE49F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99F8F-5F41-491E-A69E-8AA0317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25–30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E72C6-B801-4AF5-9213-223196D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Individual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15B3D-DA52-4144-9A66-05A94A5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A6F0D-83AE-4E47-9046-B20E69E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38ADA-7424-4E38-87BF-384D4665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14 / 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2E78A-10E0-4F29-B755-570F737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Applied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505D3-B03C-44B2-AE61-320A233D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24000"/>
            <a:ext cx="2657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1693C-161C-472F-8627-922A6E15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954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2667A"/>
                </a:solidFill>
              </a:defRPr>
            </a:pPr>
            <a:r>
              <a:rPr sz="1350" b="1" i="0">
                <a:solidFill>
                  <a:srgbClr val="52667A"/>
                </a:solidFill>
              </a:rPr>
              <a:t>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AF597-11CA-41DA-A942-B3FE8AA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657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22336"/>
                </a:solidFill>
              </a:defRPr>
            </a:pPr>
            <a:r>
              <a:rPr sz="2100" b="1" i="0">
                <a:solidFill>
                  <a:srgbClr val="122336"/>
                </a:solidFill>
              </a:rPr>
              <a:t>17 /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31E98-A056-44E5-82B3-1CE9D245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95550"/>
            <a:ext cx="2657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67A"/>
                </a:solidFill>
              </a:defRPr>
            </a:pPr>
            <a:r>
              <a:rPr sz="1125" b="0" i="0">
                <a:solidFill>
                  <a:srgbClr val="52667A"/>
                </a:solidFill>
              </a:rPr>
              <a:t>Production readiness indicator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3112D-E1F3-46D5-A865-790E932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3D17D-6E89-4741-8A4A-607C13A7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F0BEC-80ED-48BE-AEA0-1899A870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TRAINER INSTRUCTION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B6E4A-98AC-418B-AABC-7ABD9338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Use Part C of the separate complete 80-question trainer assessment bank. Review missed concepts by evidence domain, not only by answer letter.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61EDC-EB94-4B36-9419-C3874881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006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Compare pre-test and post-test domains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Record capstone evidence quality separately</a:t>
            </a:r>
          </a:p>
          <a:p xmlns:a="http://schemas.openxmlformats.org/drawingml/2006/main">
            <a:pPr algn="l">
              <a:defRPr sz="1425" b="0" i="0">
                <a:solidFill>
                  <a:srgbClr val="122336"/>
                </a:solidFill>
              </a:defRPr>
            </a:pPr>
            <a:r>
              <a:rPr sz="1425" b="0" i="0">
                <a:solidFill>
                  <a:srgbClr val="122336"/>
                </a:solidFill>
              </a:rPr>
              <a:t>• Assign remediation for any failed access gate or safety concept</a:t>
            </a:r>
          </a:p>
        </p:txBody>
      </p:sp>
    </p:spTree>
    <p:extLst>
      <p:ext uri="{BB962C8B-B14F-4D97-AF65-F5344CB8AC3E}">
        <p14:creationId xmlns:p14="http://schemas.microsoft.com/office/powerpoint/2010/main" val="81349346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AF4CC9-84EF-40F7-AE4B-09058BF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0D97-F8E0-403F-9331-E74FFDB2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8F6F3-F0D2-4263-B837-CEE2F180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D2C7"/>
                </a:solidFill>
              </a:defRPr>
            </a:pPr>
            <a:r>
              <a:rPr sz="900" b="1" i="0">
                <a:solidFill>
                  <a:srgbClr val="5FD2C7"/>
                </a:solidFill>
              </a:rPr>
              <a:t>COURSE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B2560-C79F-4895-A7D8-EAD35D17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Preserve evidence, isolate one cause, prove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CC6F3-F9C8-46D9-BCCF-101AB5E8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0EBC7-0950-4D9C-8DD8-046FF431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67A"/>
                </a:solidFill>
              </a:defRPr>
            </a:pPr>
            <a:r>
              <a:rPr sz="825" b="1" i="0">
                <a:solidFill>
                  <a:srgbClr val="52667A"/>
                </a:solidFill>
              </a:rPr>
              <a:t>VAST STORAGE | DAY 2 | COURSE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3B155-1AC9-4236-BB77-A4C106E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677C8"/>
                </a:solidFill>
              </a:defRPr>
            </a:pPr>
            <a:r>
              <a:rPr sz="1125" b="1" i="0">
                <a:solidFill>
                  <a:srgbClr val="1677C8"/>
                </a:solidFill>
              </a:rPr>
              <a:t>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65166-AD89-4D2A-A847-47E18890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1EE23-4635-45AD-8051-FB331207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CEA97-6EF5-4782-AF6A-D4336263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D63FE-6579-4371-AED9-822D6AFB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normal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478C7-99B6-4544-B05B-7E13D35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8A23C-7D62-4DD5-BE36-9A21D1E5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80A19-5428-43BD-AB41-EBA95F1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1EF40-0113-4984-8326-C331197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who • what • when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9BEE5-4C66-4FF9-9CBE-A6B8F44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7B6A2-AE4A-4AAF-B02D-6674D323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2307B-1655-4266-99DF-EA9DE1F8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Correlate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EAB13-ABCC-4E37-81C3-F069473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all layers in UTC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57FA1-0CD4-44BD-B916-E9F1270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19050">
            <a:solidFill>
              <a:srgbClr val="13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96C02-FFEA-4DC7-AA8D-E82DD99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11DE7-6F3A-4A3C-85CB-FB9FB65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F4185-1151-4A6E-B640-CC2FF80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smallest reversible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78D57-3544-479D-A516-B868671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562100"/>
            <a:ext cx="19964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D98C5-3C68-4B36-A5BA-98DECBD9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562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DDE3F-A570-4E3F-8781-4598C8E1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66875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336"/>
                </a:solidFill>
              </a:defRPr>
            </a:pPr>
            <a:r>
              <a:rPr sz="1425" b="1" i="0">
                <a:solidFill>
                  <a:srgbClr val="122336"/>
                </a:solidFill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CBCD3-9783-4714-BE8C-8F7319C5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5975"/>
            <a:ext cx="172974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2667A"/>
                </a:solidFill>
              </a:defRPr>
            </a:pPr>
            <a:r>
              <a:rPr sz="975" b="0" i="0">
                <a:solidFill>
                  <a:srgbClr val="52667A"/>
                </a:solidFill>
              </a:rPr>
              <a:t>same workload + users</a:t>
            </a:r>
          </a:p>
        </p:txBody>
      </p: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0604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5013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9422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8310" y="21240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67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3EB5A-E53D-44B0-AD6C-D31B455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A56596-35EA-4ECB-8D45-38BCAA35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C8A9B9-CBDF-43F1-854A-CBCC64F1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878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INCIDENT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4D30B-4535-4580-8CE4-F3FBDDE0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7190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Impact • exact paths/identities • timeline • raw evidence • causal mechanism • recovery action • rollback • validation • prevention owner.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93F8B6-7E3A-466C-B627-1E65190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1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393D0-AD37-4660-86E3-A4188BE9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C24C1-80DB-418A-9385-804AE25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7C8"/>
                </a:solidFill>
              </a:defRPr>
            </a:pPr>
            <a:r>
              <a:rPr sz="1050" b="1" i="0">
                <a:solidFill>
                  <a:srgbClr val="1677C8"/>
                </a:solidFill>
              </a:rPr>
              <a:t>VAST DATA LABS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04C3CE-99E8-48B2-9F85-52A555E1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Native product observation: health, alarms, capacity, inventory, Views, Element Store, and Network Access.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0B060-CF1F-4AF4-BE45-995D8943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21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5"/>
          </a:solidFill>
          <a:ln xmlns:a="http://schemas.openxmlformats.org/drawingml/2006/main" w="9525">
            <a:solidFill>
              <a:srgbClr val="13A6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187FD-BB99-4FE7-814E-8DEA1B86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98E923-FF3F-449F-99BB-4F904BFA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A6A6"/>
                </a:solidFill>
              </a:defRPr>
            </a:pPr>
            <a:r>
              <a:rPr sz="1050" b="1" i="0">
                <a:solidFill>
                  <a:srgbClr val="13A6A6"/>
                </a:solidFill>
              </a:rPr>
              <a:t>UBUNTU 24.04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317B0C-55AE-49F0-B394-A1FD6943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2336"/>
                </a:solidFill>
              </a:defRPr>
            </a:pPr>
            <a:r>
              <a:rPr sz="1350" b="0" i="0">
                <a:solidFill>
                  <a:srgbClr val="122336"/>
                </a:solidFill>
              </a:rPr>
              <a:t>Client/workload evidence: protocol validation, packet capture, controlled faults, rollback, and recovery proof.</a:t>
            </a:r>
          </a:p>
        </p:txBody>
      </p:sp>
    </p:spTree>
    <p:extLst>
      <p:ext uri="{BB962C8B-B14F-4D97-AF65-F5344CB8AC3E}">
        <p14:creationId xmlns:p14="http://schemas.microsoft.com/office/powerpoint/2010/main" val="1048866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2026-08-01T11:55:07.6900000Z</dcterms:created>
  <dcterms:modified xsi:type="dcterms:W3CDTF">2026-08-01T11:55:07.6900000Z</dcterms:modified>
</coreProperties>
</file>