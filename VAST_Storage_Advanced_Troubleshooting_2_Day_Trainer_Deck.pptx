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560c95f1cc4283" /><Relationship Type="http://schemas.openxmlformats.org/officeDocument/2006/relationships/extended-properties" Target="/docProps/app.xml" Id="R0a18fd029e2f4984" /><Relationship Type="http://schemas.openxmlformats.org/officeDocument/2006/relationships/officeDocument" Target="/ppt/presentation.xml" Id="R6af632dc5cd54e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37a59a53746ae"/>
  </p:sldMasterIdLst>
  <p:notesMasterIdLst>
    <p:notesMasterId xmlns:r="http://schemas.openxmlformats.org/officeDocument/2006/relationships" r:id="Rab8cf57ed0c54219"/>
  </p:notesMasterIdLst>
  <p:sldIdLst>
    <p:sldId xmlns:r="http://schemas.openxmlformats.org/officeDocument/2006/relationships" id="256" r:id="R7af1f1d873984b17"/>
    <p:sldId xmlns:r="http://schemas.openxmlformats.org/officeDocument/2006/relationships" id="257" r:id="Rdec9c779858d4fad"/>
    <p:sldId xmlns:r="http://schemas.openxmlformats.org/officeDocument/2006/relationships" id="258" r:id="R64dfb92e54394064"/>
    <p:sldId xmlns:r="http://schemas.openxmlformats.org/officeDocument/2006/relationships" id="259" r:id="Ra1da266046394c40"/>
    <p:sldId xmlns:r="http://schemas.openxmlformats.org/officeDocument/2006/relationships" id="260" r:id="Rb1709f123f9749db"/>
    <p:sldId xmlns:r="http://schemas.openxmlformats.org/officeDocument/2006/relationships" id="261" r:id="R4adce04b940541bb"/>
    <p:sldId xmlns:r="http://schemas.openxmlformats.org/officeDocument/2006/relationships" id="262" r:id="R6e7b6d6b1492429e"/>
    <p:sldId xmlns:r="http://schemas.openxmlformats.org/officeDocument/2006/relationships" id="263" r:id="Rb961b985c7904be6"/>
    <p:sldId xmlns:r="http://schemas.openxmlformats.org/officeDocument/2006/relationships" id="264" r:id="R869b9701f7f546d3"/>
    <p:sldId xmlns:r="http://schemas.openxmlformats.org/officeDocument/2006/relationships" id="265" r:id="Rfc68015ed9604124"/>
    <p:sldId xmlns:r="http://schemas.openxmlformats.org/officeDocument/2006/relationships" id="266" r:id="R4cf62f388b9a4928"/>
    <p:sldId xmlns:r="http://schemas.openxmlformats.org/officeDocument/2006/relationships" id="267" r:id="Rb2f05f61ef854ed3"/>
    <p:sldId xmlns:r="http://schemas.openxmlformats.org/officeDocument/2006/relationships" id="268" r:id="R94b6bef9c40543c5"/>
    <p:sldId xmlns:r="http://schemas.openxmlformats.org/officeDocument/2006/relationships" id="269" r:id="R41d17a0b952e460f"/>
    <p:sldId xmlns:r="http://schemas.openxmlformats.org/officeDocument/2006/relationships" id="270" r:id="R89d5efde9175415e"/>
    <p:sldId xmlns:r="http://schemas.openxmlformats.org/officeDocument/2006/relationships" id="271" r:id="R39c0079186864380"/>
    <p:sldId xmlns:r="http://schemas.openxmlformats.org/officeDocument/2006/relationships" id="272" r:id="R6ce29e9aa10c4c68"/>
    <p:sldId xmlns:r="http://schemas.openxmlformats.org/officeDocument/2006/relationships" id="273" r:id="Rc70917bba4b540be"/>
    <p:sldId xmlns:r="http://schemas.openxmlformats.org/officeDocument/2006/relationships" id="274" r:id="R7c649be6836841cb"/>
    <p:sldId xmlns:r="http://schemas.openxmlformats.org/officeDocument/2006/relationships" id="275" r:id="R05fe061e098e4d28"/>
    <p:sldId xmlns:r="http://schemas.openxmlformats.org/officeDocument/2006/relationships" id="276" r:id="Rffcf42f52af54f5f"/>
    <p:sldId xmlns:r="http://schemas.openxmlformats.org/officeDocument/2006/relationships" id="277" r:id="R8599781201284ebb"/>
    <p:sldId xmlns:r="http://schemas.openxmlformats.org/officeDocument/2006/relationships" id="278" r:id="Rd1f869a9e5194969"/>
    <p:sldId xmlns:r="http://schemas.openxmlformats.org/officeDocument/2006/relationships" id="279" r:id="R62bfc24434eb4a69"/>
    <p:sldId xmlns:r="http://schemas.openxmlformats.org/officeDocument/2006/relationships" id="280" r:id="Rca78ab20f7f1430e"/>
    <p:sldId xmlns:r="http://schemas.openxmlformats.org/officeDocument/2006/relationships" id="281" r:id="Rfb20f3c18aff420e"/>
    <p:sldId xmlns:r="http://schemas.openxmlformats.org/officeDocument/2006/relationships" id="282" r:id="R9ee9dd312ef84365"/>
    <p:sldId xmlns:r="http://schemas.openxmlformats.org/officeDocument/2006/relationships" id="283" r:id="R0b79933691ba49bc"/>
    <p:sldId xmlns:r="http://schemas.openxmlformats.org/officeDocument/2006/relationships" id="284" r:id="R46241a8a754d416b"/>
    <p:sldId xmlns:r="http://schemas.openxmlformats.org/officeDocument/2006/relationships" id="285" r:id="Re72bf9716a5f4f5f"/>
    <p:sldId xmlns:r="http://schemas.openxmlformats.org/officeDocument/2006/relationships" id="286" r:id="Rdeee10834d0f49d6"/>
    <p:sldId xmlns:r="http://schemas.openxmlformats.org/officeDocument/2006/relationships" id="287" r:id="R32d20226a38c40ca"/>
    <p:sldId xmlns:r="http://schemas.openxmlformats.org/officeDocument/2006/relationships" id="288" r:id="R386261eef3814275"/>
    <p:sldId xmlns:r="http://schemas.openxmlformats.org/officeDocument/2006/relationships" id="289" r:id="Rff5e8cbfe3774904"/>
    <p:sldId xmlns:r="http://schemas.openxmlformats.org/officeDocument/2006/relationships" id="290" r:id="Rdf254463162244da"/>
    <p:sldId xmlns:r="http://schemas.openxmlformats.org/officeDocument/2006/relationships" id="291" r:id="Rc212c99261784e21"/>
    <p:sldId xmlns:r="http://schemas.openxmlformats.org/officeDocument/2006/relationships" id="292" r:id="R5d70fd5432814455"/>
    <p:sldId xmlns:r="http://schemas.openxmlformats.org/officeDocument/2006/relationships" id="293" r:id="R332aa887069c4a4c"/>
    <p:sldId xmlns:r="http://schemas.openxmlformats.org/officeDocument/2006/relationships" id="294" r:id="R369186d03117477d"/>
    <p:sldId xmlns:r="http://schemas.openxmlformats.org/officeDocument/2006/relationships" id="295" r:id="R847d75c9078f4c2c"/>
    <p:sldId xmlns:r="http://schemas.openxmlformats.org/officeDocument/2006/relationships" id="296" r:id="R22cafcbe77f640d2"/>
    <p:sldId xmlns:r="http://schemas.openxmlformats.org/officeDocument/2006/relationships" id="297" r:id="R7304fd652f5141be"/>
    <p:sldId xmlns:r="http://schemas.openxmlformats.org/officeDocument/2006/relationships" id="298" r:id="Raab01a90a9194aff"/>
    <p:sldId xmlns:r="http://schemas.openxmlformats.org/officeDocument/2006/relationships" id="299" r:id="Rdaf8b15573194d48"/>
    <p:sldId xmlns:r="http://schemas.openxmlformats.org/officeDocument/2006/relationships" id="300" r:id="Rd5054d96cb5d4d30"/>
    <p:sldId xmlns:r="http://schemas.openxmlformats.org/officeDocument/2006/relationships" id="301" r:id="Rbdb8c0c86ec54905"/>
    <p:sldId xmlns:r="http://schemas.openxmlformats.org/officeDocument/2006/relationships" id="302" r:id="R8b3328c4175c461d"/>
    <p:sldId xmlns:r="http://schemas.openxmlformats.org/officeDocument/2006/relationships" id="303" r:id="Re61193d4d42d4648"/>
    <p:sldId xmlns:r="http://schemas.openxmlformats.org/officeDocument/2006/relationships" id="304" r:id="R0f1e2eaf1cd849b0"/>
    <p:sldId xmlns:r="http://schemas.openxmlformats.org/officeDocument/2006/relationships" id="305" r:id="R6222b5c63e3c4ba8"/>
    <p:sldId xmlns:r="http://schemas.openxmlformats.org/officeDocument/2006/relationships" id="306" r:id="R267d9a97a43648f3"/>
    <p:sldId xmlns:r="http://schemas.openxmlformats.org/officeDocument/2006/relationships" id="307" r:id="Re0e4918cbcae4fbd"/>
    <p:sldId xmlns:r="http://schemas.openxmlformats.org/officeDocument/2006/relationships" id="308" r:id="Ra2043e4c62f74cbc"/>
    <p:sldId xmlns:r="http://schemas.openxmlformats.org/officeDocument/2006/relationships" id="309" r:id="Rcac6d58d044547a4"/>
    <p:sldId xmlns:r="http://schemas.openxmlformats.org/officeDocument/2006/relationships" id="310" r:id="R24047f889ffe4565"/>
    <p:sldId xmlns:r="http://schemas.openxmlformats.org/officeDocument/2006/relationships" id="311" r:id="R82adf644c5e4410a"/>
    <p:sldId xmlns:r="http://schemas.openxmlformats.org/officeDocument/2006/relationships" id="312" r:id="R75c9ee550c7b4f10"/>
    <p:sldId xmlns:r="http://schemas.openxmlformats.org/officeDocument/2006/relationships" id="313" r:id="R682fc13a0a0d402d"/>
    <p:sldId xmlns:r="http://schemas.openxmlformats.org/officeDocument/2006/relationships" id="314" r:id="R021990f8114b4b61"/>
    <p:sldId xmlns:r="http://schemas.openxmlformats.org/officeDocument/2006/relationships" id="315" r:id="Ra10bbcffdabc429b"/>
    <p:sldId xmlns:r="http://schemas.openxmlformats.org/officeDocument/2006/relationships" id="316" r:id="R61a804d8ed9746c3"/>
    <p:sldId xmlns:r="http://schemas.openxmlformats.org/officeDocument/2006/relationships" id="317" r:id="R7a205806d15e4871"/>
    <p:sldId xmlns:r="http://schemas.openxmlformats.org/officeDocument/2006/relationships" id="318" r:id="R45e979f53cf24194"/>
    <p:sldId xmlns:r="http://schemas.openxmlformats.org/officeDocument/2006/relationships" id="319" r:id="R2d85e91a6a1e45a8"/>
    <p:sldId xmlns:r="http://schemas.openxmlformats.org/officeDocument/2006/relationships" id="320" r:id="R47ea2a38f5884b38"/>
    <p:sldId xmlns:r="http://schemas.openxmlformats.org/officeDocument/2006/relationships" id="321" r:id="Rf9350024fca14c71"/>
    <p:sldId xmlns:r="http://schemas.openxmlformats.org/officeDocument/2006/relationships" id="322" r:id="R38f7a86c57114329"/>
    <p:sldId xmlns:r="http://schemas.openxmlformats.org/officeDocument/2006/relationships" id="323" r:id="Raa44f0a5e57142c4"/>
    <p:sldId xmlns:r="http://schemas.openxmlformats.org/officeDocument/2006/relationships" id="324" r:id="Rac7e7a86d8174b28"/>
    <p:sldId xmlns:r="http://schemas.openxmlformats.org/officeDocument/2006/relationships" id="325" r:id="R1a93659f51bc431e"/>
    <p:sldId xmlns:r="http://schemas.openxmlformats.org/officeDocument/2006/relationships" id="326" r:id="R0d5a40d156ae49be"/>
    <p:sldId xmlns:r="http://schemas.openxmlformats.org/officeDocument/2006/relationships" id="327" r:id="Ra1e69135cc8348c1"/>
    <p:sldId xmlns:r="http://schemas.openxmlformats.org/officeDocument/2006/relationships" id="328" r:id="R9d30eae69cb54e73"/>
    <p:sldId xmlns:r="http://schemas.openxmlformats.org/officeDocument/2006/relationships" id="329" r:id="Rdcd3e2ec6ec24389"/>
    <p:sldId xmlns:r="http://schemas.openxmlformats.org/officeDocument/2006/relationships" id="330" r:id="R5ef232a63a1e4842"/>
    <p:sldId xmlns:r="http://schemas.openxmlformats.org/officeDocument/2006/relationships" id="331" r:id="Rd29bdcb3ce2b4494"/>
    <p:sldId xmlns:r="http://schemas.openxmlformats.org/officeDocument/2006/relationships" id="332" r:id="R9a7292c5c0ab4255"/>
    <p:sldId xmlns:r="http://schemas.openxmlformats.org/officeDocument/2006/relationships" id="333" r:id="R4925f7fe4c1f434f"/>
    <p:sldId xmlns:r="http://schemas.openxmlformats.org/officeDocument/2006/relationships" id="334" r:id="R7d4a5cd5a65845d6"/>
    <p:sldId xmlns:r="http://schemas.openxmlformats.org/officeDocument/2006/relationships" id="335" r:id="Rd0104b1fba1b4f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13646d7ccc4a41" /><Relationship Type="http://schemas.openxmlformats.org/officeDocument/2006/relationships/slideMaster" Target="/ppt/slideMasters/slideMaster1.xml" Id="R8a837a59a53746ae" /><Relationship Type="http://schemas.openxmlformats.org/officeDocument/2006/relationships/notesMaster" Target="/ppt/notesMasters/notesMaster1.xml" Id="Rab8cf57ed0c54219" /><Relationship Type="http://schemas.openxmlformats.org/officeDocument/2006/relationships/presProps" Target="/ppt/presProps.xml" Id="R7c7f082d092143a1" /><Relationship Type="http://schemas.openxmlformats.org/officeDocument/2006/relationships/tableStyles" Target="/ppt/tableStyles.xml" Id="R8449621638dc4350" /><Relationship Type="http://schemas.openxmlformats.org/officeDocument/2006/relationships/slide" Target="/ppt/slides/slide1.xml" Id="R7af1f1d873984b17" /><Relationship Type="http://schemas.openxmlformats.org/officeDocument/2006/relationships/slide" Target="/ppt/slides/slide2.xml" Id="Rdec9c779858d4fad" /><Relationship Type="http://schemas.openxmlformats.org/officeDocument/2006/relationships/slide" Target="/ppt/slides/slide3.xml" Id="R64dfb92e54394064" /><Relationship Type="http://schemas.openxmlformats.org/officeDocument/2006/relationships/slide" Target="/ppt/slides/slide4.xml" Id="Ra1da266046394c40" /><Relationship Type="http://schemas.openxmlformats.org/officeDocument/2006/relationships/slide" Target="/ppt/slides/slide5.xml" Id="Rb1709f123f9749db" /><Relationship Type="http://schemas.openxmlformats.org/officeDocument/2006/relationships/slide" Target="/ppt/slides/slide6.xml" Id="R4adce04b940541bb" /><Relationship Type="http://schemas.openxmlformats.org/officeDocument/2006/relationships/slide" Target="/ppt/slides/slide7.xml" Id="R6e7b6d6b1492429e" /><Relationship Type="http://schemas.openxmlformats.org/officeDocument/2006/relationships/slide" Target="/ppt/slides/slide8.xml" Id="Rb961b985c7904be6" /><Relationship Type="http://schemas.openxmlformats.org/officeDocument/2006/relationships/slide" Target="/ppt/slides/slide9.xml" Id="R869b9701f7f546d3" /><Relationship Type="http://schemas.openxmlformats.org/officeDocument/2006/relationships/slide" Target="/ppt/slides/slide10.xml" Id="Rfc68015ed9604124" /><Relationship Type="http://schemas.openxmlformats.org/officeDocument/2006/relationships/slide" Target="/ppt/slides/slide11.xml" Id="R4cf62f388b9a4928" /><Relationship Type="http://schemas.openxmlformats.org/officeDocument/2006/relationships/slide" Target="/ppt/slides/slide12.xml" Id="Rb2f05f61ef854ed3" /><Relationship Type="http://schemas.openxmlformats.org/officeDocument/2006/relationships/slide" Target="/ppt/slides/slide13.xml" Id="R94b6bef9c40543c5" /><Relationship Type="http://schemas.openxmlformats.org/officeDocument/2006/relationships/slide" Target="/ppt/slides/slide14.xml" Id="R41d17a0b952e460f" /><Relationship Type="http://schemas.openxmlformats.org/officeDocument/2006/relationships/slide" Target="/ppt/slides/slide15.xml" Id="R89d5efde9175415e" /><Relationship Type="http://schemas.openxmlformats.org/officeDocument/2006/relationships/slide" Target="/ppt/slides/slide16.xml" Id="R39c0079186864380" /><Relationship Type="http://schemas.openxmlformats.org/officeDocument/2006/relationships/slide" Target="/ppt/slides/slide17.xml" Id="R6ce29e9aa10c4c68" /><Relationship Type="http://schemas.openxmlformats.org/officeDocument/2006/relationships/slide" Target="/ppt/slides/slide18.xml" Id="Rc70917bba4b540be" /><Relationship Type="http://schemas.openxmlformats.org/officeDocument/2006/relationships/slide" Target="/ppt/slides/slide19.xml" Id="R7c649be6836841cb" /><Relationship Type="http://schemas.openxmlformats.org/officeDocument/2006/relationships/slide" Target="/ppt/slides/slide20.xml" Id="R05fe061e098e4d28" /><Relationship Type="http://schemas.openxmlformats.org/officeDocument/2006/relationships/slide" Target="/ppt/slides/slide21.xml" Id="Rffcf42f52af54f5f" /><Relationship Type="http://schemas.openxmlformats.org/officeDocument/2006/relationships/slide" Target="/ppt/slides/slide22.xml" Id="R8599781201284ebb" /><Relationship Type="http://schemas.openxmlformats.org/officeDocument/2006/relationships/slide" Target="/ppt/slides/slide23.xml" Id="Rd1f869a9e5194969" /><Relationship Type="http://schemas.openxmlformats.org/officeDocument/2006/relationships/slide" Target="/ppt/slides/slide24.xml" Id="R62bfc24434eb4a69" /><Relationship Type="http://schemas.openxmlformats.org/officeDocument/2006/relationships/slide" Target="/ppt/slides/slide25.xml" Id="Rca78ab20f7f1430e" /><Relationship Type="http://schemas.openxmlformats.org/officeDocument/2006/relationships/slide" Target="/ppt/slides/slide26.xml" Id="Rfb20f3c18aff420e" /><Relationship Type="http://schemas.openxmlformats.org/officeDocument/2006/relationships/slide" Target="/ppt/slides/slide27.xml" Id="R9ee9dd312ef84365" /><Relationship Type="http://schemas.openxmlformats.org/officeDocument/2006/relationships/slide" Target="/ppt/slides/slide28.xml" Id="R0b79933691ba49bc" /><Relationship Type="http://schemas.openxmlformats.org/officeDocument/2006/relationships/slide" Target="/ppt/slides/slide29.xml" Id="R46241a8a754d416b" /><Relationship Type="http://schemas.openxmlformats.org/officeDocument/2006/relationships/slide" Target="/ppt/slides/slide30.xml" Id="Re72bf9716a5f4f5f" /><Relationship Type="http://schemas.openxmlformats.org/officeDocument/2006/relationships/slide" Target="/ppt/slides/slide31.xml" Id="Rdeee10834d0f49d6" /><Relationship Type="http://schemas.openxmlformats.org/officeDocument/2006/relationships/slide" Target="/ppt/slides/slide32.xml" Id="R32d20226a38c40ca" /><Relationship Type="http://schemas.openxmlformats.org/officeDocument/2006/relationships/slide" Target="/ppt/slides/slide33.xml" Id="R386261eef3814275" /><Relationship Type="http://schemas.openxmlformats.org/officeDocument/2006/relationships/slide" Target="/ppt/slides/slide34.xml" Id="Rff5e8cbfe3774904" /><Relationship Type="http://schemas.openxmlformats.org/officeDocument/2006/relationships/slide" Target="/ppt/slides/slide35.xml" Id="Rdf254463162244da" /><Relationship Type="http://schemas.openxmlformats.org/officeDocument/2006/relationships/slide" Target="/ppt/slides/slide36.xml" Id="Rc212c99261784e21" /><Relationship Type="http://schemas.openxmlformats.org/officeDocument/2006/relationships/slide" Target="/ppt/slides/slide37.xml" Id="R5d70fd5432814455" /><Relationship Type="http://schemas.openxmlformats.org/officeDocument/2006/relationships/slide" Target="/ppt/slides/slide38.xml" Id="R332aa887069c4a4c" /><Relationship Type="http://schemas.openxmlformats.org/officeDocument/2006/relationships/slide" Target="/ppt/slides/slide39.xml" Id="R369186d03117477d" /><Relationship Type="http://schemas.openxmlformats.org/officeDocument/2006/relationships/slide" Target="/ppt/slides/slide40.xml" Id="R847d75c9078f4c2c" /><Relationship Type="http://schemas.openxmlformats.org/officeDocument/2006/relationships/slide" Target="/ppt/slides/slide41.xml" Id="R22cafcbe77f640d2" /><Relationship Type="http://schemas.openxmlformats.org/officeDocument/2006/relationships/slide" Target="/ppt/slides/slide42.xml" Id="R7304fd652f5141be" /><Relationship Type="http://schemas.openxmlformats.org/officeDocument/2006/relationships/slide" Target="/ppt/slides/slide43.xml" Id="Raab01a90a9194aff" /><Relationship Type="http://schemas.openxmlformats.org/officeDocument/2006/relationships/slide" Target="/ppt/slides/slide44.xml" Id="Rdaf8b15573194d48" /><Relationship Type="http://schemas.openxmlformats.org/officeDocument/2006/relationships/slide" Target="/ppt/slides/slide45.xml" Id="Rd5054d96cb5d4d30" /><Relationship Type="http://schemas.openxmlformats.org/officeDocument/2006/relationships/slide" Target="/ppt/slides/slide46.xml" Id="Rbdb8c0c86ec54905" /><Relationship Type="http://schemas.openxmlformats.org/officeDocument/2006/relationships/slide" Target="/ppt/slides/slide47.xml" Id="R8b3328c4175c461d" /><Relationship Type="http://schemas.openxmlformats.org/officeDocument/2006/relationships/slide" Target="/ppt/slides/slide48.xml" Id="Re61193d4d42d4648" /><Relationship Type="http://schemas.openxmlformats.org/officeDocument/2006/relationships/slide" Target="/ppt/slides/slide49.xml" Id="R0f1e2eaf1cd849b0" /><Relationship Type="http://schemas.openxmlformats.org/officeDocument/2006/relationships/slide" Target="/ppt/slides/slide50.xml" Id="R6222b5c63e3c4ba8" /><Relationship Type="http://schemas.openxmlformats.org/officeDocument/2006/relationships/slide" Target="/ppt/slides/slide51.xml" Id="R267d9a97a43648f3" /><Relationship Type="http://schemas.openxmlformats.org/officeDocument/2006/relationships/slide" Target="/ppt/slides/slide52.xml" Id="Re0e4918cbcae4fbd" /><Relationship Type="http://schemas.openxmlformats.org/officeDocument/2006/relationships/slide" Target="/ppt/slides/slide53.xml" Id="Ra2043e4c62f74cbc" /><Relationship Type="http://schemas.openxmlformats.org/officeDocument/2006/relationships/slide" Target="/ppt/slides/slide54.xml" Id="Rcac6d58d044547a4" /><Relationship Type="http://schemas.openxmlformats.org/officeDocument/2006/relationships/slide" Target="/ppt/slides/slide55.xml" Id="R24047f889ffe4565" /><Relationship Type="http://schemas.openxmlformats.org/officeDocument/2006/relationships/slide" Target="/ppt/slides/slide56.xml" Id="R82adf644c5e4410a" /><Relationship Type="http://schemas.openxmlformats.org/officeDocument/2006/relationships/slide" Target="/ppt/slides/slide57.xml" Id="R75c9ee550c7b4f10" /><Relationship Type="http://schemas.openxmlformats.org/officeDocument/2006/relationships/slide" Target="/ppt/slides/slide58.xml" Id="R682fc13a0a0d402d" /><Relationship Type="http://schemas.openxmlformats.org/officeDocument/2006/relationships/slide" Target="/ppt/slides/slide59.xml" Id="R021990f8114b4b61" /><Relationship Type="http://schemas.openxmlformats.org/officeDocument/2006/relationships/slide" Target="/ppt/slides/slide60.xml" Id="Ra10bbcffdabc429b" /><Relationship Type="http://schemas.openxmlformats.org/officeDocument/2006/relationships/slide" Target="/ppt/slides/slide61.xml" Id="R61a804d8ed9746c3" /><Relationship Type="http://schemas.openxmlformats.org/officeDocument/2006/relationships/slide" Target="/ppt/slides/slide62.xml" Id="R7a205806d15e4871" /><Relationship Type="http://schemas.openxmlformats.org/officeDocument/2006/relationships/slide" Target="/ppt/slides/slide63.xml" Id="R45e979f53cf24194" /><Relationship Type="http://schemas.openxmlformats.org/officeDocument/2006/relationships/slide" Target="/ppt/slides/slide64.xml" Id="R2d85e91a6a1e45a8" /><Relationship Type="http://schemas.openxmlformats.org/officeDocument/2006/relationships/slide" Target="/ppt/slides/slide65.xml" Id="R47ea2a38f5884b38" /><Relationship Type="http://schemas.openxmlformats.org/officeDocument/2006/relationships/slide" Target="/ppt/slides/slide66.xml" Id="Rf9350024fca14c71" /><Relationship Type="http://schemas.openxmlformats.org/officeDocument/2006/relationships/slide" Target="/ppt/slides/slide67.xml" Id="R38f7a86c57114329" /><Relationship Type="http://schemas.openxmlformats.org/officeDocument/2006/relationships/slide" Target="/ppt/slides/slide68.xml" Id="Raa44f0a5e57142c4" /><Relationship Type="http://schemas.openxmlformats.org/officeDocument/2006/relationships/slide" Target="/ppt/slides/slide69.xml" Id="Rac7e7a86d8174b28" /><Relationship Type="http://schemas.openxmlformats.org/officeDocument/2006/relationships/slide" Target="/ppt/slides/slide70.xml" Id="R1a93659f51bc431e" /><Relationship Type="http://schemas.openxmlformats.org/officeDocument/2006/relationships/slide" Target="/ppt/slides/slide71.xml" Id="R0d5a40d156ae49be" /><Relationship Type="http://schemas.openxmlformats.org/officeDocument/2006/relationships/slide" Target="/ppt/slides/slide72.xml" Id="Ra1e69135cc8348c1" /><Relationship Type="http://schemas.openxmlformats.org/officeDocument/2006/relationships/slide" Target="/ppt/slides/slide73.xml" Id="R9d30eae69cb54e73" /><Relationship Type="http://schemas.openxmlformats.org/officeDocument/2006/relationships/slide" Target="/ppt/slides/slide74.xml" Id="Rdcd3e2ec6ec24389" /><Relationship Type="http://schemas.openxmlformats.org/officeDocument/2006/relationships/slide" Target="/ppt/slides/slide75.xml" Id="R5ef232a63a1e4842" /><Relationship Type="http://schemas.openxmlformats.org/officeDocument/2006/relationships/slide" Target="/ppt/slides/slide76.xml" Id="Rd29bdcb3ce2b4494" /><Relationship Type="http://schemas.openxmlformats.org/officeDocument/2006/relationships/slide" Target="/ppt/slides/slide77.xml" Id="R9a7292c5c0ab4255" /><Relationship Type="http://schemas.openxmlformats.org/officeDocument/2006/relationships/slide" Target="/ppt/slides/slide78.xml" Id="R4925f7fe4c1f434f" /><Relationship Type="http://schemas.openxmlformats.org/officeDocument/2006/relationships/slide" Target="/ppt/slides/slide79.xml" Id="R7d4a5cd5a65845d6" /><Relationship Type="http://schemas.openxmlformats.org/officeDocument/2006/relationships/slide" Target="/ppt/slides/slide80.xml" Id="Rd0104b1fba1b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6df7a8a22943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a9c635e0a467c" /><Relationship Type="http://schemas.openxmlformats.org/officeDocument/2006/relationships/notesMaster" Target="/ppt/notesMasters/notesMaster1.xml" Id="Rb1a4599e09cb4b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f0545b842741cc" /><Relationship Type="http://schemas.openxmlformats.org/officeDocument/2006/relationships/notesMaster" Target="/ppt/notesMasters/notesMaster1.xml" Id="R9c2039a7a6b6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a113686b544c9" /><Relationship Type="http://schemas.openxmlformats.org/officeDocument/2006/relationships/notesMaster" Target="/ppt/notesMasters/notesMaster1.xml" Id="Rdb00d62a744447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e1ef5c8264a72" /><Relationship Type="http://schemas.openxmlformats.org/officeDocument/2006/relationships/notesMaster" Target="/ppt/notesMasters/notesMaster1.xml" Id="R9b7926692787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3cb47c3b45413a" /><Relationship Type="http://schemas.openxmlformats.org/officeDocument/2006/relationships/notesMaster" Target="/ppt/notesMasters/notesMaster1.xml" Id="Rd4d24834ded5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814a2d9f44701" /><Relationship Type="http://schemas.openxmlformats.org/officeDocument/2006/relationships/notesMaster" Target="/ppt/notesMasters/notesMaster1.xml" Id="R3a6adb0661ac45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7017b9a29d4f3b" /><Relationship Type="http://schemas.openxmlformats.org/officeDocument/2006/relationships/notesMaster" Target="/ppt/notesMasters/notesMaster1.xml" Id="R72abff60f4e043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e888a833b24735" /><Relationship Type="http://schemas.openxmlformats.org/officeDocument/2006/relationships/notesMaster" Target="/ppt/notesMasters/notesMaster1.xml" Id="R645dfe251f5d46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40992ab466436a" /><Relationship Type="http://schemas.openxmlformats.org/officeDocument/2006/relationships/notesMaster" Target="/ppt/notesMasters/notesMaster1.xml" Id="Ra1444482cf6740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761fccef754b93" /><Relationship Type="http://schemas.openxmlformats.org/officeDocument/2006/relationships/notesMaster" Target="/ppt/notesMasters/notesMaster1.xml" Id="R7831eede129a42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dd0d37652e40bf" /><Relationship Type="http://schemas.openxmlformats.org/officeDocument/2006/relationships/notesMaster" Target="/ppt/notesMasters/notesMaster1.xml" Id="R5dd3a0e74d664b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ebdddb98a344bc" /><Relationship Type="http://schemas.openxmlformats.org/officeDocument/2006/relationships/notesMaster" Target="/ppt/notesMasters/notesMaster1.xml" Id="Reb6b1aea51674d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9ee1fa383c475e" /><Relationship Type="http://schemas.openxmlformats.org/officeDocument/2006/relationships/notesMaster" Target="/ppt/notesMasters/notesMaster1.xml" Id="R870b78a0796a45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e833b0ff904039" /><Relationship Type="http://schemas.openxmlformats.org/officeDocument/2006/relationships/notesMaster" Target="/ppt/notesMasters/notesMaster1.xml" Id="R93af2cd8e3d943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65118492ad4641" /><Relationship Type="http://schemas.openxmlformats.org/officeDocument/2006/relationships/notesMaster" Target="/ppt/notesMasters/notesMaster1.xml" Id="Rc1ed1dae5b384c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38baaa91574046" /><Relationship Type="http://schemas.openxmlformats.org/officeDocument/2006/relationships/notesMaster" Target="/ppt/notesMasters/notesMaster1.xml" Id="R0a3c3e624cea4c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6e7498cca14090" /><Relationship Type="http://schemas.openxmlformats.org/officeDocument/2006/relationships/notesMaster" Target="/ppt/notesMasters/notesMaster1.xml" Id="R94b00a4048cc4f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4a6b7436dd4d60" /><Relationship Type="http://schemas.openxmlformats.org/officeDocument/2006/relationships/notesMaster" Target="/ppt/notesMasters/notesMaster1.xml" Id="R43d7ed65c25343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7e4a016e804b01" /><Relationship Type="http://schemas.openxmlformats.org/officeDocument/2006/relationships/notesMaster" Target="/ppt/notesMasters/notesMaster1.xml" Id="R9acec74b5a0941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f925dc2af243af" /><Relationship Type="http://schemas.openxmlformats.org/officeDocument/2006/relationships/notesMaster" Target="/ppt/notesMasters/notesMaster1.xml" Id="Rd1dfb0c5083046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d59b6f96f7400d" /><Relationship Type="http://schemas.openxmlformats.org/officeDocument/2006/relationships/notesMaster" Target="/ppt/notesMasters/notesMaster1.xml" Id="Ra779ad4da3d549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83da5873a64baf" /><Relationship Type="http://schemas.openxmlformats.org/officeDocument/2006/relationships/notesMaster" Target="/ppt/notesMasters/notesMaster1.xml" Id="Rfb89a31f5ac442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831db0f5b54630" /><Relationship Type="http://schemas.openxmlformats.org/officeDocument/2006/relationships/notesMaster" Target="/ppt/notesMasters/notesMaster1.xml" Id="R78af6b7c8dfc40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b69806d9734def" /><Relationship Type="http://schemas.openxmlformats.org/officeDocument/2006/relationships/notesMaster" Target="/ppt/notesMasters/notesMaster1.xml" Id="Rded2142f064244a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795abab4c54826" /><Relationship Type="http://schemas.openxmlformats.org/officeDocument/2006/relationships/notesMaster" Target="/ppt/notesMasters/notesMaster1.xml" Id="R79b38e09af1842e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4e62ab221f49b6" /><Relationship Type="http://schemas.openxmlformats.org/officeDocument/2006/relationships/notesMaster" Target="/ppt/notesMasters/notesMaster1.xml" Id="R4ed53cbc45cf46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005a18ec6684f8a" /><Relationship Type="http://schemas.openxmlformats.org/officeDocument/2006/relationships/notesMaster" Target="/ppt/notesMasters/notesMaster1.xml" Id="R6fe83211b6ba414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06d4e4a0a34c33" /><Relationship Type="http://schemas.openxmlformats.org/officeDocument/2006/relationships/notesMaster" Target="/ppt/notesMasters/notesMaster1.xml" Id="R6d0995b36fa840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01d7c32b5040b1" /><Relationship Type="http://schemas.openxmlformats.org/officeDocument/2006/relationships/notesMaster" Target="/ppt/notesMasters/notesMaster1.xml" Id="R8ae6d0fd16fb43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d8885c47984ff7" /><Relationship Type="http://schemas.openxmlformats.org/officeDocument/2006/relationships/notesMaster" Target="/ppt/notesMasters/notesMaster1.xml" Id="Rcaeda872d5ac4a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7fdde3d1774f84" /><Relationship Type="http://schemas.openxmlformats.org/officeDocument/2006/relationships/notesMaster" Target="/ppt/notesMasters/notesMaster1.xml" Id="Rff8cbe9094b5473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262d97a2c8c488d" /><Relationship Type="http://schemas.openxmlformats.org/officeDocument/2006/relationships/notesMaster" Target="/ppt/notesMasters/notesMaster1.xml" Id="Re94405f961cb4e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6f8f73282a54f32" /><Relationship Type="http://schemas.openxmlformats.org/officeDocument/2006/relationships/notesMaster" Target="/ppt/notesMasters/notesMaster1.xml" Id="R438513c31a724e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6f9c209dfa4c3d" /><Relationship Type="http://schemas.openxmlformats.org/officeDocument/2006/relationships/notesMaster" Target="/ppt/notesMasters/notesMaster1.xml" Id="R928921090fcb45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3d018f1c654934" /><Relationship Type="http://schemas.openxmlformats.org/officeDocument/2006/relationships/notesMaster" Target="/ppt/notesMasters/notesMaster1.xml" Id="Re7fb10b061594b4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65cc2594eca435b" /><Relationship Type="http://schemas.openxmlformats.org/officeDocument/2006/relationships/notesMaster" Target="/ppt/notesMasters/notesMaster1.xml" Id="R40e0dc0adfe54a4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23c8e5bdc264113" /><Relationship Type="http://schemas.openxmlformats.org/officeDocument/2006/relationships/notesMaster" Target="/ppt/notesMasters/notesMaster1.xml" Id="R5b1d03a8ced84b4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4622fce08424fdd" /><Relationship Type="http://schemas.openxmlformats.org/officeDocument/2006/relationships/notesMaster" Target="/ppt/notesMasters/notesMaster1.xml" Id="Rb77ad154381844f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ba645193064717" /><Relationship Type="http://schemas.openxmlformats.org/officeDocument/2006/relationships/notesMaster" Target="/ppt/notesMasters/notesMaster1.xml" Id="R4a484e55779a40b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98b50bf8d046e7" /><Relationship Type="http://schemas.openxmlformats.org/officeDocument/2006/relationships/notesMaster" Target="/ppt/notesMasters/notesMaster1.xml" Id="R17ecf855134847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6901c307b1040e5" /><Relationship Type="http://schemas.openxmlformats.org/officeDocument/2006/relationships/notesMaster" Target="/ppt/notesMasters/notesMaster1.xml" Id="R354f82303406431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2537a2a33f43f3" /><Relationship Type="http://schemas.openxmlformats.org/officeDocument/2006/relationships/notesMaster" Target="/ppt/notesMasters/notesMaster1.xml" Id="R5faf7ee596fc4e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86b880143c040e8" /><Relationship Type="http://schemas.openxmlformats.org/officeDocument/2006/relationships/notesMaster" Target="/ppt/notesMasters/notesMaster1.xml" Id="R43e9238798c84ac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e1c6c3b2aa3449e" /><Relationship Type="http://schemas.openxmlformats.org/officeDocument/2006/relationships/notesMaster" Target="/ppt/notesMasters/notesMaster1.xml" Id="Re6b622509c3741e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e8488eb5b114358" /><Relationship Type="http://schemas.openxmlformats.org/officeDocument/2006/relationships/notesMaster" Target="/ppt/notesMasters/notesMaster1.xml" Id="R8570e6afbfc9415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1aad506da1c4e3f" /><Relationship Type="http://schemas.openxmlformats.org/officeDocument/2006/relationships/notesMaster" Target="/ppt/notesMasters/notesMaster1.xml" Id="Rca12056ebe3d423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2d2d34d75fc4691" /><Relationship Type="http://schemas.openxmlformats.org/officeDocument/2006/relationships/notesMaster" Target="/ppt/notesMasters/notesMaster1.xml" Id="R7bc456f7bb534a7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17e30afc4a64d75" /><Relationship Type="http://schemas.openxmlformats.org/officeDocument/2006/relationships/notesMaster" Target="/ppt/notesMasters/notesMaster1.xml" Id="R589381d5745d405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dd0102a69c84316" /><Relationship Type="http://schemas.openxmlformats.org/officeDocument/2006/relationships/notesMaster" Target="/ppt/notesMasters/notesMaster1.xml" Id="R3ef6c3c9646f4c2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3313dd834eb48a1" /><Relationship Type="http://schemas.openxmlformats.org/officeDocument/2006/relationships/notesMaster" Target="/ppt/notesMasters/notesMaster1.xml" Id="R845f435c598f440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454764ee5004af7" /><Relationship Type="http://schemas.openxmlformats.org/officeDocument/2006/relationships/notesMaster" Target="/ppt/notesMasters/notesMaster1.xml" Id="R2b0aead390fd4b8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81b04446a544267" /><Relationship Type="http://schemas.openxmlformats.org/officeDocument/2006/relationships/notesMaster" Target="/ppt/notesMasters/notesMaster1.xml" Id="R94d3b68271ee4f0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d81fd1c4a944851" /><Relationship Type="http://schemas.openxmlformats.org/officeDocument/2006/relationships/notesMaster" Target="/ppt/notesMasters/notesMaster1.xml" Id="Rda88f9e357b14ef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c7da8cd841a48a3" /><Relationship Type="http://schemas.openxmlformats.org/officeDocument/2006/relationships/notesMaster" Target="/ppt/notesMasters/notesMaster1.xml" Id="Rcd779208ed0b49b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512fe92b108491c" /><Relationship Type="http://schemas.openxmlformats.org/officeDocument/2006/relationships/notesMaster" Target="/ppt/notesMasters/notesMaster1.xml" Id="Rdfedaa2cf00c473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e7c8ed945274abc" /><Relationship Type="http://schemas.openxmlformats.org/officeDocument/2006/relationships/notesMaster" Target="/ppt/notesMasters/notesMaster1.xml" Id="R830c2928ac64492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529a2c11a754ce0" /><Relationship Type="http://schemas.openxmlformats.org/officeDocument/2006/relationships/notesMaster" Target="/ppt/notesMasters/notesMaster1.xml" Id="R9ac72911b85f47d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9043d1522514767" /><Relationship Type="http://schemas.openxmlformats.org/officeDocument/2006/relationships/notesMaster" Target="/ppt/notesMasters/notesMaster1.xml" Id="Rdf981b5a74d44c1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fb75c85e03e4daf" /><Relationship Type="http://schemas.openxmlformats.org/officeDocument/2006/relationships/notesMaster" Target="/ppt/notesMasters/notesMaster1.xml" Id="R161f7a6ec0e24fe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e2ec4d37e174c4c" /><Relationship Type="http://schemas.openxmlformats.org/officeDocument/2006/relationships/notesMaster" Target="/ppt/notesMasters/notesMaster1.xml" Id="R9f33e7a29730442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d768cfccb9947e3" /><Relationship Type="http://schemas.openxmlformats.org/officeDocument/2006/relationships/notesMaster" Target="/ppt/notesMasters/notesMaster1.xml" Id="Rc540e1d7a9944fb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cf55cdaa33c481e" /><Relationship Type="http://schemas.openxmlformats.org/officeDocument/2006/relationships/notesMaster" Target="/ppt/notesMasters/notesMaster1.xml" Id="R35f3a65f029c407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2c8f028384a4888" /><Relationship Type="http://schemas.openxmlformats.org/officeDocument/2006/relationships/notesMaster" Target="/ppt/notesMasters/notesMaster1.xml" Id="R2e4da9afa7bf4b0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9c26fb8e0384a0e" /><Relationship Type="http://schemas.openxmlformats.org/officeDocument/2006/relationships/notesMaster" Target="/ppt/notesMasters/notesMaster1.xml" Id="Rc30134a70b664c9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efe10a696de4858" /><Relationship Type="http://schemas.openxmlformats.org/officeDocument/2006/relationships/notesMaster" Target="/ppt/notesMasters/notesMaster1.xml" Id="R2f66a569f6b1459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591377d86064ace" /><Relationship Type="http://schemas.openxmlformats.org/officeDocument/2006/relationships/notesMaster" Target="/ppt/notesMasters/notesMaster1.xml" Id="R61b1ec9377cd46e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a8d8dd56b3b4d1c" /><Relationship Type="http://schemas.openxmlformats.org/officeDocument/2006/relationships/notesMaster" Target="/ppt/notesMasters/notesMaster1.xml" Id="R3176e7098afd499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9a860fc5e1f4b55" /><Relationship Type="http://schemas.openxmlformats.org/officeDocument/2006/relationships/notesMaster" Target="/ppt/notesMasters/notesMaster1.xml" Id="R67bfc80c5548479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6d5248c5a034b2e" /><Relationship Type="http://schemas.openxmlformats.org/officeDocument/2006/relationships/notesMaster" Target="/ppt/notesMasters/notesMaster1.xml" Id="Re507d15c05704ff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e6f41a649e946f7" /><Relationship Type="http://schemas.openxmlformats.org/officeDocument/2006/relationships/notesMaster" Target="/ppt/notesMasters/notesMaster1.xml" Id="R88f578a13f39479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6a5bd4f63904e20" /><Relationship Type="http://schemas.openxmlformats.org/officeDocument/2006/relationships/notesMaster" Target="/ppt/notesMasters/notesMaster1.xml" Id="R9a91b84f93ad467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926effe51a54ccd" /><Relationship Type="http://schemas.openxmlformats.org/officeDocument/2006/relationships/notesMaster" Target="/ppt/notesMasters/notesMaster1.xml" Id="R2ad6ecdeb915487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78905febfad4260" /><Relationship Type="http://schemas.openxmlformats.org/officeDocument/2006/relationships/notesMaster" Target="/ppt/notesMasters/notesMaster1.xml" Id="Rbbc9f565a8b14b7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d1b5725740f4243" /><Relationship Type="http://schemas.openxmlformats.org/officeDocument/2006/relationships/notesMaster" Target="/ppt/notesMasters/notesMaster1.xml" Id="Rc145af0ce1ca4b1e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8fcf98cb7e44a4a" /><Relationship Type="http://schemas.openxmlformats.org/officeDocument/2006/relationships/notesMaster" Target="/ppt/notesMasters/notesMaster1.xml" Id="Rac79e4472f5d4e70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6f2d8017dc04885" /><Relationship Type="http://schemas.openxmlformats.org/officeDocument/2006/relationships/notesMaster" Target="/ppt/notesMasters/notesMaster1.xml" Id="Rbec76c77c17240d9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a5d7551069f408b" /><Relationship Type="http://schemas.openxmlformats.org/officeDocument/2006/relationships/notesMaster" Target="/ppt/notesMasters/notesMaster1.xml" Id="Rc586f29a3b3a463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4d7ff23edb249b4" /><Relationship Type="http://schemas.openxmlformats.org/officeDocument/2006/relationships/notesMaster" Target="/ppt/notesMasters/notesMaster1.xml" Id="R6d24923e41c04d7f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4bdd72b77e2482e" /><Relationship Type="http://schemas.openxmlformats.org/officeDocument/2006/relationships/notesMaster" Target="/ppt/notesMasters/notesMaster1.xml" Id="R52390bdb4dfa411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95e839044a9d4150" /><Relationship Type="http://schemas.openxmlformats.org/officeDocument/2006/relationships/notesMaster" Target="/ppt/notesMasters/notesMaster1.xml" Id="Rba2549b3a6d8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operating rule: capture evidence before changing state.</a:t>
            </a:r>
          </a:p>
          <a:p xmlns:a="http://schemas.openxmlformats.org/drawingml/2006/main">
            <a:r>
              <a:t>VAST product behavior is demonstrated only in the official VAST Data Labs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1-2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 that controlled faults are Ubuntu-only; the public VAST lab is treated as read-only.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2-6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whenever participants infer that MinIO, Samba, or local NFS represents VAST internals.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Part A of the trainer master. Group participants for labs without exposing individual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deployment details as concepts unless the customer provides a writable VAST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 describes DASE as Disaggregated Shared-Everything.</a:t>
            </a:r>
          </a:p>
          <a:p xmlns:a="http://schemas.openxmlformats.org/drawingml/2006/main">
            <a:r>
              <a:t>Keep this diagram conceptual: specific hardware packaging and generations can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inventing node-local commands. Use VMS inventory and supported customer procedures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an exact failing path and client identity during every access incident.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 describes a View as a protocol-independent presentation of a folder; policy determines applicable access semantics.</a:t>
            </a:r>
          </a:p>
          <a:p xmlns:a="http://schemas.openxmlformats.org/drawingml/2006/main">
            <a:r>
              <a:t>Element Store is neither a traditional file system nor a traditional object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https://www.vastdata.com/what-is-vast-element-store</a:t>
            </a:r>
          </a:p>
          <a:p xmlns:a="http://schemas.openxmlformats.org/drawingml/2006/main">
            <a:r>
              <a:t>- https://www.vastdata.com/what-is-a-vast-view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Dashboard → Infrastructure → Capacity → Analytics → Network Access. Treat all write actions as conceptual in the public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https://www.vastdata.com/resources/lab-guides/introduction-to-networking-in-the-vms-lab-guide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B. Disaggregated Shared Everything; 2 — B. Add CNodes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Alert creation may be conceptual in a read-only VAST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state the affected resource and timestamp before interpreting severity.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VMS navigation only; do not assume every lab session permits acknowledgment or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demo: Prometheus target UP; Grafana panels move during fio or stress-ng.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 If no active alarm exists, use the newest historical alarm and label the exercise retrospective.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treating severity alone as proof of root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C. Event records an occurrence; alert identifies a condition requiring attention; 2 — D. Correlate alarms with metric changes and user impact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metric changes when block size increases at constant IOPS.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illustrative values as VAST limits or benchmark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Expected: learners can reproduce the exact hardware, network, mount, and workload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The baseline becomes the comparison set for every later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Revised_Vast Storage_SP_TOC.pdf, p.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using a tiny file that is served from client cache.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minutes. Run write tests only on the dedicated lab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finding: high IOPS can coexist with modest bandwidth for small-block workloads.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Use shorter runs for class time but keep duration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fio JSON latency fields are commonly nanoseconds; convert consistently before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D. They expose slow-tail operations hidden by averages; 2 — B. Latency can rise sharply without useful throughput gain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https://www.vastdata.com/resources/lab-guides/introduction-to-networking-in-the-vms-lab-guide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https://www.vastdata.com/resources/lab-guides/introduction-to-networking-in-the-vms-lab-guide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capture credentials or unrelated production traffic. Limit interface, host, port, duration, and file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Skip fault injection if the only interface carries remote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Safety: never apply tc to the management interface of a remote VM.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 Do not display authentication payloads or capture unrelated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Expected: endpoint and port are confirmed; the pcap becomes one time-aligned evidence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D. Packet loss; 2 — C. Correct path, gateway, reachability, and absence of unintended asymmetry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4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hard mount retries temporary interruptions; explain the integrity and wait-time implications without prescribing universal mount options.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4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embed a password in the mount command or deck. Use a protected credential file or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MinIO is the lab S3-compatible service. It does not represent VAST internals.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 On a VAST lab, inspect the View but do not assume write privileges.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using showmount alone as proof that NFSv4 access should succeed.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Prepare one invalid credential and one valid-but-unauthorized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solve the exercise by chmod 777. Use the minimum intended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Use only temporary lab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treating a 404 as proof that the storage payload disappeared.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D. Check share permissions, ACLs, and underlying file-system permissions; 2 — A. Hold dataset, client conditions, and workload constant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4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reject any result that improves throughput by introducing errors or unacceptable tail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Use a 120-second timeout and size the load to preserve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blaming storage from application latency without checking client saturation.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minutes. Each team must name its rollback before applying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result is neutral, the experiment is still valid; document that the hypothesis was not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B. Establish a reproducible baseline; 2 — D. Re-run the same workload and compare performance and stability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4-5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change permissions until the failed gate and intended access policy are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evidence bundle before any controlled service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 SMB or MinIO may be substituted, preserving the same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C. Capture current errors, service status, logs, connections, and timestamps; 2 — D. Validate access, workload, monitoring, and error conditions end to end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affected-vs-healthy comparison to avoid deep-diving the wrong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is never proof. Require at least a causal mechanism and corroborating evidence from another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 root cause for debrief: a competing small-block random workload creates contention and queueing on the shared dataset path; network packet loss is a secondary injected amplifier in some runs. The exact class delivery may choose one primary fault, but reveal evidence progressively.</a:t>
            </a:r>
          </a:p>
          <a:p xmlns:a="http://schemas.openxmlformats.org/drawingml/2006/main">
            <a:r>
              <a:t>Do not show the root cause until teams submit a ranked hypothesis and missing-evidence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6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row at a time. Ask teams to update hypotheses, not merely add observations.</a:t>
            </a:r>
          </a:p>
          <a:p xmlns:a="http://schemas.openxmlformats.org/drawingml/2006/main">
            <a:r>
              <a:t>Expected finding: slow dataset delivery starves GPUs; the GPU is a downstream symptom.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minutes.</a:t>
            </a:r>
          </a:p>
          <a:p xmlns:a="http://schemas.openxmlformats.org/drawingml/2006/main">
            <a:r>
              <a:t>Debrief: distinguish root cause (competing workload / network impairment) from impact (dataset starvation) and downstream symptom (low GPU utilization).</a:t>
            </a:r>
          </a:p>
          <a:p xmlns:a="http://schemas.openxmlformats.org/drawingml/2006/main">
            <a:r>
              <a:t>Accept alternate root cause only when the trainer deliberately injects it and the evidence chain supports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B. Investigate the end-to-end data-delivery path and baseline; 2 — A. One client is slow while shared services and peers remain healthy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 support-bundle generation is limited to supported/writable customer environments; discuss conceptually in the public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run as an unprivileged user first; use privilege only for the specific logs approved by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minutes. Use the prior controlled service incident if no new fault is injected.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sorting by severity rather than time and shared identifiers.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RPO as acceptable data-loss window and RTO as acceptable restoration time.</a:t>
            </a:r>
          </a:p>
          <a:p xmlns:a="http://schemas.openxmlformats.org/drawingml/2006/main">
            <a:r>
              <a:t>Keep VAST-specific backup/replication/failover behavior conceptual unless verified in the customer's supported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A. Normalize timestamps and preserve the incident time window; 2 — B. Maximum acceptable amount of data loss measured in time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 root cause for debrief: a dataset publishing job performs non-atomic rename/delete behavior while one client group uses a stale path mapping and cached directory entries. Capacity growth is a contributing condition that increases metadata/browse latency, not the direct cause of every 404.</a:t>
            </a:r>
          </a:p>
          <a:p xmlns:a="http://schemas.openxmlformats.org/drawingml/2006/main">
            <a:r>
              <a:t>Do not reveal until teams prove the exact failing names, identities, and operation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6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rows in order. Ask teams to distinguish direct cause, contributing condition, and unrelated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minutes.</a:t>
            </a:r>
          </a:p>
          <a:p xmlns:a="http://schemas.openxmlformats.org/drawingml/2006/main">
            <a:r>
              <a:t>Success: all representative clients can browse and read the canonical dataset, errors stop, and the report separates direct cause from capacity-related contributing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highlighted trainer master for answers and explanations. Keep the full bank outside the participant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each team for one behavior they will stop and one evidence practice they will adopt.</a:t>
            </a:r>
          </a:p>
          <a:p xmlns:a="http://schemas.openxmlformats.org/drawingml/2006/main">
            <a:r>
              <a:t>Recommended answer: stop changing multiple variables; start preserving a reproducible baseline and UTC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2-6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2abb3198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f27af22ce4bba" /><Relationship Type="http://schemas.openxmlformats.org/officeDocument/2006/relationships/slideLayout" Target="/ppt/slideLayouts/slideLayout1.xml" Id="Rbaaf8348048242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f8348048242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ea3f7079c4541" /><Relationship Type="http://schemas.openxmlformats.org/officeDocument/2006/relationships/notesSlide" Target="/ppt/notesSlides/notesSlide1.xml" Id="R80f051488d55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7d68e3fe54148" /><Relationship Type="http://schemas.openxmlformats.org/officeDocument/2006/relationships/notesSlide" Target="/ppt/notesSlides/notesSlide2.xml" Id="Re9f63db3ed00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7073e324b4baa" /><Relationship Type="http://schemas.openxmlformats.org/officeDocument/2006/relationships/notesSlide" Target="/ppt/notesSlides/notesSlide3.xml" Id="R7ce6cdc4fc4b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f9fed99af4419" /><Relationship Type="http://schemas.openxmlformats.org/officeDocument/2006/relationships/notesSlide" Target="/ppt/notesSlides/notesSlide4.xml" Id="R7f794ae2f2c84b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bec4f78ec4e79" /><Relationship Type="http://schemas.openxmlformats.org/officeDocument/2006/relationships/notesSlide" Target="/ppt/notesSlides/notesSlide5.xml" Id="Rf73cceec7c10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9875ec22a45ed" /><Relationship Type="http://schemas.openxmlformats.org/officeDocument/2006/relationships/notesSlide" Target="/ppt/notesSlides/notesSlide6.xml" Id="R31e777c093b94d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df4f1472498a" /><Relationship Type="http://schemas.openxmlformats.org/officeDocument/2006/relationships/notesSlide" Target="/ppt/notesSlides/notesSlide7.xml" Id="R8cc1e1c859c94b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bdb452e974788" /><Relationship Type="http://schemas.openxmlformats.org/officeDocument/2006/relationships/notesSlide" Target="/ppt/notesSlides/notesSlide8.xml" Id="R510dbec8f8734d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9a936ea7c4e6d" /><Relationship Type="http://schemas.openxmlformats.org/officeDocument/2006/relationships/notesSlide" Target="/ppt/notesSlides/notesSlide9.xml" Id="Re9d562377ffc41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eb98cd17747b5" /><Relationship Type="http://schemas.openxmlformats.org/officeDocument/2006/relationships/notesSlide" Target="/ppt/notesSlides/notesSlide10.xml" Id="R69a783c0355449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0a99256e34e2a" /><Relationship Type="http://schemas.openxmlformats.org/officeDocument/2006/relationships/notesSlide" Target="/ppt/notesSlides/notesSlide11.xml" Id="R71699e4e90e344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5e003aa1d40c2" /><Relationship Type="http://schemas.openxmlformats.org/officeDocument/2006/relationships/notesSlide" Target="/ppt/notesSlides/notesSlide12.xml" Id="Rbab0a8ef8b3546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84304d5cb4eea" /><Relationship Type="http://schemas.openxmlformats.org/officeDocument/2006/relationships/notesSlide" Target="/ppt/notesSlides/notesSlide13.xml" Id="R38b5e7a5745c4b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a2cb6c8e34954" /><Relationship Type="http://schemas.openxmlformats.org/officeDocument/2006/relationships/notesSlide" Target="/ppt/notesSlides/notesSlide14.xml" Id="Ree4ffc46d19e49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6185a3ca847a1" /><Relationship Type="http://schemas.openxmlformats.org/officeDocument/2006/relationships/notesSlide" Target="/ppt/notesSlides/notesSlide15.xml" Id="R0f587794aa174c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e665348034eff" /><Relationship Type="http://schemas.openxmlformats.org/officeDocument/2006/relationships/notesSlide" Target="/ppt/notesSlides/notesSlide16.xml" Id="R77ea3b2c455041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a87a021e747c8" /><Relationship Type="http://schemas.openxmlformats.org/officeDocument/2006/relationships/notesSlide" Target="/ppt/notesSlides/notesSlide17.xml" Id="R4cedd3927a8b4f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f9e6b27934f56" /><Relationship Type="http://schemas.openxmlformats.org/officeDocument/2006/relationships/notesSlide" Target="/ppt/notesSlides/notesSlide18.xml" Id="R49b04c744abf46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d7b480a14c9f" /><Relationship Type="http://schemas.openxmlformats.org/officeDocument/2006/relationships/notesSlide" Target="/ppt/notesSlides/notesSlide19.xml" Id="R00c46d23320a4e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ac939b5e54c50" /><Relationship Type="http://schemas.openxmlformats.org/officeDocument/2006/relationships/notesSlide" Target="/ppt/notesSlides/notesSlide20.xml" Id="R78bd92ffcaf249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37fc6c1fd4187" /><Relationship Type="http://schemas.openxmlformats.org/officeDocument/2006/relationships/notesSlide" Target="/ppt/notesSlides/notesSlide21.xml" Id="R16b8846065fc4f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7654f75c34c41" /><Relationship Type="http://schemas.openxmlformats.org/officeDocument/2006/relationships/chart" Target="/ppt/slides/charts/chart1.xml" Id="Rc128f9deb9894155" /><Relationship Type="http://schemas.openxmlformats.org/officeDocument/2006/relationships/notesSlide" Target="/ppt/notesSlides/notesSlide22.xml" Id="Receff5ec714b41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fb76db5234246" /><Relationship Type="http://schemas.openxmlformats.org/officeDocument/2006/relationships/notesSlide" Target="/ppt/notesSlides/notesSlide23.xml" Id="R9280993655fb4f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c585858b2477c" /><Relationship Type="http://schemas.openxmlformats.org/officeDocument/2006/relationships/notesSlide" Target="/ppt/notesSlides/notesSlide24.xml" Id="R96b1a88d255941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4d1e4f67f4e0f" /><Relationship Type="http://schemas.openxmlformats.org/officeDocument/2006/relationships/notesSlide" Target="/ppt/notesSlides/notesSlide25.xml" Id="Rc916b2b2df3f4f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4613bb8d44b93" /><Relationship Type="http://schemas.openxmlformats.org/officeDocument/2006/relationships/notesSlide" Target="/ppt/notesSlides/notesSlide26.xml" Id="Re197c547ea6342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b90fe453845b3" /><Relationship Type="http://schemas.openxmlformats.org/officeDocument/2006/relationships/notesSlide" Target="/ppt/notesSlides/notesSlide27.xml" Id="R5b747583afc6414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25c719a544a0c" /><Relationship Type="http://schemas.openxmlformats.org/officeDocument/2006/relationships/notesSlide" Target="/ppt/notesSlides/notesSlide28.xml" Id="R71628fb77667416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f4b06933a4dcf" /><Relationship Type="http://schemas.openxmlformats.org/officeDocument/2006/relationships/notesSlide" Target="/ppt/notesSlides/notesSlide29.xml" Id="R5bc98814da894e8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304558b7c44e0" /><Relationship Type="http://schemas.openxmlformats.org/officeDocument/2006/relationships/notesSlide" Target="/ppt/notesSlides/notesSlide30.xml" Id="R6096aa6f1b5a4fd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0abecbc74298" /><Relationship Type="http://schemas.openxmlformats.org/officeDocument/2006/relationships/notesSlide" Target="/ppt/notesSlides/notesSlide31.xml" Id="Re913796c71b3400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8c5b927a748c4" /><Relationship Type="http://schemas.openxmlformats.org/officeDocument/2006/relationships/notesSlide" Target="/ppt/notesSlides/notesSlide32.xml" Id="Re10b5ac3daa747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7358f457f4563" /><Relationship Type="http://schemas.openxmlformats.org/officeDocument/2006/relationships/notesSlide" Target="/ppt/notesSlides/notesSlide33.xml" Id="R8a490de17c2947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64ba133024746" /><Relationship Type="http://schemas.openxmlformats.org/officeDocument/2006/relationships/notesSlide" Target="/ppt/notesSlides/notesSlide34.xml" Id="R3be992c945ba4e6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1bda8509642ad" /><Relationship Type="http://schemas.openxmlformats.org/officeDocument/2006/relationships/notesSlide" Target="/ppt/notesSlides/notesSlide35.xml" Id="Rf5798ae06a78468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8d6200edb4854" /><Relationship Type="http://schemas.openxmlformats.org/officeDocument/2006/relationships/notesSlide" Target="/ppt/notesSlides/notesSlide36.xml" Id="Ra6a9f04084574fc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dbe4522624488" /><Relationship Type="http://schemas.openxmlformats.org/officeDocument/2006/relationships/notesSlide" Target="/ppt/notesSlides/notesSlide37.xml" Id="R2fd2661309ef498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f3e3fab244bce" /><Relationship Type="http://schemas.openxmlformats.org/officeDocument/2006/relationships/notesSlide" Target="/ppt/notesSlides/notesSlide38.xml" Id="R13f1c39cdce8451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86837568b4cd0" /><Relationship Type="http://schemas.openxmlformats.org/officeDocument/2006/relationships/notesSlide" Target="/ppt/notesSlides/notesSlide39.xml" Id="Raf788794a14a414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d1e26a8194901" /><Relationship Type="http://schemas.openxmlformats.org/officeDocument/2006/relationships/notesSlide" Target="/ppt/notesSlides/notesSlide40.xml" Id="R055889f3702c4d7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c97084ea4c04" /><Relationship Type="http://schemas.openxmlformats.org/officeDocument/2006/relationships/notesSlide" Target="/ppt/notesSlides/notesSlide41.xml" Id="Rde1942d916a748a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b0372cc814138" /><Relationship Type="http://schemas.openxmlformats.org/officeDocument/2006/relationships/notesSlide" Target="/ppt/notesSlides/notesSlide42.xml" Id="Rf563cdc9cb52453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08ee7cf324736" /><Relationship Type="http://schemas.openxmlformats.org/officeDocument/2006/relationships/notesSlide" Target="/ppt/notesSlides/notesSlide43.xml" Id="R9314d37d77034c6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06073c8334415" /><Relationship Type="http://schemas.openxmlformats.org/officeDocument/2006/relationships/notesSlide" Target="/ppt/notesSlides/notesSlide44.xml" Id="R907c3238525f4e0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7d53b4b5944d2" /><Relationship Type="http://schemas.openxmlformats.org/officeDocument/2006/relationships/notesSlide" Target="/ppt/notesSlides/notesSlide45.xml" Id="R2d1e036920e24f7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3bbb95f524cad" /><Relationship Type="http://schemas.openxmlformats.org/officeDocument/2006/relationships/notesSlide" Target="/ppt/notesSlides/notesSlide46.xml" Id="Rf7e17d76a6c14ec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a6e3e3bab4617" /><Relationship Type="http://schemas.openxmlformats.org/officeDocument/2006/relationships/notesSlide" Target="/ppt/notesSlides/notesSlide47.xml" Id="Re761309fb5ab458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e423a00bf4c1f" /><Relationship Type="http://schemas.openxmlformats.org/officeDocument/2006/relationships/notesSlide" Target="/ppt/notesSlides/notesSlide48.xml" Id="Rc4d6ec5fca6b44f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c2f5847554646" /><Relationship Type="http://schemas.openxmlformats.org/officeDocument/2006/relationships/notesSlide" Target="/ppt/notesSlides/notesSlide49.xml" Id="R9f591467e29b4fc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5fb9dec374cef" /><Relationship Type="http://schemas.openxmlformats.org/officeDocument/2006/relationships/notesSlide" Target="/ppt/notesSlides/notesSlide50.xml" Id="Rca421d671ddd493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41c560570433d" /><Relationship Type="http://schemas.openxmlformats.org/officeDocument/2006/relationships/notesSlide" Target="/ppt/notesSlides/notesSlide51.xml" Id="R986a06232ba1467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e312bb56a49b0" /><Relationship Type="http://schemas.openxmlformats.org/officeDocument/2006/relationships/notesSlide" Target="/ppt/notesSlides/notesSlide52.xml" Id="Rb6acb78e58fe452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4a63872c74425" /><Relationship Type="http://schemas.openxmlformats.org/officeDocument/2006/relationships/notesSlide" Target="/ppt/notesSlides/notesSlide53.xml" Id="R79618919c4df4ef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88d1b212745b9" /><Relationship Type="http://schemas.openxmlformats.org/officeDocument/2006/relationships/notesSlide" Target="/ppt/notesSlides/notesSlide54.xml" Id="R85df4d69613846b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f0f6b74084962" /><Relationship Type="http://schemas.openxmlformats.org/officeDocument/2006/relationships/notesSlide" Target="/ppt/notesSlides/notesSlide55.xml" Id="R470abd9e0b06406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d1704c8de42f2" /><Relationship Type="http://schemas.openxmlformats.org/officeDocument/2006/relationships/notesSlide" Target="/ppt/notesSlides/notesSlide56.xml" Id="Rc11ee1533bf44a9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01ba8e3ef4564" /><Relationship Type="http://schemas.openxmlformats.org/officeDocument/2006/relationships/notesSlide" Target="/ppt/notesSlides/notesSlide57.xml" Id="Rf5044c6c1fba484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871e99fd0414e" /><Relationship Type="http://schemas.openxmlformats.org/officeDocument/2006/relationships/notesSlide" Target="/ppt/notesSlides/notesSlide58.xml" Id="R82390076331f453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4eec47e814256" /><Relationship Type="http://schemas.openxmlformats.org/officeDocument/2006/relationships/notesSlide" Target="/ppt/notesSlides/notesSlide59.xml" Id="Ra20fd7534f3740b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dbf5bb985475f" /><Relationship Type="http://schemas.openxmlformats.org/officeDocument/2006/relationships/notesSlide" Target="/ppt/notesSlides/notesSlide60.xml" Id="R0db1a69576c84e0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2b891e3b34e3b" /><Relationship Type="http://schemas.openxmlformats.org/officeDocument/2006/relationships/notesSlide" Target="/ppt/notesSlides/notesSlide61.xml" Id="R7f8be25844914eb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0e6e8af034bbb" /><Relationship Type="http://schemas.openxmlformats.org/officeDocument/2006/relationships/notesSlide" Target="/ppt/notesSlides/notesSlide62.xml" Id="R5c0ae822dffb47e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6a0c984c6480f" /><Relationship Type="http://schemas.openxmlformats.org/officeDocument/2006/relationships/notesSlide" Target="/ppt/notesSlides/notesSlide63.xml" Id="R01d667a89f3a4f3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172d3da924310" /><Relationship Type="http://schemas.openxmlformats.org/officeDocument/2006/relationships/notesSlide" Target="/ppt/notesSlides/notesSlide64.xml" Id="Rdf3e995c734348d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ee68bbc59441a" /><Relationship Type="http://schemas.openxmlformats.org/officeDocument/2006/relationships/notesSlide" Target="/ppt/notesSlides/notesSlide65.xml" Id="R5b8180674f5a401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e8fca2b9a4db6" /><Relationship Type="http://schemas.openxmlformats.org/officeDocument/2006/relationships/notesSlide" Target="/ppt/notesSlides/notesSlide66.xml" Id="Rc5fb2ab1b3c44f4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9596d69a2440e" /><Relationship Type="http://schemas.openxmlformats.org/officeDocument/2006/relationships/notesSlide" Target="/ppt/notesSlides/notesSlide67.xml" Id="R5baae5a67b1044e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82245bdf4b52" /><Relationship Type="http://schemas.openxmlformats.org/officeDocument/2006/relationships/notesSlide" Target="/ppt/notesSlides/notesSlide68.xml" Id="R7c1257f7263a488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d5ea218954069" /><Relationship Type="http://schemas.openxmlformats.org/officeDocument/2006/relationships/notesSlide" Target="/ppt/notesSlides/notesSlide69.xml" Id="Rfdce6008a17440a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0fb4cf5de46f8" /><Relationship Type="http://schemas.openxmlformats.org/officeDocument/2006/relationships/notesSlide" Target="/ppt/notesSlides/notesSlide70.xml" Id="R60faebd38b474c2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7e7c55304755" /><Relationship Type="http://schemas.openxmlformats.org/officeDocument/2006/relationships/notesSlide" Target="/ppt/notesSlides/notesSlide71.xml" Id="R4b28a1b66538445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4f8912fd34eb7" /><Relationship Type="http://schemas.openxmlformats.org/officeDocument/2006/relationships/notesSlide" Target="/ppt/notesSlides/notesSlide72.xml" Id="R595f2c9b6c954a3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6263e418d4997" /><Relationship Type="http://schemas.openxmlformats.org/officeDocument/2006/relationships/notesSlide" Target="/ppt/notesSlides/notesSlide73.xml" Id="R6c06e4f2bb7b4a3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7b21b4cb64fd4" /><Relationship Type="http://schemas.openxmlformats.org/officeDocument/2006/relationships/notesSlide" Target="/ppt/notesSlides/notesSlide74.xml" Id="Rda2dd9934b024e7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8777748d84ebf" /><Relationship Type="http://schemas.openxmlformats.org/officeDocument/2006/relationships/notesSlide" Target="/ppt/notesSlides/notesSlide75.xml" Id="R403cefb8442045e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ac1f5868d4834" /><Relationship Type="http://schemas.openxmlformats.org/officeDocument/2006/relationships/notesSlide" Target="/ppt/notesSlides/notesSlide76.xml" Id="Rd54694b0a0a5443c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9ebed11749fe" /><Relationship Type="http://schemas.openxmlformats.org/officeDocument/2006/relationships/notesSlide" Target="/ppt/notesSlides/notesSlide77.xml" Id="Rc9b2ba79bddb4cf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2c916a9e14d98" /><Relationship Type="http://schemas.openxmlformats.org/officeDocument/2006/relationships/notesSlide" Target="/ppt/notesSlides/notesSlide78.xml" Id="R6129007e17d041ee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31d1d5b2b4738" /><Relationship Type="http://schemas.openxmlformats.org/officeDocument/2006/relationships/notesSlide" Target="/ppt/notesSlides/notesSlide79.xml" Id="Re423acd3971b442c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19cc12826470c" /><Relationship Type="http://schemas.openxmlformats.org/officeDocument/2006/relationships/notesSlide" Target="/ppt/notesSlides/notesSlide80.xml" Id="R10d28b0d45f44d2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22336"/>
                </a:solidFill>
              </a:rPr>
              <a:t>Latency as queue depth increases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22336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Average ms</c:v>
          </c:tx>
          <c:spPr>
            <a:ln xmlns:a="http://schemas.openxmlformats.org/drawingml/2006/main" w="28575">
              <a:solidFill>
                <a:srgbClr val="1677C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QD1</c:v>
              </c:pt>
              <c:pt idx="1">
                <c:v>QD4</c:v>
              </c:pt>
              <c:pt idx="2">
                <c:v>QD8</c:v>
              </c:pt>
              <c:pt idx="3">
                <c:v>QD16</c:v>
              </c:pt>
              <c:pt idx="4">
                <c:v>QD32</c:v>
              </c:pt>
              <c:pt idx="5">
                <c:v>QD64</c:v>
              </c:pt>
            </c:strLit>
          </c:cat>
          <c:val>
            <c:numLit>
              <c:formatCode>General</c:formatCode>
              <c:ptCount val="6"/>
              <c:pt idx="0">
                <c:v>0.7</c:v>
              </c:pt>
              <c:pt idx="1">
                <c:v>0.9</c:v>
              </c:pt>
              <c:pt idx="2">
                <c:v>1.2</c:v>
              </c:pt>
              <c:pt idx="3">
                <c:v>2.1</c:v>
              </c:pt>
              <c:pt idx="4">
                <c:v>4.8</c:v>
              </c:pt>
              <c:pt idx="5">
                <c:v>10.6</c:v>
              </c:pt>
            </c:numLit>
          </c:val>
        </c:ser>
        <c:ser>
          <c:idx val="1"/>
          <c:order val="1"/>
          <c:tx>
            <c:v>P99 ms</c:v>
          </c:tx>
          <c:spPr>
            <a:ln xmlns:a="http://schemas.openxmlformats.org/drawingml/2006/main" w="28575">
              <a:solidFill>
                <a:srgbClr val="C64747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6"/>
              <c:pt idx="0">
                <c:v>QD1</c:v>
              </c:pt>
              <c:pt idx="1">
                <c:v>QD4</c:v>
              </c:pt>
              <c:pt idx="2">
                <c:v>QD8</c:v>
              </c:pt>
              <c:pt idx="3">
                <c:v>QD16</c:v>
              </c:pt>
              <c:pt idx="4">
                <c:v>QD32</c:v>
              </c:pt>
              <c:pt idx="5">
                <c:v>QD64</c:v>
              </c:pt>
            </c:strLit>
          </c:cat>
          <c:val>
            <c:numLit>
              <c:formatCode>General</c:formatCode>
              <c:ptCount val="6"/>
              <c:pt idx="0">
                <c:v>1.3</c:v>
              </c:pt>
              <c:pt idx="1">
                <c:v>1.8</c:v>
              </c:pt>
              <c:pt idx="2">
                <c:v>2.6</c:v>
              </c:pt>
              <c:pt idx="3">
                <c:v>5.2</c:v>
              </c:pt>
              <c:pt idx="4">
                <c:v>14.5</c:v>
              </c:pt>
              <c:pt idx="5">
                <c:v>38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3D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Latency (ms)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6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2F510F-2536-4EBF-B57C-0FB6A602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11565-3B13-40B4-AC59-96E7BF5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10431-7197-4831-B228-2F0BA0F8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FD2C7"/>
                </a:solidFill>
              </a:defRPr>
            </a:pPr>
            <a:r>
              <a:rPr sz="1350" b="1" i="0">
                <a:solidFill>
                  <a:srgbClr val="5FD2C7"/>
                </a:solidFill>
              </a:rPr>
              <a:t>VAST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363CC-39F2-47FD-9C0D-C6B2D89C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Advanced Troubleshooting,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Performance Analysis and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A2FC1-E8DA-4FC9-B7D9-15C12EEC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B9D0E2"/>
                </a:solidFill>
              </a:defRPr>
            </a:pPr>
            <a:r>
              <a:rPr sz="1875" b="0" i="0">
                <a:solidFill>
                  <a:srgbClr val="B9D0E2"/>
                </a:solidFill>
              </a:rPr>
              <a:t>Two-day trainer-led production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95722-9CC2-4068-9956-765C56A7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79E52-5046-4993-9834-D16DFE0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35860-73A8-461A-8600-407C7D8E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13102-D12F-46AE-A30E-CC64845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health +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D774A-6C4C-413E-A3D2-C7D3B5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F68D4-6A23-48AC-9A6C-8835452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8D54-27D9-4F0F-AFD7-7DBEDCF3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Correlate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E63A0-11E7-4625-A55A-6D543CC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cross-layer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98A0C-5525-457E-B916-B443F076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CE23B-2EC6-4847-B9FF-8330023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47094-839B-4C25-BED7-D102B7A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Isolate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7F3B7-F707-44E3-9F5A-7DCE4754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one controlled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3C9F1-328D-4BAF-8DB6-F6A0F2E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9CC58-6E9C-474C-AB1C-0F1B85D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86928-833D-4B63-A675-AF51B4A0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67B56-8CA1-45F3-80F2-B504ED22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re-test + validation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67063" y="5334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72176" y="5334000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77288" y="5334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44365-9299-4E2A-AF7D-D76CE292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8BC"/>
                </a:solidFill>
              </a:defRPr>
            </a:pPr>
            <a:r>
              <a:rPr sz="975" b="1" i="0">
                <a:solidFill>
                  <a:srgbClr val="8DA8BC"/>
                </a:solidFill>
              </a:rPr>
              <a:t>Trainer deck | 16:9 | VAST Data Labs + Ubuntu 24.04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6C5A7-3CAF-40A9-8691-8E15CEE0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D2C7"/>
                </a:solidFill>
              </a:defRPr>
            </a:pPr>
            <a:r>
              <a:rPr sz="1125" b="1" i="0">
                <a:solidFill>
                  <a:srgbClr val="5FD2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3970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9F1B3-97D2-4922-BCDE-C77046F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D84FF-4FF7-4BE9-AF03-C6BC0852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B15B9-6B35-4E86-AAFE-015885B8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C51ED-BE8B-4F88-A407-4EEE450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Build a defensible path from symptom to root cause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CB345-E078-420C-8577-06299DB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9CA3D-CCE2-4501-8ABB-D0B968F3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D8108-DF0D-45F8-AB62-32B8361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FAABD-84F5-48DE-A254-F2E0E4A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8971D-63D3-4368-A288-E67B605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PREREQUISITES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EA845-DB1E-49CD-B4F8-463FEC3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A9D9D-2613-4BA5-BE01-29E87783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BY THE END, YOU 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2571D-CDA5-4234-A581-619B0FD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A277E-3BAD-4B55-B6F1-7FB77930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Storage, Linux, and TCP/IP fundamentals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Working knowledge of NFS and SMB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Familiarity with IOPS, throughput, and latency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System administration or production support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7E48E-6680-4BB1-8958-AA5E63B5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Interpret VAST health, events, alarms, capacity, and inventory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Profile storage, network, and protocol behavior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Separate client, network, protocol, and storage causes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Collect time-aligned diagnostic evidence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Optimize with baseline → one change → re-test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Resolve the two supplied AI dataset incidents</a:t>
            </a:r>
          </a:p>
        </p:txBody>
      </p:sp>
    </p:spTree>
    <p:extLst>
      <p:ext uri="{BB962C8B-B14F-4D97-AF65-F5344CB8AC3E}">
        <p14:creationId xmlns:p14="http://schemas.microsoft.com/office/powerpoint/2010/main" val="66647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D5039-E9BB-4702-B4A3-E4D5000B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B8609-4BCB-4D05-B4A4-792E6DC1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BBD33-E4F6-440B-8C8A-288CD6BC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F5338-9F15-417B-9DDB-7C0A8F3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The two days progress from observability to incident 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76264-4C98-4765-8FE7-C8C23725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1C317-9E3C-4A13-808E-291E68FD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67448-534D-472D-8B4E-537AB4F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44CE-BACF-4984-9652-6993117B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BDD55-5528-4517-9B92-80F7F481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5DE38-145E-41FD-9A79-201486B4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85900"/>
            <a:ext cx="430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EFF69-4DFB-4E0F-A1FF-DFCA5E9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Operating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B6B51-0797-4F04-B127-2DF54A35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70A24-D70F-40E3-B7DB-C53A9A0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BC7DC-E1C3-491C-9E47-F4C0410A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288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1–2 Architecture +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52087-675B-4C9C-A415-0705D9F3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Know what is healthy and where to look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745DA-2AAF-4E68-B33A-685E93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A792B-7CCB-4089-A498-E011826C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F79E2-D6A8-46A4-9100-EFF7D92D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3–6 Performance + protocols + optimization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5F693-2B8E-48AC-818B-5DA490FA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Measure, isolate, and improve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5ABD2-F214-4F45-9D71-5F0CF2E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3DEF5-D504-4AD2-9CCB-2CCA350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54117-AC15-4B24-8361-5347A9CD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7–9 Service + performance + diagnostics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DEAD1-6E49-4D46-9694-5D4C8F04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Recover with preserved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CAF57-665D-4E4F-81B2-169E3AA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A84F1-2A31-4FEB-9FD1-6A5DEA0F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4EBCBA-5EEB-41FC-8694-197DFD07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Capstones 1–2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A4267-640C-4B71-A553-F2A230A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Lead an end-to-end investigation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7632B-CF0C-4624-98EB-82FB5DCA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A9901-D597-4C5A-B8A4-36F4052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BD6CB-8F61-4086-BBBE-B9D7867E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PRODUCTION SAFETY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1166D-5F63-4173-81DF-EAC4E0CE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61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No destructive change, service stop, permission change, stress test, or netem injection outside the isolated lab. Preserve the failure state before rollback.</a:t>
            </a:r>
          </a:p>
        </p:txBody>
      </p:sp>
    </p:spTree>
    <p:extLst>
      <p:ext uri="{BB962C8B-B14F-4D97-AF65-F5344CB8AC3E}">
        <p14:creationId xmlns:p14="http://schemas.microsoft.com/office/powerpoint/2010/main" val="178064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372BE4-82F9-48B6-A7EB-F60935A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4871-FB23-4B25-A741-7E876FBE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EB6A-4985-4E3B-B0CC-7CC11C92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D4B84-4A66-4B78-A1CB-402357D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Keep VAST and Ubuntu roles distinct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21A2C-4A8C-41F1-86F5-8E8200D5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A954F-20BE-49EC-8056-63A74E1B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7D53E-4F1E-4F62-BA32-AC76C56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39096-0451-42C2-9B41-216DE4E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219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55F6-7BF5-4229-8205-D614FE16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9B4BC-2EF3-441A-BE2B-545707F8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VAST DATA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2BEE5-B151-42B1-BE5A-850F6D3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Native VMS observation: architecture, CNodes, DNodes, Views, Element Store, capacity, inventory, analytics, alarms, events, networking, and data protection.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C9B9A-6187-453F-86FA-AF4A6DFE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5219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75D02-6384-4BC3-A375-CA2AE74B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F1654-96D7-4621-8686-1C0F011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UBUNTU 24.04 VM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ABD29-7F76-4B8C-826C-2440ED6D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Client and workload environment: NFS, SMB, S3/MinIO, fio, stress-ng, Prometheus, Grafana, tcpdump, Linux metrics, controlled faults, and capstones.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FAF28-2A65-424D-9D20-817F089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F0A49-D4AD-4524-BACA-DD792422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0A6CF-30A7-4DCF-BAC2-5414A83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VMS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DAD6B-6907-4D7E-9128-D89DF1B7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native VAST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766B9-87BC-4052-A47E-02F99D90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AA9D4-88F5-4F37-BB6A-51920EF7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3EDDC-59EF-4361-B4DD-FAAA811E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D2832-F22F-4B70-A06C-0879231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Ubuntu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E2A52-B4F8-4B77-B9A2-3AC696E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D9D9B-BFA1-4E37-BA1A-0118AC9A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3739B-4F0B-42B5-939C-0F586FDF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Protocol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60481-A8A7-4097-B0EB-BA58A015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/ SMB / S3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A28F6-4136-4572-A89D-10516B1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890F8-BF21-4971-B09A-CD714B10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96ABB-90A0-420B-802D-F1B59ED5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Incident timeline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A7DA2-96EF-420E-B492-1FED1FA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correlated</a:t>
            </a:r>
          </a:p>
        </p:txBody>
      </p:sp>
      <p:cxnSp>
        <p:nvCxnSpPr>
          <p:cNvPr id="70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167063" y="4276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972176" y="42767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777288" y="4276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073CA3-34E8-40EA-9080-20AB3F55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03258-88B1-419C-BDCB-F94C10C6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3956A-5E23-4C72-991C-9DA11F58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81600"/>
            <a:ext cx="649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50C84B-4A79-499F-8331-20E5C48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67350"/>
            <a:ext cx="649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The Ubuntu VM does not reproduce VAST internals or a distributed VAST data plane.</a:t>
            </a:r>
          </a:p>
        </p:txBody>
      </p:sp>
    </p:spTree>
    <p:extLst>
      <p:ext uri="{BB962C8B-B14F-4D97-AF65-F5344CB8AC3E}">
        <p14:creationId xmlns:p14="http://schemas.microsoft.com/office/powerpoint/2010/main" val="1666340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75A87-0B3B-474E-A386-392C5FA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19C62-7D6B-4CD1-9FD2-ACBE12B2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59BBE-A8F3-4328-80D1-D368D013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14BC-F9FB-49AB-B5BD-18DE93C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Pre-test | Establish the starting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11468-33B7-4A10-831C-E1CD4438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E8DF8-B4D7-4A10-83B8-C8CC7796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3016D-69EB-4A5E-AB37-21859DF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C1430-746E-43E5-83A5-6504E838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1EE77-B10D-43F2-987C-A40E86D3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54E62-A431-496C-87D2-234BA161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80CA6-A636-4C2A-9E52-3A0B4657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Single-select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57F90-2F30-42A6-8E7B-7204ECBC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6A8A7-74CB-4054-8109-E8E54B6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D00BF-5DB3-49AD-8D61-BFFC8B3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15–20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BDC9A-53D7-4671-865C-9273C778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Individual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2EB8B-85E4-4EDD-BC26-DA7D6AE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8FBAD-9060-435C-A871-71B0F3F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Purpose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6033F-5157-4158-96A5-FD12256D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AD71D-ABDD-49CD-B85B-8627BAA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Not a pass/fail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235DD-9900-486F-A42B-3425F526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FB9A7-DA17-4C3C-AFD8-D09A4AF8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BC0F8-30DD-4F58-93C4-51C2A86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6 domains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D4225-7031-4753-9008-EBC8BD9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Storage • Linux • network • protocols • metrics • RCA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658D1-A1CE-43C0-A55E-B9B5BA7A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F3AC0-2CEA-4516-BA7B-DFCB000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77DC4-EFE2-470C-95A7-92571DB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TRAINER INSTRUCTION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9CF35-8303-4813-AA03-81A87CF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the separate complete 80-question trainer assessment bank. Record the score bands; do not coach answers during the baseline.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DBC2A-FAE6-4F54-91D0-EFC2CFC6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0–5 Foundation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6–10 Working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11–13 Strong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14–15 Advanced</a:t>
            </a:r>
          </a:p>
        </p:txBody>
      </p:sp>
    </p:spTree>
    <p:extLst>
      <p:ext uri="{BB962C8B-B14F-4D97-AF65-F5344CB8AC3E}">
        <p14:creationId xmlns:p14="http://schemas.microsoft.com/office/powerpoint/2010/main" val="428159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81894-66CF-48A4-90C0-D9F9C1EF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EB482-7D11-4617-8E48-C96000EC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47FDA-2A4D-42F3-8EF2-6D0E0066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F2F04-4F29-471E-8AA7-D0F123F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1 | Architecture creates the troubleshooting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1219F-3C6C-449D-AFA5-D6B62F59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01D51-D1F4-4A63-885F-BB95505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90BDE-6043-4EE5-B629-662A9B2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AA7B1-6298-4C67-B9EF-7D9481A4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16FB7-078E-4E8D-BCE4-A40F54B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C9F08-F39C-4F61-B198-3C54882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93F2A-EF95-4F74-9FD2-6D1D6D28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Explain the modern scale-out model, VAST DASE architecture, services, namespace, networking, capacity, performance, and availability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BED11-DC48-426A-9511-FDE231A3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23E88-5D6E-44AE-BA99-31001944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83974-ABB2-4619-8053-1AD866CB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Trace a client request to protocol processing and persistent media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CNode and DNode responsibilities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Relate data, metadata, Views, and the global namespace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Identify scale, capacity, and availability evidence in VMS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3D73D-C718-4489-BC2E-D33276D6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3B651-D8D2-48A4-AA41-EA105480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801A3-E831-4E6C-86FC-EC676057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F6F71-28BF-49AA-93BC-0684C9AA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native architecture, inventory, capacity, Element Store, Views. Ubuntu: client-side comparison only.</a:t>
            </a:r>
          </a:p>
        </p:txBody>
      </p:sp>
    </p:spTree>
    <p:extLst>
      <p:ext uri="{BB962C8B-B14F-4D97-AF65-F5344CB8AC3E}">
        <p14:creationId xmlns:p14="http://schemas.microsoft.com/office/powerpoint/2010/main" val="1790000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6E4972-1AFC-4F2A-9722-84B73671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B9311-6992-4164-BDCA-E3F1808F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533F7-FF01-453C-9F8E-BDFBB24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B64FF-80BE-4FA9-B63D-049B258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DASE shares data and metadata across disaggregated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7636D-AFE5-4A95-BAC4-A5A49DAD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CONCEPTUAL — DEPLOYMENTS VARY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634DB-C7B4-4D1A-8A45-467F8617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3C2F5-ECDD-4F4C-954D-ACDC83DB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65C6E-E5AB-408A-A604-3FB97CF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7884F-05D8-4DB3-A025-96FE4C54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71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8CDC6-B91B-4AB7-81AD-49521819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2D123-1600-42F2-808E-E5EC8CC0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8A52D-A82A-4821-9605-18B62B1C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• SMB • S3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E32B2-DD67-40E5-A0AB-1D68821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25146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7681D-EEB4-4D2A-A3E7-1C84323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8BDAF-844B-4259-9B2B-68147FBA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383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65513-C964-4726-B926-37FA54B7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57475"/>
            <a:ext cx="2247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Stateless protocol + compute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54FAC-A22E-48BC-80FA-ADAD9DA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095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066DD-83E0-44E6-83C3-21E1AD3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5D629-85E5-4F43-8E88-84A5AFE2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High-speed fabric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E1F3E-4DF7-4D4D-89C6-88D0BBAA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1828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Shared access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E1504-7027-4011-84FB-3E6BA3BE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5336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97D51-E6AA-419F-A7DD-54DDF9B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6C952-8115-4BF5-8F6B-B29FDAC5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DNodes / DBoxes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99A03-5833-49E4-AB07-08C92E0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Persistent NVMe data layer</a:t>
            </a:r>
          </a:p>
        </p:txBody>
      </p: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2410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4355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34390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A6A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8CA64-C1A3-4CBF-B328-B415C4F2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62450"/>
            <a:ext cx="834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Independent scaling of protocol/compute and capacity resources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DDDAC-F443-4BC5-A5D9-68B6E92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944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67CE0-4610-40EE-88DA-7F4130B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00AA0-0F73-4D22-8B8E-FA3C5EEA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81600"/>
            <a:ext cx="908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TROUBLESHOOTING IMPLICATION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D479F1-E91E-4F6A-8B45-66C1A04B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67350"/>
            <a:ext cx="908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 slow request can originate at the client, endpoint selection, protocol service, fabric, or storage layer. Architecture tells you where to collect proof.</a:t>
            </a:r>
          </a:p>
        </p:txBody>
      </p:sp>
    </p:spTree>
    <p:extLst>
      <p:ext uri="{BB962C8B-B14F-4D97-AF65-F5344CB8AC3E}">
        <p14:creationId xmlns:p14="http://schemas.microsoft.com/office/powerpoint/2010/main" val="1236335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A0420-5FE8-4D9D-A0C4-A9F78F4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C90C6-DC03-4E62-9527-9EEFC29B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0B46-4E4D-48B0-82A0-7D409BF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372D8-500E-46C8-A1A0-2649E44A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CNodes process requests; DNodes provide persistent storage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E7A10-934C-42F5-AB51-ECF40A1D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0AB98-4110-476D-8EE5-2DFB1E0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3582D-DABB-4873-BCB1-8D8AB508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ED856-DC7A-49A5-871E-2C4CD1E5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59BE2-C536-43BE-A345-1F6E073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CNODE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D4A9B-C095-48D7-857D-EC219E33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E7FBA-50B1-442E-A435-C422AB85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DNODE / DBOX RESPONSIBILITIES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18C2E-E2F3-4C22-B121-40CA9813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6B434-0102-45E7-849A-48DE72E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Stateless protocol endpoints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Client request processing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File and object service execution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Scale protocol/compute capacity independently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Expose service through assigned network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B7FF1-F6A5-4360-971D-BACCC38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Persistent NVMe-based storage layer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Hold customer data and shared metadata structures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Provide capacity resources to the shared system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Remain distinct from Ubuntu client storage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Observe inventory and health through VMS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5F384-4E5A-4F72-8147-C4F0D5AE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36C5B-1014-49D7-8825-9EE9E99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39C2D-8BC2-47D5-90A7-98A9048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OPERATIONAL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94620-2065-4E0E-863C-3566373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61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Is the symptom tied to one client, one endpoint/CNode path, a shared service, or the persistent data layer?</a:t>
            </a:r>
          </a:p>
        </p:txBody>
      </p:sp>
    </p:spTree>
    <p:extLst>
      <p:ext uri="{BB962C8B-B14F-4D97-AF65-F5344CB8AC3E}">
        <p14:creationId xmlns:p14="http://schemas.microsoft.com/office/powerpoint/2010/main" val="966775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399C49-183D-4C08-B47A-F89132C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F1524-3F5B-45A9-956A-61901513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2349E-B9B8-4C3E-B692-B1837D9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07350-0225-4CB5-ADAB-13B24AB7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A request crosses identity, namespace, metadata, and data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35882-D332-4BDA-8B42-95DB5A1B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3731B-7D44-4849-AB31-87C7E70A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3C604-EBE3-45AE-94D2-738E228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5F536-97D6-4092-9D1B-0ACE2AF1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8A773-4999-4DE2-8477-98A3506B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97D23-B4BE-4C36-994C-42B6D851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92448-3DBE-4DFE-ABC2-DB9D816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path +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45B3F-D0D8-47E6-AA7F-96D95E1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6025A-B3F7-4C19-83A8-8684B62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00E97-A3DA-4E67-B19F-C3A5B22B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Protocol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C9D4A-215C-4ED4-B18A-6B509165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/ SMB / 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97C83-21D3-44E9-B57F-16406198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D819F-A986-4C86-B445-03FA150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A9810-6613-4B29-9687-FAA0526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D47A2-33C6-4C63-A3C5-5017734A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metadata • ACL • 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71AC8-BAFA-408F-BBFD-A4CD5FE0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5336A-1801-408E-94EF-4F76D94C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6DD75-ECF4-4F12-8728-471D819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Data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0DFCB-CADC-4284-A2DB-48C9434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shared persistent layer</a:t>
            </a:r>
          </a:p>
        </p:txBody>
      </p: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67063" y="2486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6" y="24860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7288" y="2486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989A3-A733-4016-A0F7-47962E6C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05E13-C21A-46AD-8CF1-E037A408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Evidence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B63BF-3CE8-4085-8C07-7FFFBB18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48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D44C4-F5C0-4D91-9980-99FEC2C3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48100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Typical 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4EC081-C5BD-441C-B795-19240D40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B0CD91-89D1-4375-A7D6-1CC0EC57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Identity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F29A0-799F-4828-8FE1-6B30DFC3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62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Who made the request?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341793-FEBD-4446-80FD-D2E37749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UID/GID, SMB user, S3 access key identity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3E807C-8B64-41C5-91D6-FCFA8478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D8D862-ED38-4BE2-83D3-2787A2A0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EE783-D98D-4A52-BC76-45D7625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14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What exact path or object key?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C7A1DE-A4FC-45FB-AD03-FC2308E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View/export/share/bucket + client-visible name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D22817-E1AA-4ED8-8D66-7A0BDA0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F1A975-3DEF-46AE-AAE5-EC1EB5D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FAD489-B1F2-46C0-A5ED-9CB66F24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67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Was lookup and authorization valid?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B7DBB6-F2D7-44A5-95BF-A6859E11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stat, ACL, ownership, timestamps, protocol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80100A-5784-4B80-9660-3E5395AD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97A351-21F2-4677-91D9-E8F99F2E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04DE44-A856-4124-8FD7-FDC734C5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19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Could payload I/O complete?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7B1852-0606-4042-B9AC-6C97D22F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198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IOPS, bandwidth, latency, errors</a:t>
            </a:r>
          </a:p>
        </p:txBody>
      </p:sp>
    </p:spTree>
    <p:extLst>
      <p:ext uri="{BB962C8B-B14F-4D97-AF65-F5344CB8AC3E}">
        <p14:creationId xmlns:p14="http://schemas.microsoft.com/office/powerpoint/2010/main" val="389322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B1BC55-46E5-453D-94D2-C0B0135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6919B-5797-49A1-8E85-5574293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A82C3-B2AF-4681-8FA6-C04DBAA8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9F84E-CF6D-4FDE-96E4-DA920E3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Element Store and Views connect file and object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3E33A-66C3-4D70-A513-BDA4D19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F2E6-D55F-4E41-8360-18F9ED0D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04507-EA6C-47D8-9B7E-F4B288D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5C81A-6F4C-44DE-A3D5-B992EA6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81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30358-60FF-48E5-B22E-E37E258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49DDB-A409-468A-8003-616D153B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3852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VAST Element 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EC7D-5DA2-49C1-99F5-D6A99660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Files + objects + descriptive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2341C-37B1-4979-BEE8-EFF4BF5B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CD088-AC47-4BE0-81C1-6C20001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1D4F9-1018-41F0-A6F3-763ACF22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NFS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CE123-B230-44D2-BE85-A10D77CD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POSIX-oriented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74CB7-E6C7-43F9-9792-7FD9376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F257D-D7B2-4B08-9C10-47BA0854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90A0F-EA42-4F7F-B87B-EC13742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SMB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BA75A-7943-4CA5-94CC-0656653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SMB ACL-oriented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453CF-79CA-458E-819F-6824A34C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A91AF-B93C-4DAD-9A48-7E131DE7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36D27-9B98-4DC2-A78D-A3E166C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385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S3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D6642-D041-46C8-ACC2-4A80E48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576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Object request path</a:t>
            </a:r>
          </a:p>
        </p:txBody>
      </p: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14650" y="2143125"/>
            <a:ext cx="1390650" cy="1838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14650" y="3857625"/>
            <a:ext cx="13906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886700" y="3857625"/>
            <a:ext cx="13906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A6A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CA77E-F355-4CD7-AE19-58F8E650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29200"/>
            <a:ext cx="811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32673-4D91-4ACF-A4F3-392AD2A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29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14824-7846-427F-88CD-27129778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62550"/>
            <a:ext cx="775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INVESTIGATION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7EAAD-DDD0-4D22-97C4-CEDEF5F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48300"/>
            <a:ext cx="775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Validate the exact View, policy, path, protocol, identity, and underlying permissions. Multi-protocol access does not make authorization rules identical.</a:t>
            </a:r>
          </a:p>
        </p:txBody>
      </p:sp>
    </p:spTree>
    <p:extLst>
      <p:ext uri="{BB962C8B-B14F-4D97-AF65-F5344CB8AC3E}">
        <p14:creationId xmlns:p14="http://schemas.microsoft.com/office/powerpoint/2010/main" val="1224272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BEF994-BD1F-429D-9ACA-BA97EE65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3118C-F1E5-4C93-B332-3EA62E0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315CC-845A-4002-AB10-1D41D468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C945E-CF7E-46CD-AB47-AC3B1C8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Scale, availability, networking, and capacity differ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CDE74-4060-4DDB-A46E-41792898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AC06D-B043-4E0F-B407-995CF01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F816C-F939-4FE6-8DE9-E6BE714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C15D6-6108-4756-8E83-4091C3C5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373F2-959E-479F-B5B8-D735FD0D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30C2A-A29C-4C6B-AB9E-56D0B8F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47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What to 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C10BE-BF77-4335-A33C-A7E4A23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47800"/>
            <a:ext cx="516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Troubleshooting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82479-2B91-4286-BF37-9B0AB34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56D96-3DDD-40FE-A93B-8D2400ED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01E0F-2F65-4254-AF4F-CC50CCE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Bandwidth, IOPS, latency, workload shape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8088D-47B4-45FD-BA61-ACA0303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Confirm scope and time of degradation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BFCC2-D15D-4757-9CE7-C55C435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B7C2C-99C6-44C3-873B-2510540F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C581C-27B5-4B44-84FB-94956C03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Health, alarms, affected resources,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B6072-5B78-484B-9AE8-92F56519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Determine service impact and redundancy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B7388-CC3B-4CCF-ABD4-F1617244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7BA35-B5AA-463F-AE3C-296D47AF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Networking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B7DFB-CEDE-466F-9D25-7AC28874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VIP pools, endpoint/CNode assignment, traffic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17941-0239-42FB-9CCF-B4BC0DBD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Check distribution, isolation, and reachability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C8A42-0609-4D23-A639-C70E7263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4A5D0-5662-4946-83C5-DB978978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Capacity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FABC2-FB16-452B-AEC1-30D85D0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81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Logical, usable, unique, growth, reduction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30747-C0B9-4608-9575-48FA35CB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Separate space pressure from performance symptoms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879D6-FA04-4BA0-BB22-B8BC5C83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16DD85-F4E8-41B2-9828-B9454537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08E82-2501-4FBF-89FC-F192C86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CNodes, DNodes, media, links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80EB5-4A7B-476C-8A16-9708F6B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244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Identify component scope and configuration drift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25EF3-086D-474B-A6A4-1061E99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CEC09-E2D6-455D-985A-D7488C06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150DB-456F-4F80-AAFE-47424C4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61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ENTERPRISE WORKLOAD LENS | Large sequential training reads, small-file metadata scans, and multi-protocol dataset access stress different parts of the path.</a:t>
            </a:r>
          </a:p>
        </p:txBody>
      </p:sp>
    </p:spTree>
    <p:extLst>
      <p:ext uri="{BB962C8B-B14F-4D97-AF65-F5344CB8AC3E}">
        <p14:creationId xmlns:p14="http://schemas.microsoft.com/office/powerpoint/2010/main" val="2779252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9462E-D1FF-4C7A-B2DF-2D6F09AF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605BF-A23D-4E24-9682-7006F3D0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5427D-2831-4900-912B-7F729AA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D0DB8-8976-40A7-9CFA-CDBDF6CE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EB30B-8A40-45E6-9BE0-0E7D3C3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56DE5-438F-4F48-87AB-BB10E3F7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1CBE-BCC6-4A21-B922-2586937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22ADE-8F4B-46C2-AAC1-1BD645CA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5C94D-47C0-40AA-A78C-9F056457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E18FD-B00D-4626-AE35-2D4DBB7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does DASE mean in VAST architecture?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D879E-42AD-4576-92BE-DE64CFB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Distributed Array Storage Engine     B Disaggregated Shared Everything     C Dynamic Application Service Endpoint     D Direct Attached Storage Expansion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5E4D2-891E-44D3-B2F8-6A70B71A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D4EF2-6124-4908-8F85-420BA56C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24023-1472-4EE6-8B91-A22984F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Which scaling action primarily increases protocol-processing capability?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19D1E-3732-4001-BBA3-41341DA2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Add client cache     B Add CNodes     C Remove paths     D Reduce clients</a:t>
            </a:r>
          </a:p>
        </p:txBody>
      </p:sp>
    </p:spTree>
    <p:extLst>
      <p:ext uri="{BB962C8B-B14F-4D97-AF65-F5344CB8AC3E}">
        <p14:creationId xmlns:p14="http://schemas.microsoft.com/office/powerpoint/2010/main" val="1890512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8E740-FF7E-4BAF-8A8A-4DE7D0F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C8FE7-6011-4D6A-9C6A-DAFD293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C16B5-F5C3-44CD-AFC1-7ED8C72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343F2-AC1E-4E5D-A045-9E372330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2 | Monitoring turns raw signals into incident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02DCE-5A60-4834-B3C4-FEFF784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58D2B-A5FD-4D1F-B1DF-B5D540AC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7C0F4-4E40-4898-8FFD-F02615B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517D-827A-43F9-AEEC-BF3A65F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5E49-6ECE-45D0-89BF-C29218AE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6D589-5770-43FA-80D9-39BE3F2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66947-BE61-42A0-A51D-15A8153C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Distinguish events from alerts, validate system health, investigate affected scope, and correlate VMS with client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81BFF-CEF0-40C8-8B2F-C8F107C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227CA-5A0F-485F-AA3D-7A8A767A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77BAD-A05F-4473-A7C7-A23D8EE1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Prioritize by severity, scope, and customer impact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Align alarm timestamps with workload and metric changes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health after recovery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Avoid treating one dashboard value as root 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EA158-7F8F-417A-AE09-A0CF1243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7D1D4-D02B-48F7-B5C8-1D57FAB8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D6378-C2C5-48C1-86CC-2693A071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90C36-D50B-4174-B8D6-4932F6D2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VMS alarms, events, health, capacity, inventory, analytics. Ubuntu: Prometheus/Grafana client and workload monitoring.</a:t>
            </a:r>
          </a:p>
        </p:txBody>
      </p:sp>
    </p:spTree>
    <p:extLst>
      <p:ext uri="{BB962C8B-B14F-4D97-AF65-F5344CB8AC3E}">
        <p14:creationId xmlns:p14="http://schemas.microsoft.com/office/powerpoint/2010/main" val="2081334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1A74D2-E638-429F-BCDF-ED067E81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6D561-3618-477C-BA7D-8CC6B5DB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68576-FF03-439A-983B-8C3380F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2FD1C-F77E-4012-BC0E-3A309B88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Events record; alerts demand operational 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D7CF1-793F-474D-8987-E8330E6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9D1E0-EC2C-4AF2-903F-533DE704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8DF45-0A08-42F2-A67D-9276A42E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CE681-E7AF-4FE0-8FD1-26A81726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A7B62-81D7-487C-A101-5F3B2031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89DDC-55B5-4012-B5B9-AAD3E3BA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00200"/>
            <a:ext cx="3448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B9C21-9AFE-4068-9656-0733342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First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F8E30-7400-46C0-9D35-576B6C31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BA926-E3E6-41CF-BF52-6D990B21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802E5-2517-4FF7-BA70-B159D870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recorded system occurrence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EA408-1864-49CD-9374-62765AB9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What changed? When? Which component or service?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8481C-707B-4C8E-B2FC-A6841B8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46F4C-4026-4D9F-B022-D9A24EC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Alert / alarm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01969-AF83-4786-A9B4-F29383A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condition requiring attention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06F4F-0D6D-4D6F-B169-152E76FA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Severity? Scope? Impact? Acknowledged? Recurring?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58AAF-CE4C-46AA-9036-07E70F76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737D1-E268-4525-8C7D-76D35683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Metric anomaly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1972A-42C3-4470-8E81-C12841F4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955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Behavior outside expected 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DCBE2-D4F2-41AA-8204-5CC5A0F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Compared with which baseline and workload?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F00D2-502B-456A-A885-84C72D3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6B205-E23F-42D0-ABCB-576902A4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User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E8A15-0548-4073-9D78-0F21E29A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Observed business impact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FFE93-AC3B-41AD-956E-68D2C435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387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Who, what path, what time, how reproducible?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101F7-4949-4C16-82E5-4695091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34B5B-4DD0-4F58-A691-9F2152A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719C1-BFB6-4B16-9EBC-2CF37C0E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61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CORRELATION RULE | Time proximity is evidence of association, not proof of causation. Confirm a plausible mechanism and a controlled re-test.</a:t>
            </a:r>
          </a:p>
        </p:txBody>
      </p:sp>
    </p:spTree>
    <p:extLst>
      <p:ext uri="{BB962C8B-B14F-4D97-AF65-F5344CB8AC3E}">
        <p14:creationId xmlns:p14="http://schemas.microsoft.com/office/powerpoint/2010/main" val="1184088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D34BF0-A8D8-47CE-BBC5-06F66256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02F03-8E38-4EF6-AC74-59FC13B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9412E-542E-4C30-A724-8659C55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8CA53-C4DD-4F59-9490-51EE6101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Health validation starts broad, then narrows to affected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1769D-23FD-4777-AB14-CA9C82E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9187D-5EC2-46F8-B0F5-80CB0C31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E126C-E581-4086-93D4-EA9550DA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BDF76-6205-4C76-9576-F89FA85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C20CE-EA8B-45B6-A66B-1CFB4C32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6E0D0-9B62-424E-8C2B-72863457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39A04-5187-413D-AC55-98C6C50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status +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3145E-C00C-44F4-8489-2A0A0D6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B0DAE-EAB3-4042-A76A-F53B6037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2ECD4-C95F-481E-AA1D-6AAEF87C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Alarms &amp;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AB563-6E60-40AB-8D91-E56A41E8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severity +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E6890-0C80-4AD1-AE13-DBC58E64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EFADE-E9F0-4697-8381-6066167E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DC365-373C-44D7-BE79-E5CA62B3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Affected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BDE08-CD90-461F-8EFE-8BFAD495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node • path •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92BB0-DFE8-42AA-BD24-AD6AF2D6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1C41E-4957-4B80-9A38-EA15FB6E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91ECC-8E01-43E1-B440-C7BFCFB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790C8-1D92-4057-A3FE-86A46028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bandwidth • IOPS • latency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22DDE-7DC5-4A24-899F-8790BE5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DC691-9D4D-45BE-AFB9-AC94919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30F8D1-0996-4E75-B991-D26DD780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EFBAC-1BB1-437E-B7F9-6CBFDD2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service + workload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32BBD5-87CF-437A-A096-A2158026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C85A4-0323-453B-97C7-99862309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8AD6F-8A66-4FB7-AC31-51304D05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859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EVIDENCE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81B199-341A-4617-89F5-9F5252F3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19600"/>
            <a:ext cx="859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Capture alarm ID/type, first/last timestamp, severity, state, resource, correlated metric change, user impact, action, and validation.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6A289-E49F-41F6-86BB-72604F20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659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913ACE-AD7F-404E-A2D5-0D65D80D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B5D933-808E-4878-9E38-2F7BBD7A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91150"/>
            <a:ext cx="622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DO NOT | Delete events, clear alarms, or restart services before capturing the active state.</a:t>
            </a:r>
          </a:p>
        </p:txBody>
      </p:sp>
    </p:spTree>
    <p:extLst>
      <p:ext uri="{BB962C8B-B14F-4D97-AF65-F5344CB8AC3E}">
        <p14:creationId xmlns:p14="http://schemas.microsoft.com/office/powerpoint/2010/main" val="9882265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A5EB16-C98B-4F58-9C64-EABE1B8A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9A862-FAB4-41D7-8B60-D60A6A32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160CC-A6D7-4ED9-8063-07298B70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1F482-F4B3-414F-8995-2A5CC071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Prometheus and Grafana add client-side context — not VAST internals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13E22-96E3-48E9-8793-A22C4A2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0EC91-C81E-442D-BFD2-3194E474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CFAF7-A8E4-4C69-9B1A-A2BC622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0CCFB-1AB5-4372-8B16-CB7ADCD4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F3EE1-2BCB-4FE5-8E07-30BFE093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A1BB9-F374-4D45-BF28-28A0D6D5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Workload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3C29D-BDFE-443E-9E0C-BB1202E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fio •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5930F-24E3-43C2-869C-511A96C1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C0277-9A30-4F35-A4A2-7505DEA6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CB0CD-DFBC-46DA-A825-8A35961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Ubuntu host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58E75-1E0F-48EB-8B5A-0E249D98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node exporter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8D1CD-DE63-494B-952F-BDB578E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FC0E8-D2B3-4195-B6F0-AB60C11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BFDF3-3020-4705-B6C0-7A25240F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Prometheus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8263E-75B5-499A-9CC5-32E7A463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scrape + retain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0C475-6B4A-48C6-83F1-789D0CE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BC64A-5206-4E73-B04D-51F85CA0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C9FF3-2C89-4E86-AAAD-985AA55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Grafana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306E7-E0B7-4407-B367-74FFB4DF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correlate panels</a:t>
            </a:r>
          </a:p>
        </p:txBody>
      </p: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67063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6" y="19145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7288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77874-24F6-4E60-A786-7E24CE82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57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EAA46-0E12-44CE-B673-8457075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PROMETHEUS.YML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844730-2347-46DB-9403-24FBCE6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6B7A3-621F-450A-9CB9-2745FF15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global: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00032-B7A5-4BD5-A506-2E736F6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scrape_interval: 5s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2CE5F2-0105-4129-97E3-431A3A7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scrape_configs: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BBE938-3D19-4A24-B476-952F2AC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- job_name: ubuntu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1287B4-345B-41FB-B51D-FDA57BF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  static_configs: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D34781-EF6D-4EE2-B43C-6378F60D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    - targets: ['&lt;ubuntu-ip&gt;:9100']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37971-9968-45C8-AAC0-05E91E2F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0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7D6647-8332-4481-B9C0-31B30C8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GRAFANA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DD3E6B-3749-40D6-B93C-A822B4D8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CPU: rate(node_cpu_seconds_total{mode!="idle"}[1m])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Memory: MemAvailable / MemTotal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Network: receive/transmit bytes + errors/drops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Disk: I/O time, operations, read/write bytes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Overlay fio throughput and latency timestamps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B843BE-7C06-4BD1-B633-70148AE5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86400"/>
            <a:ext cx="523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7F3BD-0532-4388-8243-561ED42B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864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E27209-784E-4627-9CDB-B761C6E6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BOUNDARY | These metrics describe Ubuntu and its workloads. Use VMS for native VAST health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811784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670B5-BCBF-43E6-9E59-765F2D0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B353E-1CED-440E-99D5-7E54A03F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DD63E-08B5-4B92-A77B-828C437E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3FFA1-9687-4C71-8D65-389D307C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2 | Investigate a VAST VMS alarm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6392-99A8-45B3-80DD-CF0944E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657FD-4DCA-4F54-ADDE-2F0AED9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800EF-6C38-4FE5-AC85-6141ED08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37443-FD7A-46BD-AA9F-70C4F3AC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5230E-A842-4B38-ACB6-D967001A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5B683-54CD-4FCD-8301-17641F8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FA03C-5FCA-40A0-8160-D4C4489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E7832-4951-409E-B9A3-F26584C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Build an evidence-backed explanation of an active or historical VMS alarm.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1F6F8-04B6-4CC7-A78D-F45C20CD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8B346-701F-40A0-8F8B-A75ED4B3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878BB-7F42-4B41-AC06-E73A5B51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6453B-A7C9-4B10-97BD-CF1880B6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critical or warning alarm appears; customer impact is not yet known.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CC9BC-F114-4C54-A6B0-08E62CE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6A385-EF61-465A-85BB-C07D971A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51B4E-3579-48B6-9EF0-51F8464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Browser → official VAST Data Labs → VMS Dashboard / Alarms &amp; Events / affected resource / Analytics.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6FCDD-8D8C-4AAA-AB1D-17990C5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A459C-B862-4050-ADD3-51D5B45B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B0F4C-EE5E-4A7B-B0A0-6C14B39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Cosmos account and launched lab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Cluster shows Online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Core VMS menus load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Read-only restrictions understood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C13A4-172A-4379-A80E-F4E4615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F0165-27EC-4660-B634-A96CE773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4A120E-24EB-4F7A-8244-1BE46EC0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Record alarm type, severity, state, resource, and time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Open related event/activity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Check inventory and capacity scope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Align bandwidth, IOPS, and latency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State impact, hypothesis, and next evidence</a:t>
            </a:r>
          </a:p>
        </p:txBody>
      </p:sp>
    </p:spTree>
    <p:extLst>
      <p:ext uri="{BB962C8B-B14F-4D97-AF65-F5344CB8AC3E}">
        <p14:creationId xmlns:p14="http://schemas.microsoft.com/office/powerpoint/2010/main" val="8718888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B9CD1-ADA8-4828-BC6D-9E5929A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E5A0E-E51B-4BE6-A2BD-27B9CAAE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6833-C34A-4A13-B2D7-C99A944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D9A27-C95C-4CCD-902B-72DE4EF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2 | Investigate a VAST VMS alarm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0A0FF-1439-4C00-9431-55EDAE7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6DAF3-8798-4C97-B91C-F6C9C39F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F8159-CF47-4211-B92A-6F8CE8C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C984B-AEE6-4D7D-95E0-74701AFB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268FB-D95B-42CC-8954-419384F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AFBDC-E071-4AC7-8FB5-2F1D0E9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14CFA-EB3F-4AB9-897A-6F7217D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9E2C6-0620-41F3-AC97-96F3F71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Dashboard: record cluster health +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36C5B-B30A-41B4-B3CF-1932B707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3343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Alarms &amp; Events: open one alarm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6B593-02C1-4003-B35F-B8403984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1236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Record: severity | state | first/last time |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37D41-FB2A-4663-B3D4-FAB4979B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9129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Infrastructure: confirm affected inventory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2A1F8-1A28-428B-A00D-0972EFF6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7021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Analytics: align bandwidth | IOPS |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3CC50-657E-4633-BB12-061CC71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4914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Activities/Events: find adjacent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6CE6-F61C-47F5-BBB9-22CA641F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2807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Validation: re-check health and active alarm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50E66-7180-42A0-BA8B-58E5D081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C6889-9EDE-4996-B673-A81C01C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84BC7-7D71-44A8-BBAC-FCB3E05E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coherent scope and timeline. An alarm may have no customer impact; metrics and affected resources determine significance.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494D2-8378-4FB0-B374-60701913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F28F1-1CC4-44A5-87BB-75190752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CDC0D-823D-487C-9384-1B73D28F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Screenshots or worksheet entries for alarm details, resource, time window, and aligned metrics.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BC5C2-D6CF-4B3C-9F9A-00CC4F81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4D2A6-58E6-4235-97B7-3814C45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938E8-C32A-4442-9AB4-A69EAE61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No configuration change. Close the lab session and retain the worksheet.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0128C-998B-4834-8D28-657F9E13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C604B-1B91-4A99-9FBA-F58BE2A0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B9A9C-FFE7-43D4-9227-95B3C40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conclusion distinguishes observation, impact, hypothesis, and missing proof.</a:t>
            </a:r>
          </a:p>
        </p:txBody>
      </p:sp>
    </p:spTree>
    <p:extLst>
      <p:ext uri="{BB962C8B-B14F-4D97-AF65-F5344CB8AC3E}">
        <p14:creationId xmlns:p14="http://schemas.microsoft.com/office/powerpoint/2010/main" val="11189973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BBBD-0B06-4B13-8424-0492192E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6F95A-DB0C-48A6-9000-723B1F35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8712F-EDDC-4072-A2F3-5A339F0D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F39FA-7CA4-45AE-B034-3BB67F0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174C2-23D9-475B-B67D-9EBD5EB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91A78-B5B4-4E45-BE2C-8BB48B2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F0673-311A-4589-8A5D-1ED328B2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29013-F219-438D-B6DB-D92976C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9C2FF-7407-4454-A49E-0E0C23B9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0E2B3-6A84-4D75-8B94-34139A8B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is the best distinction between an event and an alert?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4ED1E-5A5C-4E39-A20B-4C230B7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Always identical     B Events only in client logs     C Event records; alert requires attention     D Alerts have no 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205C3-5062-40E3-B7B3-E27F015D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71B41-E667-4FA5-9D5D-C8052192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B5034-5976-4F2F-A55D-EA7444E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Why align timestamps during alert investigation?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19E5B-C9B2-4E9A-8214-511C487C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Increase capacity     B Reduce permissions     C Create namespace     D Correlate alarms, metrics, and impact</a:t>
            </a:r>
          </a:p>
        </p:txBody>
      </p:sp>
    </p:spTree>
    <p:extLst>
      <p:ext uri="{BB962C8B-B14F-4D97-AF65-F5344CB8AC3E}">
        <p14:creationId xmlns:p14="http://schemas.microsoft.com/office/powerpoint/2010/main" val="7697704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75191-EAAC-4E6B-82FF-B134CF79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B1A3A-B5E8-4068-9A6A-407C8E2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2AA30-8C91-4C89-A0D6-2B3735C1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822F4-724C-4973-9651-5A598792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Module 3 | Performance begins with workload shape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186C6-65F0-4CB3-A6E5-A4F8C145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5BE22-46E4-4152-8AF4-F2DB6AD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9E1CD-0244-44E5-A949-F2C09125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3CF57-8E1C-4DF4-8D13-58C5D037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6837B-00CE-4C31-BC8D-8F09E07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9CC42-65E7-4A83-BA5F-721965E7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DA2A3-1A23-4E89-976C-7D82EF38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Interpret throughput, bandwidth, IOPS, latency, queue depth, read/write behavior, sequential/random access, and latency percentiles.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5BD2B-E5B5-4C30-87B3-8ECB57C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723E2-CBAF-4371-828D-F24A4389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76F54-9947-452D-B191-498B8A0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Establish a reproducible healthy baseline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Profile block size, mix, concurrency, and time variation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Explain average versus P95/P99 latency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Find the useful queue-depth operating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762DF-964C-4A38-B6AC-8F0BECFA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9AEB2-86A3-41E3-8E44-C554487F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ED091-3DBA-4D43-B7FB-8748B8A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D8406-C027-41E9-9020-697FB42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Ubuntu: fio and Linux metrics. VAST Data Labs: observe Analytics bandwidth, IOPS, latency, and capacity context.</a:t>
            </a:r>
          </a:p>
        </p:txBody>
      </p:sp>
    </p:spTree>
    <p:extLst>
      <p:ext uri="{BB962C8B-B14F-4D97-AF65-F5344CB8AC3E}">
        <p14:creationId xmlns:p14="http://schemas.microsoft.com/office/powerpoint/2010/main" val="13009042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6ACCA8-B61B-4073-9AFC-BF6EFD11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8BB0A-79BC-40EA-8F52-EE8C3CF3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35CED-CD99-4FAC-B17E-116297F2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E17F6-AEAB-47C7-8234-68C91A1B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IOPS, throughput, bandwidth, latency, and queue depth differ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A593F-156C-47DB-B280-E5C5935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37306-D748-4C33-9E7D-2617B0D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F2D09-E622-45BD-A5B5-3FDE9E66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92B30-9E91-4FF0-906E-BF57099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39D9E-7615-4C7C-B9AF-86335C4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IOPS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67040-FBC6-4926-9549-9F0E6BD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ops/s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896D-E30E-443D-AA3B-4F57A01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Operation rate; depends heavily on block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C467E-3DD9-4458-B856-139A675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A3357-C049-4334-9DF0-63691E5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Throughput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7B889-A090-49D1-94E3-FF26098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MB/s or GB/s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6AF88-23EB-4BE0-A8FD-762B9B67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Useful data delivered per unit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92388-A3BF-45B3-923B-199FECF8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0D5AC-2B5F-4389-8E92-27B0D85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Bandwidth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BB185-F50F-4181-956A-163E5DE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path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5FD2B-AA20-4365-8917-F83EC5D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Available or consumed transfer 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19394-D0A0-4295-9960-C6C1E6C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37503-9929-4835-8F79-50629F06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0B7B9-7F3A-4C28-B786-E5CDB76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µs or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A9088-4EA2-46B9-9DB3-8F2C3DF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Response time for an individual operation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05881-15F7-470C-86D8-09851FFF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1E2D1-6CFE-48A3-8190-82F55242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Queue depth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6C02A-6DB1-48CE-8409-A2949D8E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in flight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7D0C7-49B6-4AD4-A37C-7BFE591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Outstanding requests waiting or executing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794C9-6923-4530-80AA-E4C64B9B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9944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9D6430-50EF-4266-B049-E3600E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C48C3-279E-490E-882E-02116CC0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958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RELATIONSHIP | Approximation: throughput ≈ IOPS × block size. It does not explain tail latency, retries, protocol overhead, or workload mix.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9AFC0-3AE0-4242-BD16-909F6150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457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3D89F-8AE4-4104-A19D-90A60825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422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CLIENT OBSERVATION 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8F0CA-A1DC-4375-B092-6BC3FB75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483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341FE4-ADF0-4F11-B661-D93BFD8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htop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03B20-8DBC-4B52-A092-E6274D4E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4642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vmstat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BD2A7-DA82-4530-8DB0-AA6761B8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6834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iostat -xz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936AA-C5E4-4C8E-BB74-FEA8357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9026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pidstat -dur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D93F2-A4E3-46D3-BE04-4B1D158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1218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sar -n DEV 1</a:t>
            </a:r>
          </a:p>
        </p:txBody>
      </p:sp>
    </p:spTree>
    <p:extLst>
      <p:ext uri="{BB962C8B-B14F-4D97-AF65-F5344CB8AC3E}">
        <p14:creationId xmlns:p14="http://schemas.microsoft.com/office/powerpoint/2010/main" val="3196177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F1AC2-9B10-4BFD-B26B-BA9D76ED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BB227-112F-4291-873E-8C9E221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FD3F1-B752-4A81-9642-52FB345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C8DA2-DF2B-42BF-BB77-9CEE4AEA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Tail latency exposes slow requests that averages conceal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90849-28BD-49FE-9272-BCA68CAB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F8EC8-CFAB-4ACA-8132-0E93860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11BFB-6263-4CE4-A0EF-5D01188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22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693420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28f9deb989415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1C03C-EAF2-40EB-B901-820B1F01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3695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8B2D4-5E98-412A-B3E3-106B92D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D2C18-5B60-40D6-BABA-19E1D64D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D6E6F-91D9-450D-98D6-3116F2B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Increasing queue depth is useful only while throughput rises acceptably. Beyond the knee, waiting grows faster than useful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CCBAE-11F4-4C22-A660-0D3A20A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3695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FF6E3-843C-47E4-806C-4709B00C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FC516-8FC1-4C44-9F75-FBAB352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PERCENTILES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5D09E-9F16-4599-A1D6-1E32F66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P95: 95% complete at or below this latency. P99 surfaces the slowest 1% that often determines application experience.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2D962-B9BA-4D36-85E0-2AEE966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2667A"/>
                </a:solidFill>
              </a:defRPr>
            </a:pPr>
            <a:r>
              <a:rPr sz="1125" b="0" i="1">
                <a:solidFill>
                  <a:srgbClr val="52667A"/>
                </a:solidFill>
              </a:rPr>
              <a:t>Illustrative training data — measure the actual lab path.</a:t>
            </a:r>
          </a:p>
        </p:txBody>
      </p:sp>
    </p:spTree>
    <p:extLst>
      <p:ext uri="{BB962C8B-B14F-4D97-AF65-F5344CB8AC3E}">
        <p14:creationId xmlns:p14="http://schemas.microsoft.com/office/powerpoint/2010/main" val="8098357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FC961-8794-46A2-BCAB-760267D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AA2FC-4D6B-464D-9E21-8C4A35CA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60442-9632-4799-B4B6-8CD40E4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9A50C-03A1-4AF6-9CC6-8954814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Workload shape explains different metrics on the same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A9B25-01BD-4073-83D8-6118AFAD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2F38A-56BF-4DB2-8733-7DC3230D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88E75-9C6E-47CF-8805-41BD230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074AE-2A10-478D-B4B2-3202552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425E8-0D44-452F-BF5F-C15BDFDE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Profile dimension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CFBE8-7EFE-48BF-AFE9-E576FDBF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9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566DD-C592-4C61-BA7F-78EFED7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9065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Expected influence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A7642-3691-422D-B2FA-64C3E4E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5F4AC-BEBD-4076-8477-5AA44AD5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Access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4E37-A2FE-4FE4-B21E-02F5855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62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Sequential vs random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370D0-A8F7-4F9C-AEF4-60A05662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Throughput efficiency vs operation pressure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70E79-B331-460E-9076-7CB0AC40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E95C5-9E86-49DA-B5E3-F8561C5F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Block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F467E-361C-4745-8A3E-E4F0CF74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4 KiB vs 1 MiB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5824B-07C1-4265-8226-B101DCE7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IOPS emphasis vs bandwidth emphasis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3C1AC-697C-4762-ADB0-C9C39938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AD9C4-525D-4DED-85E7-119773C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Read/write mix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A254F-03A7-4F0A-A2E4-493C37AB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100% read; 70/30; 100% 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BEDF1-BE02-4861-AEC2-A6394E2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Service path and protection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A8A41-9F2E-46D8-8ABE-40A78CE7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A9CF4-6067-4CD9-99B7-4A6D82D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Concurrency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BFAD7-A668-4342-A029-8707BB5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numjobs + queue depth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A51D2-3BBD-45A8-AC11-B1A6FD4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Parallelism, saturation, waiting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A49DA-B6D4-4CF3-9906-E094429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F1EABA-E949-4732-AA5B-8B4559CD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Working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A55F27-AF8C-44E3-9E10-2A74BA0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Cached vs larger than memory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35FE0-90B9-4679-8A01-4135D54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Client cache and repeatability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9B9FF1-0004-43F7-A31F-93A68A00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015CA-DCFA-4690-A8B6-EE23866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D643BD-E025-4194-A7DA-D801F65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10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steady vs bursty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C79DC-3EA4-4511-AD8C-E1B3A4F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Peak demand and tail 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F8ADB0-1149-4AE3-982C-C5E4B6C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AB5634-0857-4A4A-B2D8-A849E43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36E64A-0912-4229-8924-CC2945EC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61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BASELINE RECORD | Save workload definition, client state, protocol/mount, dataset size, IOPS, bandwidth, average/P95/P99 latency, CPU, memory, network, and disk utilization.</a:t>
            </a:r>
          </a:p>
        </p:txBody>
      </p:sp>
    </p:spTree>
    <p:extLst>
      <p:ext uri="{BB962C8B-B14F-4D97-AF65-F5344CB8AC3E}">
        <p14:creationId xmlns:p14="http://schemas.microsoft.com/office/powerpoint/2010/main" val="13736306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F5747E-8860-4645-AF29-A570FA4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87AD0-9C57-42FD-824E-9434699F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6541-08B5-4D2A-B651-1A798AA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C0F1C-8C1D-4484-A7D3-FA4C8FF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Record host identity and resources before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18137-8A78-466E-95BC-1D53D79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47624-42D0-4CB9-B65E-B7436566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887ED-360F-4B9A-9304-92DE5CA0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90EA5-9C4E-416A-AD82-848AEB65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1912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C23BE-E72C-475A-B98B-67F1765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UBUNTU 24.04 BASELINE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7B9D1-2D4D-4EBB-9E5A-F28762C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88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62E4F-C2C1-4781-841E-8F98F86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uname -a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A3027-0F7A-4809-BE1E-F0B7F336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3817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lscpu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82959-D4BE-46F3-80A1-AEB8B4FC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4083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free -h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FAF3A-694B-4886-994D-A1752BC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4350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lsblk -o NAME,SIZE,TYPE,FSTYPE,MOUNTPOINTS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CBAAE-A2AE-414B-965A-556ECBA0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4617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df -hT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B7E8F-5F72-415B-98D7-3EE7A2A1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4883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ip -br address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BD451-2A32-4198-908C-ADA096C6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5150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ip -s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F6AA8-DF24-4277-A827-0E3C94A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5417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ss -s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438BF-06E8-49F2-B3A2-14C7142A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5683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ss -tanp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F5DB1-2DA8-4738-B692-1C1714E6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430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4CF31-8945-4588-96FD-2A02C22F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9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RECORD WITH EVERY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F6E11-6799-4DE6-BBB0-C901104E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39814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UTC start/end timestamp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Target path and protocol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fio job definition and JSON output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Concurrent jobs and queue depth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CPU, memory, disk, and network samples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Any VMS alarm or metric anomaly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A4DAC-9BDB-4320-B745-01ED245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35655-E728-4418-A90E-67474780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50888-6B69-472F-9CA6-C3051F10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SAFETY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5D8A5-B111-4C3F-A704-D2E9E38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Use a dedicated lab dataset and confirm free space before any write workload.</a:t>
            </a:r>
          </a:p>
        </p:txBody>
      </p:sp>
    </p:spTree>
    <p:extLst>
      <p:ext uri="{BB962C8B-B14F-4D97-AF65-F5344CB8AC3E}">
        <p14:creationId xmlns:p14="http://schemas.microsoft.com/office/powerpoint/2010/main" val="2473200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19BFB-178E-4308-ACDE-83500B24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7E1D5-E7AB-420F-B7A0-630FF3D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CB340-A11E-48FB-BE11-18A6117C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E85FD-B079-416F-8D5C-C1FF733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 | Establish a healthy system and storage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C6774-1297-4A76-8AFC-283D3FE5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27DD7-86CE-4F34-93C8-E9E0F5E3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593A9-0F85-4308-8A5F-B482C58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3D712-EC6B-4F11-B352-9D393FB3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FAF46-9BC8-40F1-A750-7FB2989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10D34-A07E-44C3-9A8C-FA0EDBAE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3D169-9FDE-4AD0-81F1-6BAFF61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949F0-09B3-41E0-8CE5-004CB6E9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Create a reproducible reference for client resources, protocol health, and storage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062CB-B285-4AC8-A6C3-00EA4B61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C222C-A51D-4AD3-BE8E-47F8835D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DC57B-2866-4C7C-B263-5642BBC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46F92-5057-4C8F-8F8F-953BE23A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No failure is injected. The risk is an incomplete baseline that cannot be reproduced.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BFF36-FC3B-4DC9-8287-9212B604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AB5DC-9764-4EA0-9F22-BD999FE1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69A3D-D639-4C4E-91C0-5B9F28D1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workload client → approved NFS/SMB/S3 lab endpoint; Prometheus/Grafana observe the Ubuntu host; VMS supplies native VAST context when used.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C992A-3761-43BB-A926-65F99B8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63AFA-D948-430E-BFD0-452C477F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40093-F179-40A3-BAA9-45F01690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lab path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free capacity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Services healthy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Prometheus target UP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UTC clocks aligned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98634-DD59-4F70-9799-37A9D8C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8CC39-5497-43E4-9FF7-2F5A0FA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2BD83-5396-4D3E-8C86-8FBA930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Record host, network, mount, and service state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Run a small validation I/O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Run one stable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Capture resource metrics and fio JSON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Document normal ranges and variance</a:t>
            </a:r>
          </a:p>
        </p:txBody>
      </p:sp>
    </p:spTree>
    <p:extLst>
      <p:ext uri="{BB962C8B-B14F-4D97-AF65-F5344CB8AC3E}">
        <p14:creationId xmlns:p14="http://schemas.microsoft.com/office/powerpoint/2010/main" val="15161259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49D32-92D9-42D1-A3DF-1B291186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B6D79-BD64-43A9-8D7B-A9936CE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3B250-52C8-4CF6-8993-EC01A223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B92E-6D2B-41D8-B601-52ED45D8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 | Establish a healthy system and storage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A797D-6138-48D7-8293-3B597A45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D58B2-A0BF-448E-AFB3-99DAA197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37397-1B08-4986-95CC-FEB1AAA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70E16-EAF9-4DED-9B32-CAB02558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52C0E-9E48-42AD-B62C-22716C71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49C7C-DC27-4C70-AF3E-DF35C0D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E5A0D-2A3D-4F25-8680-CB40A9CD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B1823-3419-4A18-80F3-BDEEB89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date -u; uname -a; lscpu; free -h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D47B-332B-4FC7-8714-A8F5BCE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lsblk; df -hT; ip -br a; ss -s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F0C88-781E-495B-8819-259BC744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mount | grep '&lt;lab-mount&gt;'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BF13C-91F7-4E04-A94F-5E83A53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nfsstat -m  # when NFS is used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D5E32-1193-412C-A0B0-C901275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--name=baseline --directory=&lt;lab-path&gt; \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703A8-5D78-4B90-BD56-98AE928E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--rw=read --bs=1M --size=4G --iodepth=16 \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A12F8-7962-4BDB-8457-610D7E4C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--runtime=60 --time_based --group_reporting \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62CB0-6858-45AA-9F85-51CC426D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--output-format=json --output=baseline.json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964B7-4F58-4ED5-BED9-D8C0BDD7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iostat -xz 1 10; vmstat 1 10; sar -n DEV 1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97588-8085-4581-84AA-8513B7A9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C671F-6363-4DC6-AC2D-20C0516F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ED979-C30C-4E25-8C51-FB1A091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Stable throughput and latency; no protocol errors; Prometheus/Grafana show time-aligned CPU, memory, network, and disk movement.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3A39D-ABA6-4A4E-8E78-F8A3F6F2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867EF-FC78-4A5C-A6E7-133497BB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ECAF7-6047-4909-A915-1DC74DC1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Inventory text, mount state, fio JSON, Linux samples, Grafana time window, optional VMS metric window.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10211-3833-43B8-BC5B-0860AF84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FA5D4-4446-439A-B0D6-DBE5D66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B4B4E-B054-42B0-948F-30816A7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only the dedicated fio file after confirming the path; retain baseline.json.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03A15-64EB-47C3-BA06-251A01D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542744-866B-45EB-B990-AB94611B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9766A-5BA0-4EBF-B9B9-7FF5E75D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Another participant can reproduce the run and obtain the same operating range.</a:t>
            </a:r>
          </a:p>
        </p:txBody>
      </p:sp>
    </p:spTree>
    <p:extLst>
      <p:ext uri="{BB962C8B-B14F-4D97-AF65-F5344CB8AC3E}">
        <p14:creationId xmlns:p14="http://schemas.microsoft.com/office/powerpoint/2010/main" val="12493412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8FEC1-4966-455E-9BFD-5E1AA274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F2B86-7F53-4C1A-95B4-7E21ED36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9769F-0EC7-4A7F-8259-ECFA3848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3FB4B-713B-40E5-8A6B-7315AA84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3 | Compare sequential throughput and random IOPS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65DB8-8394-4A91-8E12-B4EEECD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70D6F-0BE0-43D7-8910-FC16007F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935FA-5100-4E92-955C-852D65C6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8CD4A-5DFF-4239-8622-E53074F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5F013-BB96-4E06-9FF0-0286E2B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E5544-243E-4C06-A773-124E62A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E90B2-5990-4004-B065-287F6F0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0E9A4-7D19-42B4-8EFE-96378D1C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Show how access pattern and block size shift the dominant performance metric.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34CC4-BC42-46CC-8DDB-124B73B9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53D35-D01B-41D2-8B08-2D223B7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90E07-D595-4ACC-ADC8-06FD92AC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35B3A-B6F6-4A2B-8DD0-121C562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team compares unrelated tests and incorrectly labels one protocol or storage path slow.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AFC2C-3307-4CEF-B29F-0FB68AAA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D3F36-E163-49E7-9DAE-F4677FB8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5DB3F-94D2-4E13-BDF9-AC52D700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→ dedicated lab path → selected protocol endpoint; Linux and Grafana observe client resource demand.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71BE8-1D4C-4947-B830-6C2C0EB7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96B79-DAE9-4C3D-B49C-F7C1D1D5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3F5EC-F4B6-48EC-8DB1-621A516A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Baseline complete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At least 8 GiB free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test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competing lab workload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A4902-8746-4805-8D96-21DD2FAC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06E0A-8483-4E36-B8D3-405399A3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1435E-B05C-4F95-BC7F-6B7E831E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Hold dataset and client constant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Run 1 MiB sequential read/write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Run 4 KiB random read/write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Compare IOPS, bandwidth, and latency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Explain the result using workload shape</a:t>
            </a:r>
          </a:p>
        </p:txBody>
      </p:sp>
    </p:spTree>
    <p:extLst>
      <p:ext uri="{BB962C8B-B14F-4D97-AF65-F5344CB8AC3E}">
        <p14:creationId xmlns:p14="http://schemas.microsoft.com/office/powerpoint/2010/main" val="13710795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D24001-88A9-40DC-B01A-33BDAD1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5EDC4-4DFB-4BC9-BB97-5F991EFC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125BA-04EE-41EE-82C8-1014103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73396-8E0B-4E50-93CE-AF7EF114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3 | Compare sequential throughput and random IOPS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4F8B5-FD5A-45AB-ABD3-66EE95F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F42D-8F6F-4554-A951-F7F305F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510F1-2393-4530-B549-54EF2EB3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2753F-D410-4E9D-8995-E57A551A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D2688-FE20-4F32-89ED-E25C159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6FFC6-F1A2-4537-84F7-A9DD89B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838C9-43BB-42B5-8FB0-81FD7D01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0966D-0580-4F6E-8FC3-DFC1679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mkdir -p &lt;lab-path&gt;/fio-lab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168DB-0B23-43C7-87B8-170E1EB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0473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for mode in read write;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BAC06-800F-4349-B734-2BA1179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549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fio --name=seq-$mode --directory=&lt;lab-path&gt;/fio-lab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26D96-0A3C-4652-85D4-3990131D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0518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--rw=$mode --bs=1M --size=4G --iodepth=16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7583F-D12A-4E9F-B7E0-8CF373D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5541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--runtime=60 --time_based --group_reporting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653DD-2D03-44A7-8A0E-BB388786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0564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9BB2E-A51A-4585-8B6B-B6B149D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5586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for mode in randread randwrite;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7A98F-D5D0-490B-8125-0FEF13ED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0609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fio --name=$mode --directory=&lt;lab-path&gt;/fio-lab \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168A6-035A-4532-82CF-C5087E0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5632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--rw=$mode --bs=4k --size=4G --iodepth=32 \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30C65-E7D8-4A53-A0C3-F49A03AF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065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--numjobs=4 --runtime=60 --time_based --group_reporting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B246A-A8EC-464B-AEB0-CA62AFC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5677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AECBC-24E3-4C1E-9199-1B56CDDE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F6F69-7A3F-4058-9F92-976335B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A710A-FF5D-4326-9B52-4127D4A8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Sequential tests emphasize MB/s; 4 KiB random tests emphasize IOPS and usually show different latency behavior.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1CF0E-C35D-49B6-AEC5-F90491A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10A9AD-3DF0-42DE-A6B2-87E3740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60CFB-D504-413E-A49D-06E898FE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Four fio results with identical path, runtime, and recorded client state.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F4D9B-8911-42CF-B273-624E0AA4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DB26B1-EAED-4361-A0C9-0EDC53DD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EEB49-6FFA-4153-8FAB-F1C6DC1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rm -f &lt;lab-path&gt;/fio-lab/seq-* &lt;lab-path&gt;/fio-lab/rand*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AAFD8-9FD7-4837-8582-12CF39B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1A927-58E0-4D6E-95C9-6969D683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A3DB27-26D2-4AAC-819E-B3147442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comparison attributes differences to controlled workload variables.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90EB88-C45C-4623-B898-EF56E0F6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C34514-BB8A-4B89-81EB-1FCD97C8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A65F6-FC34-4FD8-A3F3-BAE7E042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Write workloads can overwrite data if the path is wrong. Use only the dedicated lab directory.</a:t>
            </a:r>
          </a:p>
        </p:txBody>
      </p:sp>
    </p:spTree>
    <p:extLst>
      <p:ext uri="{BB962C8B-B14F-4D97-AF65-F5344CB8AC3E}">
        <p14:creationId xmlns:p14="http://schemas.microsoft.com/office/powerpoint/2010/main" val="8327327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4D65E-433E-4C08-9E19-774434B8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C4625-DCEA-4F9F-8ABB-F003B2F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3E6AB-329D-49EF-8781-ECB6A0A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CA0A-508B-44C2-9097-7959EDC3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4 | Observe queue-depth effects on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F522D-5F45-449F-9EBD-D25DFDB9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A14A7-1560-4098-934A-B5087C5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1C177-D9F9-4547-BF92-E1A0442E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B707F-6D47-46E5-8B0F-2836BAA9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5C0E5-1BCD-4D7E-A507-4B53ADDC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477AD-981A-4080-8864-A733E346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5B003-DD78-41FF-BA7F-A79791C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282F8-95BA-4D4A-956E-8DD66F0A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Locate the queue-depth knee where latency rises without useful throughput gain.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FE90A-4167-42D3-9D83-237C492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1CB98-602A-4BE8-B61C-5359CB2B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A1C40-BBC9-4E0A-AE18-CEAECEF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04A74-97E3-4BE3-B475-A4D9650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Tuning advice increases queue depth and worsens application response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205A4-FF55-4474-8591-86B5434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EB803-D60A-4C90-96A5-A12D6A0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AA86E-213B-4201-B2C7-3394F3D7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→ one fixed target path; collect JSON and client metrics for QD 1, 4, 16, 32, and 64.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4F138-6787-4D1A-B3D1-264DA13A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2EC80-B5DC-45E2-81DB-CFDB1C5E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B7764-E292-4A77-92B6-67BC811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Same client/path/dataset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concurrent workload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JSON output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Baseline captured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8AC00-93DA-46AA-850D-6B728EA0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F0AC8-911E-42B8-B7EA-7BFC74D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20371-E5B8-4DF8-BEB6-4B1C733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Run the same workload at each queue depth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Extract throughput, IOPS, mean, P95, P99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Plot QD against throughput and P99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Identify the knee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Select the lowest QD meeting the target</a:t>
            </a:r>
          </a:p>
        </p:txBody>
      </p:sp>
    </p:spTree>
    <p:extLst>
      <p:ext uri="{BB962C8B-B14F-4D97-AF65-F5344CB8AC3E}">
        <p14:creationId xmlns:p14="http://schemas.microsoft.com/office/powerpoint/2010/main" val="21048655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388D62-46D4-4F6B-8E91-BBEB455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DA545-E5EC-43A7-9C97-0C602ECC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BFDCC-8517-41C6-B05F-212535EF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8B29D-1DC0-46CE-925F-EDED8AE4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4 | Observe queue-depth effects on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22DD-AE04-4FEF-AD23-BB45A522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8CB86-44F3-45DD-9657-E617A51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365C4-537C-445F-97ED-37412CC5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61FCA-420B-40A6-BE25-41C98EF7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B8272-56A8-4687-B0AF-64AC125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736F9-2934-45AB-8C91-93BD79B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D57BB-4A83-4B05-83FD-7F3DC54A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D2AAA-98F5-4AF7-BF75-FE391101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for qd in 1 4 16 32 64;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08228-C47B-4C0B-956D-DEF0D6DE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3606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fio --name=qd-$qd --directory=&lt;lab-path&gt; \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D87B9-5699-4088-9FFC-A6620E96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1763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--rw=randread --bs=4k --size=4G --iodepth=$qd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4DDAA-4204-4DAA-A773-44354570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9919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--runtime=45 --time_based --group_reporting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3164-284F-43EE-A79C-C4A784E4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--output-format=json --output=qd-$qd.json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D5B56-A625-45D7-9532-C29163CC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6231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1F5D5-1C92-4239-825C-338EC64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4388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 | {iops,bw_bytes,clat_ns}' qd-16.json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FBA42-38DE-4F88-96F9-A28E522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2544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'.jobs[0].read.clat_ns.percentile["99.000000"]' qd-16.json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8F9EB-95E5-4697-99F1-356B6CC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C3F55-9284-41F2-A1F9-9D69E34C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400BA-375A-43BA-A395-56BB13E4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Throughput/IOPS initially increase; beyond the efficient point, P95/P99 can rise sharply with little useful 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34AF1-1BD8-4049-AA3C-2E49EACD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10FEB-A2DB-4ED0-8700-3B5943C3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A7AB4-CA7A-4497-98BA-D8D81D72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QD comparison table and saved JSON for every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199FD-650C-4018-A4AF-7C63250C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046E79-EF05-45A1-8EDF-8BF67F2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A87CA-118F-44D6-B414-6811763C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only the fio test file; retain qd-*.json for the optimization lab.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6F101-927A-4B30-BA9A-9441B11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AEAA1C-E29A-4ED1-A372-287D8DC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432B7-43E7-460D-B1BF-4F1DF0C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selected QD is justified by throughput and tail latency, not maximum concurrency.</a:t>
            </a:r>
          </a:p>
        </p:txBody>
      </p:sp>
    </p:spTree>
    <p:extLst>
      <p:ext uri="{BB962C8B-B14F-4D97-AF65-F5344CB8AC3E}">
        <p14:creationId xmlns:p14="http://schemas.microsoft.com/office/powerpoint/2010/main" val="15641462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C5BFB-38F5-48F6-9FAF-6B3A2B7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84B3D-BCC7-4640-8439-6AEC2961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2FD51-1FD8-4C92-9E3C-B99EA4D0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826BE-2A90-470F-84C5-2369F4E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Storage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C4AF5-E0DA-440B-9CFA-3F62403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5EB95-9B2F-45FA-A5F9-C936440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DA4D8-7F78-42A6-82AE-1F4BFD73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4A58D-8D95-4C4D-8BF7-CF22D6D2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F3B9B-E57E-494A-8420-DDE1C63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A4E35-1678-47CA-984F-079D1CED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Why are P95 and P99 latency useful?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94E7F-0C53-40E8-8AE0-F6D8BAFB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Show capacity     B Count files     C Replace logs     D Expose slow-tail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1E3BA-31B7-4EC4-B264-979E9E2D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7C835-0987-4935-BF92-AF11B00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1AD48-7BB4-486B-8E78-DB67A72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can occur beyond the efficient queue depth?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5F910-7D1E-4C0A-BB48-B134BCE8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Latency becomes zero     B Latency rises without useful gain     C Capacity doubles     D Authentication accelerates</a:t>
            </a:r>
          </a:p>
        </p:txBody>
      </p:sp>
    </p:spTree>
    <p:extLst>
      <p:ext uri="{BB962C8B-B14F-4D97-AF65-F5344CB8AC3E}">
        <p14:creationId xmlns:p14="http://schemas.microsoft.com/office/powerpoint/2010/main" val="10895123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5D6A4-5056-44D1-9DEC-451EA3A8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889BF-7ABB-455F-A47D-36882810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E1511-8DA8-4C70-AF96-44A77C7C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3A67F-EE39-4DE0-94D1-7FF57519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4 | Network evidence separates reachability and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2BCD3-3AF4-4FBF-A576-5FA768F3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0D378-9C3B-43C5-9750-25EF82B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CD0D8-945D-429A-85FE-2518591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20C20-D5E5-4B1E-8F18-7C54B8DD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F4DCC-ECCD-4E83-82E8-34F8CAC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25D60-5C4A-4D19-848A-7E6557BD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2F038-A914-42AD-9A11-42E57187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Review network architecture, utilization, packet flow, latency sources, congestion, routes, connectivity, and capacity headroom.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83191-D2AC-4C44-9E26-D0A38D10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9C914-0F98-4700-AD84-96FB691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37AC7-E3E5-458F-8AD5-8C2E0B49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endpoint, route, gateway, MTU, and port reachability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Identify saturation, loss, drops, retransmissions, and asymmetry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Capture protocol traffic safely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Plan for peak demand and failure-path headroom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80964-F351-4DF0-A396-E1A1850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2C034-3735-4369-946B-651CE23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3A577-2C05-4F2F-BDBB-70BAA8E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00B90-3B5E-4464-A504-DA553B06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Network Access, VIP pools, CNode assignment, Data Flow. Ubuntu: ip, ss, ping, tcpdump, sar, tc netem on isolated interfaces.</a:t>
            </a:r>
          </a:p>
        </p:txBody>
      </p:sp>
    </p:spTree>
    <p:extLst>
      <p:ext uri="{BB962C8B-B14F-4D97-AF65-F5344CB8AC3E}">
        <p14:creationId xmlns:p14="http://schemas.microsoft.com/office/powerpoint/2010/main" val="8847721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73A672-ECBD-4666-ABE5-EDA0FC2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1960C-0724-4906-8B6F-6404E54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6D78E-83EA-471D-9E6F-B55FAE85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7581B-DB0E-45EC-8C04-7FDB8EEC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Saturation, latency, and packet loss leave different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CFE50-7558-4D13-A055-4C16BB8E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C1C40-83D6-45CA-B6FB-2F5ACBF5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492A6-348B-4EFE-A6E9-5E2DF62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20C1F-7BC8-4748-BB46-062A8CCC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79809-CF74-4BCD-BBFE-B0D816D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53C16-F14E-4655-B8ED-94E8E11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4780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Client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D036C-F933-4AC9-AA68-A7B01836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Protocol / application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E1955-3E43-48E5-B35B-8320E2C3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D0EBC-A87C-415E-8C68-98779F75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Saturation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450EE-2DC0-4DDC-9DC8-661E9122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Near line rate, queues/drops, rising RTT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29055-13DD-4345-985C-FEB70B9B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Throughput ceiling; latency grows under 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F46E1-4DA4-4A27-AB68-83011245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9315E-EDC3-4B6F-A9F1-CAEE91AA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Added latency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FD399-746C-40DE-95BD-E3103DA4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RTT shifts consistently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BE1A7-796C-47E7-825F-77889AAC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Longer request completion; chatty protocols amplify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4709C-6C83-4D07-8BEF-FEC6D739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DA6BE-A0B4-4DA2-9B66-AC16ADC9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Packet 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2FD0A-2754-41FC-A765-EF98A02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814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Drops, retransmissions, timeouts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32342-DD75-4850-87B4-18F01994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Irregular tail latency and stalls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14283-164A-486B-AC11-BDF77B2C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A87EB-3126-4F8D-8E10-CC46E50B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Routing issue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DD861-A578-4E1B-A877-B3AB7FD3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Wrong gateway/path, asymmetry, reachability gaps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94FC0-1163-4CD8-8DD2-CA6496FE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Some endpoints fail or behave differently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3C1B3-3C2E-4D28-99E7-53B74FFA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021ED-5607-48F2-A60C-6D05EF8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Endpoint imbalance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1C5C5-6227-47FF-B04F-51E00C2F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292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Connections concentrated on one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C3AB6F-4AB4-471F-A65D-0FD3C9D0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Localized contention despite aggregate headroom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6DC933-5098-4FF0-9602-AFE02828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F14153-8995-4071-891F-C3A414A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A35B36-64D5-4F38-930A-5AF06DD5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61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CAPACITY PLAN | Use peak and percentile demand, growth, safety margin, and degraded/failure-path requirements — not one idle sample.</a:t>
            </a:r>
          </a:p>
        </p:txBody>
      </p:sp>
    </p:spTree>
    <p:extLst>
      <p:ext uri="{BB962C8B-B14F-4D97-AF65-F5344CB8AC3E}">
        <p14:creationId xmlns:p14="http://schemas.microsoft.com/office/powerpoint/2010/main" val="10273698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CE233-99B4-4394-BDDC-9A90659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EAD41-4C6C-40AB-AEC2-3F95EB68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DE8AE-80B4-4299-A97C-82D2D2E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A6433-A988-44BB-9855-51F1C64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Collect interface, route, connection, and packet evidence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91C5B-9CDB-4075-BC3D-526ADC30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8BEF1-EA47-489E-9409-BAC36AFB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3B13-4DD8-4594-9815-37654451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BFE0B-DA8E-4D14-8CAD-C8BDB78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219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75C1D-9E10-46CD-AEDE-F0495D27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NETWORK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D2739-D634-4ADA-8ED2-E857E136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BA66D-32D2-4EA1-A4BA-D41369D6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-br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827E2-CD54-40EA-A53B-74FCD898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route get &lt;server-ip&gt;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29C31-2F0B-4A9E-9432-8BBD9EC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-s link show dev &lt;lab-if&gt;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EB7BA-0307-40D8-9F14-30D0FA6E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ss -s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D9DD3-EACE-4C9E-8C3B-009E3DDD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ss -tanp '( dport = :2049 or dport = :445 or dport = :9000 )'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3C9B0-77C6-4FD6-BB42-C69392C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ping -c 10 &lt;server-ip&gt;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ECB1B-472B-4C33-BC78-4A75430E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sar -n DEV 1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CAF31-B839-44A3-836F-C608A1DE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ethtool &lt;lab-if&gt;  # if 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DD10D-9C8E-48DA-AA7F-6AF9DEB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57300"/>
            <a:ext cx="541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9908E-739C-4328-88E4-FBE04B6E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716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PROTOCOL PACKET FILTERS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A883C-DDB8-4410-B83F-32CF3AB0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44547-868E-432A-9C69-71897D91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port 2049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710D9-D5FB-4EFB-9CE4-E297E619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456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port 445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EA18F-E49D-4771-A25F-0BD99EA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5557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port 9000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24933-FA2A-468A-9C00-AFE29C0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658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0 -w incident.pcap \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7AFD5-18B3-4DDB-AEDF-345796ED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7759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'port 2049 or port 445 or port 9000'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8146B-7DCB-4939-A791-3EA75F5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541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8BDC72-678D-42A8-87BB-4ED4461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831C9-636B-43FF-818A-CDD0367D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INTERPRET CAREFULLY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C2127-6B23-40F9-A880-12E0639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 packet capture shows exchanges, timing, retransmissions, and errors. It does not prove a storage root cause by itself.</a:t>
            </a:r>
          </a:p>
        </p:txBody>
      </p:sp>
    </p:spTree>
    <p:extLst>
      <p:ext uri="{BB962C8B-B14F-4D97-AF65-F5344CB8AC3E}">
        <p14:creationId xmlns:p14="http://schemas.microsoft.com/office/powerpoint/2010/main" val="17255408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2BC94-3E39-407F-93B2-20C02AD4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785B4-18A2-4B39-B265-0513A76D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A83BA-E264-4E84-9C01-839333C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6E785-775F-4BC3-BAAE-2E76AF4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5 | Identify saturation, latency, or packet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B299-B357-410B-B108-CF6C6BB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654FF-CC83-408C-BC9C-DBC7C885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9433E-A66D-42F1-9E02-1B13C9DF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A54A8-BDC4-4616-8782-207B1E7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5D5F5-A28A-43FD-A522-917D366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02668-F4B8-4DB0-BA19-D7D04EA7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9970D-B371-4092-9746-A3C41791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7B7CA-93A4-416F-B24E-ACCDF762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Correlate a controlled network fault with application, interface, protocol, and latency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A6650-6B54-445B-A224-E01ED87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76279-41DC-4586-AD5F-E9C68766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E3C63-B7BE-4A2B-9F07-778ECD50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4040C-25D4-4949-88EA-164889B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Throughput becomes unstable; P99 latency and retransmissions rise.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8DD9C-BE50-4C58-AB74-947AAF0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14142-0CF0-481E-855C-3AE7EF0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52FDB-A938-4DB1-8A33-B8C47156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workload → isolated lab interface or Docker bridge → NFS/SMB/S3 lab service. Management path must remain unaffected.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44EC8-62C8-46B3-9885-7CE406D3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E25A3-D6F4-4F42-8EB4-A2E99633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061DC-1E11-48D3-A665-469C45A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Console recovery available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Correct lab interface verified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Baseline RTT and workload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production traffic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05A84-B689-4A1B-A516-2AA6D0B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121BC-B7C9-4051-847E-FCCD12C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11834-1F20-4BD0-970A-2DC1D5A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Confirm path and baseline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Start one stable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Inject latency or small packet loss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Capture ip/sar/tcpdump/fio evidence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Rollback and re-test</a:t>
            </a:r>
          </a:p>
        </p:txBody>
      </p:sp>
    </p:spTree>
    <p:extLst>
      <p:ext uri="{BB962C8B-B14F-4D97-AF65-F5344CB8AC3E}">
        <p14:creationId xmlns:p14="http://schemas.microsoft.com/office/powerpoint/2010/main" val="1692240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E11D8-6ADB-4B71-9794-429AF2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4FF54-94AC-4ABB-970E-75DD93D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86177-FCB6-48AE-A2A6-07957433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50745-7234-4D90-AB23-F5CAAA2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5 | Identify saturation, latency, or packet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6A47D-C745-48BC-803A-DBABBD79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43057-D0B3-4C92-9018-301A5A9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2628C-BBCD-491B-AD9E-1C1B79B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6B9A7-A26A-4B88-B603-9027D991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8A5CD-28BF-458E-8D1E-8883FD26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7042F-0E08-4FAE-A7CB-47093BAF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E19C3-31CA-4030-B3A6-F635C76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1D39E-DD3C-4C25-9657-CAB15B2A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ip route get &lt;server-ip&gt;; ip -s link show &lt;lab-if&gt;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EFFFC-8253-478B-9FCE-C0C4E347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ping -c 10 &lt;server-ip&gt;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AC193-3749-462C-9D1B-68ED08A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# CONTROLLED LAB ONLY — isolated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A6EAB-038C-487A-897A-E26F720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sudo tc qdisc add dev &lt;lab-if&gt; root netem delay 20ms loss 0.5%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1832B-B1C8-4F9F-BD5A-D6964342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tc qdisc show dev &lt;lab-if&gt;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29C53-279F-4BD4-A624-15266E4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sar -n DEV 1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3DBBB-DBD3-46FD-B64A-993408E4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tcpdump -i &lt;lab-if&gt; -nn -s 0 -w netem.pcap host &lt;server-ip&gt;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8003B-B9F6-471F-AB2F-1D5FEA1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95C96-76D3-42DB-80EE-A8ED3949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sudo tc qdisc del dev &lt;lab-if&gt; root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75457-4F93-48BC-B409-52EFC97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ping -c 10 &lt;server-ip&gt;; tc qdisc show dev &lt;lab-if&gt;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F26DD-C7CA-4DFA-B199-6E1DCFA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3DB6C-D1B0-4CAC-88C9-D5F9079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A2267-BFA6-4DE8-99AE-E9E4DF0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RTT and tail latency rise; loss can create retransmissions/timeouts. Metrics return toward baseline after rollback.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EBD14-1CD1-487D-9ACE-FA9F44F0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B1AEA-2AEE-418B-A11B-BF98F677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6E6CE-C40D-4385-AE46-793C8B4B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Before/during/after RTT, fio latency, interface counters, pcap, and exact tc state.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3A204-D187-4E43-B083-48666DAF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9A993-E43E-4F65-A3BB-5653AB8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89D6E-4ABE-402F-8FEF-6C8D6C1D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Delete the netem qdisc and validate the route, RTT, and workload.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B31C59-E657-4F6E-9142-324F74F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D90A9-3BD7-4A98-919D-45E2A381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48074-6A54-44C7-B527-0280DA4E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fault is removed and the same workload returns to its baseline range.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A094F5-0A9C-4CD5-A8E7-97501091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B067F-0DD2-4EFE-AEBC-034FAA87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5769A5-9C54-429A-B56D-9FBF2B8A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tc netem can disconnect the trainer. Use a secondary interface or Docker bridge only.</a:t>
            </a:r>
          </a:p>
        </p:txBody>
      </p:sp>
    </p:spTree>
    <p:extLst>
      <p:ext uri="{BB962C8B-B14F-4D97-AF65-F5344CB8AC3E}">
        <p14:creationId xmlns:p14="http://schemas.microsoft.com/office/powerpoint/2010/main" val="19103153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2122A-F91D-460E-ABCF-A03B7C0A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CEB3F-21B4-4938-A1A2-16D9478E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1FC2F-6AA7-4E42-A267-9C18F607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6DD75-1F00-474E-90F8-29CCDE5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6 | Capture and interpret NFS, SMB, or S3 packets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3DDAB-992B-48AB-8A88-D2EF534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56BD4-9293-4F71-8F14-F88934DD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2F938-BE9C-4115-BA13-69F8C3F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27E19-DD2B-4088-A188-6E8F756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46D3A-C869-48B5-8246-944B8CEE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F26A-1685-489D-96D2-0637339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36925-ADB0-4695-84A5-65375E2D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04459-35B0-4B94-B4CD-7FC0619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a bounded packet capture to prove endpoint, connection, timing, and protocol exchange.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7CB87-1E6B-4F0F-A8DA-61143EA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6B4F8-3C8F-46B2-B94C-4FF3B076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19895-E3B1-40B8-B31D-9632EC7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48613-5617-42E1-B880-2CEDF5F4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request is slow or fails intermittently; connection evidence is missing.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70F48-0E6E-433F-A8A7-4662345A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4F646-1D8C-41BE-A7AF-1C4E5752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8E5EF-43AC-42A6-A419-49A2A2D9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client and lab service on a known interface. Capture one selected protocol and one reproducible operation.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9D0AA-FD72-425A-B1C4-F84716AE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38220-42B9-4A8C-9D1A-384FDA5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37808-CDA3-4549-81DB-17A21CAB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Approved capture scope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Correct interface and endpoint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pcap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test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D846D-567A-4B5C-9F3B-576FB46F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E97D5-6DBE-4468-B1C0-A95E505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EE78F-027A-4D1C-9044-3C218E4D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Define host/port/time scope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Start bounded capture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Run one labeled operation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Stop capture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Inspect timing, resets, retransmissions, status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Correlate with logs</a:t>
            </a:r>
          </a:p>
        </p:txBody>
      </p:sp>
    </p:spTree>
    <p:extLst>
      <p:ext uri="{BB962C8B-B14F-4D97-AF65-F5344CB8AC3E}">
        <p14:creationId xmlns:p14="http://schemas.microsoft.com/office/powerpoint/2010/main" val="130187710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543B3-ED1C-4A82-894F-98B34E4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3F644-675C-4705-B905-F9336BB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4439-379A-4E50-80E1-7D48E9A9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5B1A-15A7-4ED6-9807-7099AB5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6 | Capture and interpret NFS, SMB, or S3 packets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54022-D368-4335-B0E1-05074A5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CD81F-99FA-49BE-BF33-11669928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6F397-B215-4014-936A-4CD008FC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F6DC4-3163-4C02-87B6-4B3A033E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CDD5D-9E59-4D5B-ADD2-29F21F88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B66A6-C57A-45EC-A418-A2B7268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9263B-454D-4650-BAA8-C00AA6AC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BAB29-3089-4ED8-B9DA-42AAF455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mkdir -p ./pcap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27B79-B56D-4961-99C1-538F151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3343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timeout 30 tcpdump -i &lt;lab-if&gt; -nn -s 0 \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D2294-E016-46E3-BCF3-5D3E2E54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1236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-w ./pcap/protocol.pcap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29B64-57DC-42CE-85F6-E49CDB23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9129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'host &lt;server-ip&gt; and (port 2049 or port 445 or port 9000)'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0DE33-3603-403B-A4AE-ABA23319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7021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During capture: perform one file/object 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71EF3-20C8-4B89-A13B-F500EC3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4914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tcpdump -nn -tttt -r ./pcap/protocol.pcap | head -n 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65FE-B1F6-4BCE-AF93-78F4D729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2807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ss -tanp | grep -E ':2049|:445|:9000'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6B4FD-1DCF-4EF9-A325-AAED0CE1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CE0A4-5771-4752-A491-016BE4B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3D37E-21AE-4482-B856-E397A39F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bounded exchange between expected endpoints. Slow gaps, resets, retransmissions, or status errors guide the next layer.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2335B-5C18-4319-8E08-B0F5C19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6F023-1789-4547-B59D-D4888C38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B04AE-D748-4FF6-AEF1-FB2105F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pcap, command timestamp, exact operation, client error, and relevant service log lines.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E4E22-48E7-4065-B871-0D647EE7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EE219-D92F-4FB8-BAC6-0BCB69E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EC964-82D4-4792-9223-A1EA887E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Restrict pcap permissions; remove it after the exercise if policy requires.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A0BE4-B66F-4F81-94DC-639341C6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F1044-3A92-4D66-80BB-99A9771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1FC3B-95C1-4F4B-9777-2A38EC25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Participants state what the packets prove — and what they do not prove.</a:t>
            </a:r>
          </a:p>
        </p:txBody>
      </p:sp>
    </p:spTree>
    <p:extLst>
      <p:ext uri="{BB962C8B-B14F-4D97-AF65-F5344CB8AC3E}">
        <p14:creationId xmlns:p14="http://schemas.microsoft.com/office/powerpoint/2010/main" val="19402994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E7848-3CB9-4B19-BA53-227E90AE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69283-7B5C-409D-BCCD-B74F416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8052-B89D-488C-B4E6-413B4C7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77AF9-F058-4C93-9110-C5FD9C3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7DB17-9FFA-4034-BE4D-71A9BA5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CFA88-0A86-4AB6-B205-8382F4F8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846C4-C011-4721-8BA6-A8FFB07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CFF35-B6B4-4245-A6B2-09F4DB40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C67EC-0880-492D-8FB7-775C3DD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69BAD-E2E5-4A5D-AAAB-F6E4443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Which condition most likely creates retransmissions and irregular latency?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53142-9229-4091-AD66-2116143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More free capacity     B Lower metadata use     C Correct DNS     D Packet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1FFE7-8412-4DF2-A17F-7ACC81D6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5029F-A709-436E-B79A-B6433A8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A2396-F70F-491F-83A8-0AAC62D0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should routing validation confirm?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FA7D1-B98B-4DAA-9E25-0537CC07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Hostname only     B Capacity only     C Intended path, gateway, reachability, and no unintended asymmetry     D Permissions only</a:t>
            </a:r>
          </a:p>
        </p:txBody>
      </p:sp>
    </p:spTree>
    <p:extLst>
      <p:ext uri="{BB962C8B-B14F-4D97-AF65-F5344CB8AC3E}">
        <p14:creationId xmlns:p14="http://schemas.microsoft.com/office/powerpoint/2010/main" val="15709239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3F842-6A02-4096-AC01-1727426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205A0-0DFF-4886-9F73-9D1A20CC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25A0F-A0B6-4E3B-A51A-7BBB049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7FF9D-91F1-403A-8FAE-1319F70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Module 5 | Diagnose every protocol in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1703D-5B40-499F-B583-47C1E5D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7DCF1-C808-4966-9DE3-FB89C9C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A50C8-8597-406A-91A0-EBEA949F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8FAA9-A45B-44CB-9D54-33E680D1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4336E-8771-4040-99F7-B7BF69B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271E7-0096-4DDB-9523-F9FC9E1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DDB43-7301-43B6-B4B0-80E427D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Trace NFS, SMB, and S3 request paths; validate configuration, identity, authorization, access, and client-side performance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87C53-E906-4A0E-9407-05A4D76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41D59-8B64-497B-9DA7-F450C18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A23CA-BEED-47EC-AC03-4B605CB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NFS exports, mounts, and client options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SMB authentication from share/ACL authorization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S3 endpoint, identity, bucket, object key, and policy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Compare protocols under controlled workload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3C357-FA92-4083-AFA0-C1A9921B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CB24D-3F52-436D-B714-007BC615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076E3-9987-42DA-A69D-F783B80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4A310-9BE8-4CA3-9394-B466D6A7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inspect Views and protocol exposure. Ubuntu: local NFS/Samba/MinIO for configuration, commands, packet capture, and safe failures.</a:t>
            </a:r>
          </a:p>
        </p:txBody>
      </p:sp>
    </p:spTree>
    <p:extLst>
      <p:ext uri="{BB962C8B-B14F-4D97-AF65-F5344CB8AC3E}">
        <p14:creationId xmlns:p14="http://schemas.microsoft.com/office/powerpoint/2010/main" val="2542096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11575C-C376-44E5-BC26-6FAEF7F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F135A-7BE9-4757-B500-41D321EF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0A388-7014-4DDC-8CBA-BDBA22B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7E364-5F91-4390-A0ED-F6BCC533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NFS access requires export, route, mount, and permissions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F9579-F814-41D1-A1B5-2CE5CBBF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7FE1E-EDD0-4598-B70F-70A3ABE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3AEAE-AD1A-4131-AE2F-2E51E0D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D88BC-A479-492B-8A61-79580AB4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BE4C5-14AB-42A9-8A1E-B9C3E38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416EF-248C-4C04-9A76-6092857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B4206-9D38-47F8-B6A6-6970F313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UID/GID +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78EA3-2BA8-4AE4-85A0-6C0DAACF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E4F1F-E9B8-4321-AA1F-31ADC49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A9A3F-70D3-43DE-A25F-69949973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NFS mount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CDFDA-6AAA-484D-974E-49CBFF58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version + 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08EE7-1FFD-4262-A845-DAC648C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96890-0CA0-4C05-9E9C-27B2689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DF93-1449-401F-B1E8-455ED1EB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TCP 2049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D149A-DCA1-4489-9D78-21447F26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route + reachability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521AC-C158-4707-A0A7-C50A8D3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30436-869A-4FEB-ADD0-B623258E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0FD48-68FD-43BB-AD2A-932DC805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Export /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04631-4B18-4534-86F7-E2AB71A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client +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BB4B8-637E-4187-810A-5A32B3D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9B8E4-01B4-4438-824C-53EBBC08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66A95-D14C-4C2C-9B70-17C9EF7A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CF403-DC9C-4557-8134-0046DD0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ownership + mode/ACL</a:t>
            </a:r>
          </a:p>
        </p:txBody>
      </p: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4B9AF-1107-46CE-8F05-904432F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95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5F4E26-9918-4A92-908A-FD53560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NFS 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F9E76-FEDB-4603-87D7-BF500C0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0303F-6A2F-4DA4-B4C6-2623180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showmount -e &lt;server-ip&gt;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BC458-3C88-4A0F-A6B1-3074CFC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9038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mkdir -p /mnt/vast-nfs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C159A-19B1-47D1-8E44-F897F3DD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mount -t nfs -o vers=4.1,hard,timeo=600,retrans=2 \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11E996-6125-4E98-AE11-6E817C41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9113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  &lt;server-ip&gt;:/&lt;export-path&gt; /mnt/vast-nfs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4A8FA7-CEFF-4CB5-A8C4-FC240F9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mount | grep /mnt/vast-nfs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285D8-D7D5-4845-8C79-63DD834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9188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nfsstat -m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E66902-052B-4176-8E03-F7288164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touch /mnt/vast-nfs/&lt;test-file&gt;; stat /mnt/vast-nfs/&lt;test-file&gt;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046C63-7B1E-4EC4-91BF-03BCDAF9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9263"/>
            <a:ext cx="6610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umount /mnt/vast-nfs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29CE02-C323-49B3-85E8-517C84D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676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9AC4B6-2068-490A-ADF4-2E1403B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399FAE-0929-4E82-B699-E99D0F0D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PERFORMANCE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6389A1-31B0-476F-86EC-69F9BA89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Confirm mount version/options, client cache effects, retransmissions, concurrency, request size, and server-side View/export policy.</a:t>
            </a:r>
          </a:p>
        </p:txBody>
      </p:sp>
    </p:spTree>
    <p:extLst>
      <p:ext uri="{BB962C8B-B14F-4D97-AF65-F5344CB8AC3E}">
        <p14:creationId xmlns:p14="http://schemas.microsoft.com/office/powerpoint/2010/main" val="14151989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F08BF4-957C-4F95-9F29-302AEB92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1275D-8EF6-40E9-844C-C974CC6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995BB-63B0-41A0-A289-78672D1C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BC364-6420-4FFE-B976-6FC7FEC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SMB access passes four independent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810CE-A953-401A-9244-4D5A52C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D27EF-A659-4276-BC57-E7E9812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CE190-30A4-4623-BFEA-33CBFCD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BEBAA-476C-4098-9FE7-3D62856E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5F40D-295A-4B73-8E97-98A91C64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DDD75-97F8-413A-B445-5109EF8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TCP 445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9DAE6-7085-49C2-BF20-8D7504BD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connectivity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58EBF-8817-433F-AEA3-A887EF70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88886-5B4C-4305-BEC6-0A707B2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06E32-14CA-4C34-BC50-480C0D1C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Identity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5CA57-4D1D-4CB2-A7C3-B64C93F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E8C62-6A60-454F-BB4D-4DB462C9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5F4D6-3732-49F9-A83E-71A0C9C7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882A5-8458-4569-B3F2-F531D1D3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Share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83D7A-B212-45D1-8FDB-E3682256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authorization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FF366-4CE0-436B-9CA3-4C690DE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172B9-46AE-49F4-9A26-E6664AEE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50966-0AD0-4FF4-A811-FE4B71A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ACL + file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EFF32-648F-4447-B35A-8530634B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effective access</a:t>
            </a:r>
          </a:p>
        </p:txBody>
      </p: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67063" y="1847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6" y="1847850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7288" y="1847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8E3D1-9297-41E3-9588-B3B3B9DE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0485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5FF32-3E23-4F30-9FF5-A21C122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SMB DISCOVERY AND MOUNT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FA2B9A-A531-4964-81F4-C0615818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18B28-1DBE-435A-9C26-D6636FBB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-L //&lt;server-ip&gt; -U &lt;username&gt;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C523C-630C-453B-9D2A-DF4F73C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1438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//&lt;server-ip&gt;/&lt;share&gt; -U &lt;username&gt; -c 'ls'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C15DBB-9E2B-4C73-A709-ADEB6AF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mkdir -p /mnt/vast-smb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429CE-E5BE-445A-8669-84E0BA39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3413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cifs //&lt;server-ip&gt;/&lt;share&gt; /mnt/vast-smb \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73BC0-1816-410C-8229-5555393E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-o username=&lt;username&gt;,vers=3.1.1,credentials=&lt;credential-file&gt;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69A481-8CEB-4D13-8BD5-3718119C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5388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mount | grep /mnt/vast-smb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B11C2-0AC7-4C78-9E90-E3EFD473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touch /mnt/vast-smb/&lt;test-file&gt;; stat /mnt/vast-smb/&lt;test-file&gt;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F52BDC-4D16-40A5-B4CE-8A64BAA9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7363"/>
            <a:ext cx="6705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/mnt/vast-smb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E9D758-DE26-4423-9ADE-1BB64082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619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EC1ABF-F5AB-4000-BB54-3C2EEF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6AB695-57A6-4B3A-AF08-9D6FE03B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DIAGNOSIS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153E1D-E713-416B-B345-A3996A98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3257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successful login with “access denied” shifts the investigation to share permissions, ACLs, identity mapping, and underlying file-system permissions.</a:t>
            </a:r>
          </a:p>
        </p:txBody>
      </p:sp>
    </p:spTree>
    <p:extLst>
      <p:ext uri="{BB962C8B-B14F-4D97-AF65-F5344CB8AC3E}">
        <p14:creationId xmlns:p14="http://schemas.microsoft.com/office/powerpoint/2010/main" val="122110698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1B0235-7948-456C-8EBB-19A32253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F23A4-8C72-4583-8AAE-4E4826E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F62AA-2034-4288-9F83-27213E7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648FF-A06B-4027-9051-8A92431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S3 validation follows five ordered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7B11-3FBB-4446-87D0-31DA2BCC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34C53-870C-4A2F-8ECA-89B0295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4F588-228A-4A15-B1FB-B455943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89C82-66E7-445D-B8B1-6893A4CC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67ECB-8220-41C9-91A4-88999E99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3F382-5A00-4F01-AAE7-0D6A0B8C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/ mc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6E95-4011-462D-A3EC-E259FA8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request +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3ED4E-08E7-42C7-81F4-C00F130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8C16-E031-402C-8C49-E40697EE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C707B-3D85-4013-9BC8-3BAB5D7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S3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6D8F1-FC69-4E41-A762-BACE5D58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TCP 9000 in 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96824-4920-412E-B4C7-6353C86C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0BA2D-E8D5-402F-8CE5-AD29EEB8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EBAC2-F92D-47BF-823A-7B65455A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70DA7-4EBB-4CBD-A6C7-BF062E2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access key mapping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6606E-4C04-4C51-8DAD-9909DD8C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BEE74-0EDA-461B-807C-2A7F0FFE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675D9-97C2-49EC-B881-FB16E26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Bucket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24C4A-3C66-4819-832F-3F77781A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allowed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D656B-1380-4B7A-9E65-66FD59E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9C725-3CEC-4CCE-BE80-F74716FA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9998B-BFAC-4620-935A-856D6E79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Object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6F018-A48D-428D-960D-1768032C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exact case + prefix</a:t>
            </a:r>
          </a:p>
        </p:txBody>
      </p: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FD4B6F-7938-4572-B349-037AB80D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E9AEDC-3140-4C7E-AC2D-12C07C0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MINIO CLIENT 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444B5F-F4ED-4254-B85B-D63D91F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9838E-6438-422C-9AF4-0681FEAB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alias set lab http://&lt;server-ip&gt;:9000 &lt;username&gt; &lt;password&gt;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ABF51A-C763-433C-9009-A98E0FBE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6181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mb lab/&lt;bucket&gt;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02E8BF-40F4-474E-B030-48CA912B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3363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printf 'probe\n' &gt; /tmp/probe.txt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D854C5-6776-4705-9CC9-19F41B45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0544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cp /tmp/probe.txt lab/&lt;bucket&gt;/dataset/probe.txt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9367E8-E248-444C-BF38-4C337510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stat lab/&lt;bucket&gt;/dataset/probe.txt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B487BC-734C-4868-9D36-08719228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4906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cp lab/&lt;bucket&gt;/dataset/probe.txt /tmp/probe.out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10F96-1A45-4345-A368-A546460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2088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cmp /tmp/probe.txt /tmp/probe.out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2D8046-0725-466A-AAFC-E7CE9B7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9269"/>
            <a:ext cx="6515100" cy="326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rm lab/&lt;bucket&gt;/dataset/probe.txt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884251-D545-4BE4-A966-F1AA8C0F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37719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0A7382-ACBE-4398-AC34-AB28CE22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6B7266-A293-462A-99F8-5B0D9F79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INTERPRET ERRORS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0C52F6-2A12-44A0-BA9E-4DF84D41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409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No route / timeout = connectivity. 401/invalid key = authentication. 403 = authorization. 404 = bucket/key/namespace or concurrent lifecycle operation.</a:t>
            </a:r>
          </a:p>
        </p:txBody>
      </p:sp>
    </p:spTree>
    <p:extLst>
      <p:ext uri="{BB962C8B-B14F-4D97-AF65-F5344CB8AC3E}">
        <p14:creationId xmlns:p14="http://schemas.microsoft.com/office/powerpoint/2010/main" val="116088670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EA11A-3D15-4E38-8E4C-B914678B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5F0C3-4B43-4656-A91F-F5A470C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E7C40-625E-45D2-A11A-B26F6B1B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EF9E9-2B6E-4A0C-99B4-52F1FE5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7 | Validate NFS export and mount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806E2-4EC0-4734-AC9E-689F7C75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582B-A06D-4FAC-928A-8FF0A35F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49F61-1347-4784-B173-2CA9CE61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BEE4C-DC6F-4B8D-857F-350918D3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C164A-FDC5-4330-B780-A0D9F2B7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9B15C-2A1A-4ECE-8BAC-5F14E60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A4F0F-0187-4134-B422-1F9FFF71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29C24-160F-465A-A0C7-5E3A33A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Prove each NFS access gate from export visibility through read/write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647C-B027-422A-868A-4D127D08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CC581-A882-4A43-9908-D5511FF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88D49-E446-40B8-B61C-6F00F04E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94E00-AAC9-49CD-8606-374518BB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Mount fails, hangs, or returns permission denied.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7D68E-6FF7-49EE-89D6-25EDB0C4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BFA08-CC86-48B4-BDF4-9756CC4B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7B347-1AEC-46CA-9D06-0CD22463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NFS client → local/approved NFS lab server; VAST View inspection is separate in VAST Data Labs.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AFDBC-EC64-4701-A9AB-D127C46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F4C47-1F81-4DC8-B660-8B524E9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52D45-D12C-4EB9-BB99-2D19D5FE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NFS client tools installed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Approved export path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Client identity known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test 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19179-EAA4-4C9C-9CD0-E505F55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0D02C-E3ED-4365-A2E3-1488AF4E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5DE4AD-7AD9-4B09-8208-5AB4C81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Resolve and reach endpoint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List/confirm export or View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Mount with explicit version/options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Validate nfsstat and file operation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Inspect logs/packets if the gate fails</a:t>
            </a:r>
          </a:p>
        </p:txBody>
      </p:sp>
    </p:spTree>
    <p:extLst>
      <p:ext uri="{BB962C8B-B14F-4D97-AF65-F5344CB8AC3E}">
        <p14:creationId xmlns:p14="http://schemas.microsoft.com/office/powerpoint/2010/main" val="34843832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749ED-6B64-4D3A-9F00-859F820A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95A6-BDAB-4725-B17D-59E1A9A5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8D5E9-3AC3-4B36-A66F-B18DD924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B15D5-9088-4F94-89BB-EC34CDFE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7 | Validate NFS export and mount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9B9C1-06C0-40C8-A9F0-25D904E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335F7-C7B3-41CB-AF67-F6FDB2B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301CA-31D7-4349-9FE3-BA2968BE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E5F6D-8253-4763-B582-96DEAA1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5C0A2-E83C-4436-9BC2-DE019F9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BFA45-BD9D-43A4-8759-3BE5A1B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B2C00-A110-4156-93AE-83CD564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75DA6-DEC3-4168-B958-0D28801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showmount -e &lt;server-ip&gt;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CE9DB-12F4-4A10-B26D-73A0086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ss -tan | grep ':2049'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F8DFA-85FE-435C-BF2A-6E143FF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nfs -o vers=4.1,hard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F33C8-B981-465C-ACDB-B3E329A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&lt;server-ip&gt;:/&lt;export-path&gt; /mnt/vast-nfs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BC548-3413-4235-BEB1-3C9CBC5E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nfsstat -m; findmnt /mnt/vast-nfs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B8A79-DF9E-43E3-953B-7F73C99A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id; touch /mnt/vast-nfs/&lt;test-file&gt;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77628-1FD1-4A52-90F2-CE781F65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stat /mnt/vast-nfs/&lt;test-file&gt;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0B305-3FB1-4688-B84C-1A9F161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journalctl -u nfs-kernel-server --since '-10 min'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BF158-32B3-4728-98E0-CD88BA80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/mnt/vast-nfs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2EF23-BEAD-4CE7-9987-65A62937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3DD49-5510-4359-ABEA-5BE5BC41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8573C-DCB4-476D-8ABF-4891EDBD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Each failure maps to endpoint/export, mount negotiation, identity, authorization, or file-system permissions.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1B75A-165B-4485-BE16-EBF82C6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DC616-A6BB-4A40-B44F-F3EBED6E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5BD5B-BE99-4F28-8F30-74F8525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showmount/findmnt/nfsstat output, exact error, identity, stat, server journal, optional port-2049 pcap.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127C6-AE5D-4A92-8E95-19059A8E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BFD8B-CD78-4813-BD73-0B963C0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4C205-50B5-45FC-9A74-FF3B7501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Delete the test file and unmount. Do not modify the production export.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7656B-3F46-4C58-9661-206BA8A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61D9DB-67F7-4ECF-A351-AB6B36E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AFD183-374E-49E2-AC42-BE61DF06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 create/read/delete validation succeeds or the failed gate is proven.</a:t>
            </a:r>
          </a:p>
        </p:txBody>
      </p:sp>
    </p:spTree>
    <p:extLst>
      <p:ext uri="{BB962C8B-B14F-4D97-AF65-F5344CB8AC3E}">
        <p14:creationId xmlns:p14="http://schemas.microsoft.com/office/powerpoint/2010/main" val="17200146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6FBCC-509A-4332-AF1A-27F15DE4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933F8-9785-43F0-9E18-67F69B9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A5CF4-15E9-4EDD-AE71-E1AA9598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EB388-FC52-42C1-BD59-D50A0536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8 | Diagnose SMB authentication versus authorization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CCED-F0C6-4374-BEDF-EDC324D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13A2E-C1AD-4D7F-A5BC-85AD50A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24F88-E343-4159-BF3C-0919AFF9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E1653-5A50-4037-B20D-19D77416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20FD9-1198-4AB0-B5CD-A0DDDCA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A6CDB-F043-4093-BBA4-97DB54E6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FD21B-4DE1-4E39-944C-3C330101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12617-3736-49AB-BFD6-09AD1A6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Separate identity failure from share, ACL, and file-system permission failure.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8A524-7423-462D-99D8-A0981B0E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6527D-B5B5-4B05-A4E0-BA57C377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7870-92AF-4ACE-97CF-AF38A1EE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8E0CB-93BC-43A1-A1F9-E22B6A25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Some users log in but cannot list or create; others receive logon failure.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6ED80-648F-43F4-8833-67F16733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13BBD-8D7C-4989-A4A7-75812537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C96D4-1442-43D9-9F4B-2260AB78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smbclient/CIFS client → Samba lab share; VAST View/SMB exposure observed separately in VMS.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A2C77-0273-4540-8152-F0D2579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93C3E-CB44-4C80-9A72-1C83F2B7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EDA1A-3240-4C8F-9D80-B047B79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test user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Share exists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TCP 445 reachable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Protected credential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5200B-3D7E-49FA-903C-B9877082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F00C4-A507-4570-BFFE-746BDB1E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BDE6B-886E-4BB7-98D3-74E56107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Confirm TCP 445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Discover shares with test identity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Interpret authentication result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Check share authorization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Check ACL/ownership and effective create/read</a:t>
            </a:r>
          </a:p>
        </p:txBody>
      </p:sp>
    </p:spTree>
    <p:extLst>
      <p:ext uri="{BB962C8B-B14F-4D97-AF65-F5344CB8AC3E}">
        <p14:creationId xmlns:p14="http://schemas.microsoft.com/office/powerpoint/2010/main" val="9266872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01820-FBFA-450C-86FB-7F43C0F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68F76-679B-46CF-AFA3-EC01354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3C55B-9767-417E-9093-7D2965E8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A895C-69A5-4887-A711-51861BC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8 | Diagnose SMB authentication versus authorization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4AD14-36C1-4683-94A2-43747D2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2F5E-BA18-4432-999D-7541188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37E96-D45E-4316-A80D-3C922BD7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39EB1-B0FB-446E-8BB2-B80707F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5B0E6-616E-4D0B-AAD9-2488190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93786-F497-4BE4-A789-4AE191F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327FC-2001-4660-B254-455B10A4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28B11-52D0-4319-9354-1EAC8DD7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nc -vz &lt;server-ip&gt; 445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742FA-155D-4888-B86F-E88C516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3606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-L //&lt;server-ip&gt; -U &lt;username&gt;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B03FB-BA1A-45E8-8CA6-E6C696CB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1763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//&lt;server-ip&gt;/&lt;share&gt; -U &lt;username&gt; -c 'ls'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B3EA6-F91A-41B1-BBD5-48FE0A1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9919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cifs //&lt;server-ip&gt;/&lt;share&gt; /mnt/vast-smb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75535-6AA5-4FC9-9525-CFA632D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-o username=&lt;username&gt;,vers=3.1.1,credentials=&lt;credential-file&gt;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C9DFD-E8E8-4761-A518-EFA53544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6231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id; touch /mnt/vast-smb/&lt;test-file&gt;; stat /mnt/vast-smb/&lt;test-file&gt;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B54DC-247F-4371-A86E-D5734CAE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4388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journalctl -u smbd --since '-10 min'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5DFB6-56C2-41F0-AA01-FE69ACF9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2544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/mnt/vast-smb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55FDA-A456-4399-9057-A21CEC69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CEE34-2F1F-48AF-A44D-C5FDCBAB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7A357-6084-467A-80A1-326F14E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Logon failure proves an authentication path issue; access denied after login shifts to share/ACL/file permissions.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8ECE0-6695-47C4-94BD-5871F8A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AE0B5-C622-41CE-87C8-1AA1931C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E02F6-FC94-4B99-9FA7-6ABBC1BC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Exact smbclient status, identity, share listing, mount state, create/read result, smbd log timestamp.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12C05-3CD4-4D8B-ABA1-5D901A4C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FE2DE-979F-42BC-84EF-7D43BC8C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C48F8-2943-406B-80AA-B12478CC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Restore the lab user's share/ACL permission; remove test file; unmount.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3EB49-292E-45F4-A033-DBDEB8D0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15585-D114-4BD2-9208-84DE21A1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8F030-1FC9-40E5-9D5C-EF0C678E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Participants classify the failed gate before changing any permission.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2A4F1-19BB-4DD4-8BC8-030BF05E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CF067-7A79-4EF3-B30E-F790528C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800FB-49D3-4651-985E-A5215671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Permission changes are restricted to the dedicated Samba lab share and must be restored.</a:t>
            </a:r>
          </a:p>
        </p:txBody>
      </p:sp>
    </p:spTree>
    <p:extLst>
      <p:ext uri="{BB962C8B-B14F-4D97-AF65-F5344CB8AC3E}">
        <p14:creationId xmlns:p14="http://schemas.microsoft.com/office/powerpoint/2010/main" val="203265892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AD1BB-024D-4F64-A6D4-23F7B63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EC9B3-C759-4A17-A69C-21A6A00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07964-5A8D-4EAF-996C-37DC75E7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6595-39C2-4106-A371-0DD67E2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9 | Validate S3 endpoint, identity, and bucket permissions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54414-84CE-477A-8637-908A8B79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B38F2-DABC-4857-BE2D-0504FEA0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B0FF5-0CF0-465B-8CB8-89E06D2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E5529-325E-48AC-80A8-E3683FEA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CD04D-A507-42C6-9A49-D26E29C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411A-B744-4AE4-B69C-55AC4E54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143D5-D92D-4EB1-9CF6-DCDBAE5C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985FF-6DF6-4BD8-BD05-8C997D18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Prove S3 connectivity, authentication, authorization, bucket, and exact object-key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4D317-B2A1-4B7F-866A-C6D1D2E8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0EB25-3049-4CA9-96EC-2B473CED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AF7E8-23EA-4A2A-A5CF-4E806D69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5DA17-D327-437B-834A-8C8D2717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Upload or download returns timeout, invalid key, access denied, or object not found.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294AF-332C-48DC-8582-1F44EA94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B3F19-1A84-4AFC-AA59-DC9ED3A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1A621-C57C-400E-ADA8-554A05B3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mc client → MinIO S3-compatible API on TCP 9000. VAST S3 behavior remains a separate native product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A6880-BCB2-473B-A4E4-42A5D7A0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CD922-C4D8-4FEF-AB71-D0D340C3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45D4D-ED66-43B5-B964-4580FE9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MinIO healthy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Lab identity prepared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Unique bucket name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real credentials in history/slides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EB671-C719-4687-8BC0-8A1FFCAD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D4DD3-FAF2-4DF0-AD35-E1AA33F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AFFB0-2E31-4BB2-9724-573D123A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Check endpoint health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Configure lab alias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Create/list bucket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Upload/stat/download/compare object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Inject one safe identity or policy failure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Restore and retest</a:t>
            </a:r>
          </a:p>
        </p:txBody>
      </p:sp>
    </p:spTree>
    <p:extLst>
      <p:ext uri="{BB962C8B-B14F-4D97-AF65-F5344CB8AC3E}">
        <p14:creationId xmlns:p14="http://schemas.microsoft.com/office/powerpoint/2010/main" val="9882794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9FD4F-3571-473B-9761-36F4686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2D03F-2315-44AA-8618-5EAD208A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3B36A-FB96-4687-92AC-6D8EA09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370A3-60AC-4F55-A91E-F414CE81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9 | Validate S3 endpoint, identity, and bucket permissions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44D33-179B-4A79-8C20-6415211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C9E9D-66EE-4B7D-A1C8-E3D1E0C7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4515E-2030-46E0-8C9B-25CD82B9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2F4DB-D0C8-4F4A-A9F6-7E0B5F81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624AF-AD86-49D4-9E86-7C595CED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18651-3BF7-407F-BC1B-77A1DB6C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841F8-6C4A-4586-98A9-501D5372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22D6F-C552-4FB8-8848-888721D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curl -fsS http://&lt;server-ip&gt;:9000/minio/health/live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8E814-7BA6-4C78-885A-B97573FD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alias set lab http://&lt;server-ip&gt;:9000 &lt;username&gt; &lt;password&gt;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6DE76-BF16-4029-8A3F-05E0F23C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mb lab/&lt;bucket&gt;; mc ls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1D29E-22C7-4233-ABD4-C3E8491B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echo probe &gt; /tmp/probe.txt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0A829-F53C-4CB6-8039-E55CBC34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cp /tmp/probe.txt lab/&lt;bucket&gt;/dataset/probe.txt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BF688-A33A-44B7-989C-A43057E2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stat lab/&lt;bucket&gt;/dataset/probe.txt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1ACC5-4369-4191-BC53-B53D93E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cp lab/&lt;bucket&gt;/dataset/probe.txt /tmp/probe.out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7816A-771D-4B58-972D-5EE6616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cmp /tmp/probe.txt /tmp/probe.out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4E998-9569-42C9-A120-6B024AF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rm --recursive --force lab/&lt;bucket&gt;; rm -f /tmp/probe.*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FD182-60FC-4485-891B-D66C60E8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B1BE5-B22F-4FA8-8ED3-4F5FF6F1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CA7FA-7326-4C80-8C7F-417B9E2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Healthy endpoint, recognized identity, allowed bucket actions, exact key match, and verified payload.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33469-3BAE-4013-BDA2-1C688E6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0FAA2-C8FF-4AC9-A268-3D67E578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ACE90-21A6-4CFE-8C64-4717A14D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HTTP health, mc error/status, bucket/key, identity label, object stat, checksum/compare result, service log time.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03043-18DE-456C-ABDE-E7F730BE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5ABE8-E14E-4F67-BA36-4814BEF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66D7F-52ED-48BB-BF71-37223E07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the temporary bucket and local probe files; revoke temporary lab credentials if created.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F39394-3E52-4BA8-9EB3-9FF7114A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ACB607-7FC4-442E-8031-129C2D29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9C3750-28DC-47E0-9F38-153E642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All five gates are validated and the error category is stated precisely.</a:t>
            </a:r>
          </a:p>
        </p:txBody>
      </p:sp>
    </p:spTree>
    <p:extLst>
      <p:ext uri="{BB962C8B-B14F-4D97-AF65-F5344CB8AC3E}">
        <p14:creationId xmlns:p14="http://schemas.microsoft.com/office/powerpoint/2010/main" val="43698705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CE1CC-0989-4AD3-AF79-465F18B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DD99F-4797-4BA8-8F1C-55026A4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CDCEF-FBC3-4866-B990-244C6B6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95FB2-F28B-42D1-B368-8161172C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Protocols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20832-9EBB-4873-A512-449846BD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FA413-6014-41B7-B339-7DE16662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9F411-69D0-4BDE-AD79-A407ACB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36E9C-506F-4196-85F3-8BBC9DD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5CAEC-8D18-4977-8B9D-C3A68064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E316B-A56B-483A-B544-194E2F08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A user authenticates but cannot create a file in SMB. What comes next?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54BAF-360D-4BCB-A161-E2A6DDC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Network bandwidth only     B CPU temperature     C Grafana theme     D Share permissions, ACLs, and file 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5B46B-5989-4FE5-BBFB-26FD6EC9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7C62B-34F5-4ED4-BD11-7ED2BCB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EDBA6-4771-4B59-9D2E-87039433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makes a defensible protocol-performance comparison?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CDD8C-6FD4-41B6-8A62-F6854E41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Same dataset, client conditions, workload, and protocol metrics     B Different clients and sizes     C Unrelated times     D Ignore settings</a:t>
            </a:r>
          </a:p>
        </p:txBody>
      </p:sp>
    </p:spTree>
    <p:extLst>
      <p:ext uri="{BB962C8B-B14F-4D97-AF65-F5344CB8AC3E}">
        <p14:creationId xmlns:p14="http://schemas.microsoft.com/office/powerpoint/2010/main" val="76492418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CD114-F860-47E3-8C99-82D003F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3400F-58A0-46F4-9243-EC5E869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3FE55-D06A-4172-B24E-A689916A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700EA-7598-4D08-B92A-D0CA8EF4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Module 6 | Optimization is a controlled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5B02-E3CC-4358-885D-0AA0705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F2F16-D3F8-4E29-B3B7-6895CE37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A01D6-42AB-4A19-9C56-112A80BC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903B5-25A0-4BCE-B3C5-F5E0582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D40C7-D3F3-48C4-AB78-E1C1459C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EC628-C7FF-4CCB-972C-A6096CF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017D8-3D88-4E16-A9C1-108AAA99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Build baselines, isolate bottlenecks, optimize constrained resources or services, review configuration, and validate improvement without regression.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4BE29-68FA-419A-B28E-E3A211B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AE203-3B0B-457B-B37C-13A971D7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6DEBF-0909-4432-B586-932F9A7F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Change one major variable at a time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Measure target and guardrail metrics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Document before/after workload equivalence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Rollback when reliability or latency regresses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B6B9C-2B2E-49B1-80AA-9A53B99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4BC77-62BA-4523-8B80-19540B6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3A80D-A44F-4C1A-854A-E467366E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BE1C3-D5F4-4E3C-AE0C-661332E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Ubuntu: controlled workload, resource contention, parameter comparison. VAST Data Labs: historical metrics, capacity, alarms, and configuration review concepts.</a:t>
            </a:r>
          </a:p>
        </p:txBody>
      </p:sp>
    </p:spTree>
    <p:extLst>
      <p:ext uri="{BB962C8B-B14F-4D97-AF65-F5344CB8AC3E}">
        <p14:creationId xmlns:p14="http://schemas.microsoft.com/office/powerpoint/2010/main" val="65274832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2384FA-ECFE-402C-AB82-3CAF04B9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D6C07-4FB7-45DD-B729-1CDA686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034A2-F4D1-44B7-B00A-236CF6B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03B69-C032-40A1-9782-C7E09AE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A valid optimization improves targets within guardrails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15DC4-B850-43CE-85BD-FDA9E8DB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2F84-9BF6-4DD9-AD78-7DF1B64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24EFB-E738-4ECF-BA3E-7A802492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58CF2-1834-4EE6-81CC-55C89B04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5C985-35F1-405D-8827-5B0972D9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11C5E-D202-4E20-BFC5-BF7594F4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5C11-1159-4D29-B819-63DFA7DE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C1AE4-3FC1-4706-80D1-7802A33B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495BB-4D7D-4AFE-A42A-23ED86A6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B5968-489A-449E-B7E7-80FEF6B6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Hypothesis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EDA5D-BB46-477A-896B-03E7F7CD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one bottleneck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CE6EE-28D3-4192-A1E5-8E3AC16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33651-1C90-48C4-B3CD-FD0FF3C1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C3809-3059-4F6E-9360-4CA33D37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One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0C6C7-B30B-4B90-A8DC-BE2F0CE7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one major variable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7A97D-7B66-4921-8CA1-202EA4E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8A27C-407D-4C27-B348-9F1B2CA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8B4E1-4D31-4BA2-8530-9349B042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Re-test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CD296-853F-477A-9994-6008F0E1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same workload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C1B3E-B540-4B63-A619-235EA4ED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7E584-89DD-4CA7-974A-F9EC156C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2A5CB-DAD9-49E6-BBAB-69A9454C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7ECC9-F249-457E-B9DF-390F2577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performance + correctness</a:t>
            </a:r>
          </a:p>
        </p:txBody>
      </p:sp>
      <p:cxnSp>
        <p:nvCxnSpPr>
          <p:cNvPr id="8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9BA94A-20EB-4CF7-97B1-E0FF068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C8946-B8AE-4DEF-80F8-FAF9EFD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4D290E-3BED-4986-9E8A-DCAE9F4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E42A3-0B28-402D-95C0-4611369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529C2B-DDBA-43FA-8EC1-346275B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Guardrail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D1A974-A7F7-47F6-ADD7-BEF6DE9A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9829A-9C94-432C-8BEB-323B622D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Throughput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E044B-49A9-4A8D-AD6B-32819DE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840 MB/s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31F2C-8E91-45AC-AAF9-CA257979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960 MB/s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C96787-9E01-4224-BA75-2A3AEE8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Target improved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E10D4B-FC0A-4A9F-AF81-BC9F1316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3B0EE4-4DCC-45FD-B576-E7CB7DFB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P99 latency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C74B6B-3F4B-40DB-93E7-57842C9B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7.2 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6318F6-A46A-4A65-A2F0-E0D92C28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00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7.8 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1294C9-5A49-4557-AC8A-47002A0B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Within 9 ms SLO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DA85D9-0F50-4F48-902A-7CC29285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AB71B6-AF6F-4E60-A3C8-D3120470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911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Errors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AAE3BF-66FD-44F5-8145-9A1727E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911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AF1BA3-01A8-40DD-BEF6-6CF2922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11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44CEF8-1E52-496E-B9E3-908F3C7E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911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No regression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F0D96A-0216-4BBF-8C78-162CF79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E0E28C-E2F3-4100-9792-AAD8B2CC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CPU / network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EBBADB-50EA-401F-A9A1-23DB30C0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81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62% / 71%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F7A76B-B89A-4F43-B2B2-4CD7A55A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81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74% / 82%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B5ECC6-3333-4058-9105-BE7AE55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Headroom remains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C01C89-3BDF-4DCE-B84F-77CFF6E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86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52667A"/>
                </a:solidFill>
              </a:defRPr>
            </a:pPr>
            <a:r>
              <a:rPr sz="1050" b="0" i="1">
                <a:solidFill>
                  <a:srgbClr val="52667A"/>
                </a:solidFill>
              </a:rPr>
              <a:t>Illustrative workshop data — replace with measured lab results.</a:t>
            </a:r>
          </a:p>
        </p:txBody>
      </p:sp>
    </p:spTree>
    <p:extLst>
      <p:ext uri="{BB962C8B-B14F-4D97-AF65-F5344CB8AC3E}">
        <p14:creationId xmlns:p14="http://schemas.microsoft.com/office/powerpoint/2010/main" val="174762669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803716-9FC8-43E6-90D4-045A085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FB6D5-FB37-46C4-A89D-926831B1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F7ECB-F4D1-4D5F-9CDC-0A33AE83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4EA4B-D7A3-428F-A556-B9A0009E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10 | Introduce resource contention and correlate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7D633-3AC5-49F6-8719-F5323E43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EADC9-97E4-44A9-B2ED-F1E506DC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86D2D-94D5-47C0-8D01-6FCD7EC7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9723B-12A1-4F8F-BEF5-83ECAAA1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1CD28-66D9-4C7F-A5C9-CA62F038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E9B64-A43A-4215-B914-37F217BC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F205E-E085-4A0C-B3AB-E08C94F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C212D-68B3-454E-B40F-0802D0F4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Prove how client CPU, memory, or I/O contention changes storage workload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8F039-3300-40EB-95FB-58FB294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19DA8-B675-411C-BB5E-2F45F333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ABDC2-8661-4C13-B32F-E1EFCF05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2A48A-D75A-475F-B02B-E14AB8D3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Storage latency rises, but the actual constraint is on the client.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C4E88-C72E-4B6B-B16E-CD65204E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BB9BA-CB6B-4162-87E7-4380182B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A0F30-010F-4432-8F69-59B5740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workload + stress-ng contention → same lab target; vmstat/iostat/pidstat/Grafana capture the client impact.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0B891-3096-403B-931D-FB4E4AF7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0DEE3-1F8C-44F8-9FF3-C5F73F23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F5B47-34C2-443E-8242-B50CEFE6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Healthy baseline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Console access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stop/timeout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shared production workload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6513F-85B0-4BCD-B1CE-FC8C676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9A60B-8791-4C96-B46C-F18249F3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89974-8508-4A41-BDF4-F87CBE6E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Run baseline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Start one bounded contention profile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Repeat identical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Align host and fio metrics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Stop contention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Re-test baseline</a:t>
            </a:r>
          </a:p>
        </p:txBody>
      </p:sp>
    </p:spTree>
    <p:extLst>
      <p:ext uri="{BB962C8B-B14F-4D97-AF65-F5344CB8AC3E}">
        <p14:creationId xmlns:p14="http://schemas.microsoft.com/office/powerpoint/2010/main" val="13018094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C4AB7B-E71E-440F-A771-E8FA4C5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BF613-462A-40B5-85DB-74552496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EFC9F-979F-4B25-B156-03B58B1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00CCC-58C6-45D8-859C-8ACCF008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10 | Introduce resource contention and correlate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492BC-F155-4207-8D4C-CF59391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FA883-7183-4768-A0E4-D33D427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9367C-0EB5-4B9E-80FA-2333418A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75791-7096-4D9C-AC7C-9CC8F712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08E35-0E96-4BAD-A445-23119C2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D374C-A230-47B2-85EE-8D7BE9C0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C01FB-1487-4F02-BF06-10DF618F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CDAB6-B7ED-49EB-A92E-DF6CDE8E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# CONTROLLED LAB ONLY — bounded contention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9E969-40CB-4953-B0C1-0103DF6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0473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stress-ng --cpu 4 --vm 2 --vm-bytes 60% --timeout 120s --metrics-brief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C8DA6-B057-4516-97AA-EAB4C28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549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Optional isolated I/O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2A384-191A-425A-817C-C6D1C3E3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0518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stress-ng --hdd 1 --hdd-bytes 2G --timeout 120s --metrics-brief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48332-DD7A-475E-B9FA-9B3B5D2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5541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vmstat 1 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DC837-48AA-4C4F-855E-1742584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0564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iostat -xz 1 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460D5-5D8B-438E-A6EE-8392BC6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5586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pidstat -dur 1 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4E20B-9EEB-48E4-BB96-CAFF7DE3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0609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sar -n DEV 1 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5F4F3-26D1-4D26-A969-47F15B4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5632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Stop early if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F9C26-7E0F-490E-BE9F-49DAC20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065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pkill -INT stress-ng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61F06-9CCB-42D5-A17F-B2FD625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5677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pgrep -a stress-ng ||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A5B5C-4BF1-4499-AFD1-BD835E0D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5E9EB-6986-4CA9-947E-A7D21723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19CA8-4FC8-4629-86D5-F9B92BF7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CPU run queue, memory pressure, or local I/O wait moves with fio throughput/latency. Shared storage may remain healthy.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75E49-73B0-46D2-B27A-BE77E981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2CB91-87E5-4758-8437-75249891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277DF-70C7-4665-BF16-80A9575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Baseline/contended/recovered fio results plus aligned host and Grafana time windows.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51AD3-BB03-4840-ADDA-B1A16647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F5917-B4DD-47A0-A638-53DAEE50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F905A-0F49-4151-83ED-C0811183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Stop stress-ng, confirm no worker remains, and re-run the original workload.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5F55EE-DDE2-4A69-81F3-58581A12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EB826A-96EE-4E04-B801-07D51752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D64DB-9ABF-4811-86A8-235C6B10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explanation identifies the constrained client resource and proves recovery.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FAF24-FCC0-4865-9079-318D17BE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78F700-A3E4-4180-8DCB-D5F64725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E18FB-EA2A-46B1-AAD4-4E8025A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stress-ng can destabilize a small VM. Keep timeouts and retain console recovery.</a:t>
            </a:r>
          </a:p>
        </p:txBody>
      </p:sp>
    </p:spTree>
    <p:extLst>
      <p:ext uri="{BB962C8B-B14F-4D97-AF65-F5344CB8AC3E}">
        <p14:creationId xmlns:p14="http://schemas.microsoft.com/office/powerpoint/2010/main" val="47450737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660F47-7E81-4823-8945-95DE2184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9AC8-99F5-41F7-9E2C-69DA07CB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F6298-1120-497D-95AF-384E87E8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032BF-2109-490C-8C3A-FBEFF748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11 | Perform before-and-after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F94A4-25B2-4025-A572-971DB552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76E8-DF94-41D8-8FDF-7927AC70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AB15F-5436-4481-B1DF-105C011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52C54-F024-43EE-A07D-23E2187C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8BCDC-8757-4F4D-9248-4CA5CC7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E485F-C9BB-4E43-9A1B-9B2D28F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D0A2A-509A-4E4E-9A3E-DD869006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5A2BE-DD1F-40F8-95FD-FF452746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Apply one evidence-backed change and demonstrate improvement with equivalent conditions.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1DB57-F811-4526-81F5-B6A8278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E668B-B5BD-4E06-BF65-ADE5CAD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77EBE-C297-4EED-859B-F8AFE9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736A8-50F2-45CA-8EB6-74D383F5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proposed tuning change has no measured benefit or shifts pain to P99 latency.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EBE80-4828-4EF3-8C40-B651D90A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8AAAB-0E2C-4159-AE17-B525FBBA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84680-80AF-414C-BE0F-C9064919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→ same target/path; compare one queue-depth, block-size, concurrency, or contention-removal change.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5280E-BD1E-4B06-8DB1-8122BE2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65127-59BF-4830-8957-7328577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0BD3C-F6A8-45AA-B320-A6804338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Saved baseline/job file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Target metric and guardrails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Rollback step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unrelated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B40A8-DE67-46CC-8EE3-83C80069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B0BEF-C9D7-42E4-BD72-8C24C54D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76242-67D1-450F-A59E-E77F6E2C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State hypothesis and target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Freeze workload and environment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Apply one change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Re-run and compare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Validate correctness and stability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Keep or rollback</a:t>
            </a:r>
          </a:p>
        </p:txBody>
      </p:sp>
    </p:spTree>
    <p:extLst>
      <p:ext uri="{BB962C8B-B14F-4D97-AF65-F5344CB8AC3E}">
        <p14:creationId xmlns:p14="http://schemas.microsoft.com/office/powerpoint/2010/main" val="62378647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47D205-FEB1-4252-9944-5A102E98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6B3DD-AC7B-45B7-A58C-2024AB9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7044D-5C4A-446A-B70E-6DE3D4DB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F3BD3-1D2A-4CBE-BB1F-F272E625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11 | Perform before-and-after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79CD8-7542-4DF8-B159-B588047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1C72C-C5C8-433A-A157-8D15122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55DB8-8969-4875-9432-0C2157E3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C2CC2-9B07-4260-AC5B-BE1F01F2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1200A-956E-445A-9608-27747403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82C78-0979-4157-A853-6AAD2266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34308-16C3-4484-B20A-F80246EF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62E3A-4F36-4A0C-8E7F-04ED848C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baseline.fio --output-format=json --output=before.json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B71D9-963B-4D8C-A4FB-62ED1B76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Apply ONE change in the lab job file: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4F24B-3337-42BA-98E4-5978311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example: iodepth=32 → iodepth=16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25F70-A703-458F-B2C3-14220A1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candidate.fio --output-format=json --output=after.json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A8110-7042-4993-832C-3A3CBE9F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 | {iops,bw_bytes,clat_ns}' before.json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B101F-9848-46BE-BEA2-84DFE63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 | {iops,bw_bytes,clat_ns}' after.json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38D0C-7A74-451D-84DC-B89DAFD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cmp &lt;validation-source&gt; &lt;validation-copy&gt;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29D0B-3280-4863-A22F-66177B7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ROLLBACK: restore baseline.fio parameter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4C692-5FC9-4C50-8E1C-4EA08906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baseline.fio --output-format=json --output=rollback.json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11AA6-BA71-4A39-8D2C-6E667EAB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4DE6D-9736-4044-9497-B27B0B4E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10429-3396-4999-A9F0-C219558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measurable target improvement with acceptable P95/P99, zero errors, equivalent workload, and retained headroom.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3ABB1-B2ED-4CEE-AF37-E36326E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74E1A-F083-4A3D-A524-5D573DE8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73418-1F3C-4FE9-AB08-5F11E347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Hypothesis, diff, before/after/rollback JSON, guardrail table, correctness result.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DCD34D-DE9D-46CC-B67E-27EAAAF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312B12-96E6-4A49-8716-3B76CB7B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76F4A-DCAD-45F5-B045-37E1DC1A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Restore the original setting if the target or guardrail fails.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D773C-9DE0-47E3-B47F-91A008BA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97F9D-99F6-4AB0-9598-B65EC584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339E3F-C126-4DE4-9BDB-BAC1F75A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team can attribute the result to one change and reproduce it.</a:t>
            </a:r>
          </a:p>
        </p:txBody>
      </p:sp>
    </p:spTree>
    <p:extLst>
      <p:ext uri="{BB962C8B-B14F-4D97-AF65-F5344CB8AC3E}">
        <p14:creationId xmlns:p14="http://schemas.microsoft.com/office/powerpoint/2010/main" val="1047341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A9548-6865-4538-87A4-37F3582A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3A071-BE6B-4B93-BCD9-BE142BF1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61158-42A0-4023-B026-0DC765B2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64816-0953-41C6-8F5D-35CE013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D9DE9-9FF0-42BE-B410-20BEADB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C264E-C2A3-4A7D-A372-B99602F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F202E-A102-4CB1-9815-3DA3D09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3E3D1-B6C1-4D25-B8CA-F68FDC93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E8DDD-A1E9-41D4-8780-AEA5D783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9C56C-65A0-4EF8-9257-0FC33FA7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is the first step in a defensible optimization?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E25D5-F22C-4745-A6A1-B9BC2211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Change all settings     B Establish a reproducible baseline     C Restart services     D Disable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62592-7469-4A24-9A8B-162FDB4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28E8D-6E47-4C63-915C-16A289AB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6B99B-3B63-4482-BB7F-A5595704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must happen after an optimization?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B6A78-CAED-4D35-B278-3EAC68E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Assume success     B Stop monitoring     C Change more settings     D Re-run the same workload and validate</a:t>
            </a:r>
          </a:p>
        </p:txBody>
      </p:sp>
    </p:spTree>
    <p:extLst>
      <p:ext uri="{BB962C8B-B14F-4D97-AF65-F5344CB8AC3E}">
        <p14:creationId xmlns:p14="http://schemas.microsoft.com/office/powerpoint/2010/main" val="51127860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4166E-316C-4FCF-A69C-1DEBD94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49BBD-5003-4678-AD9F-CC48DD7C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FB833-3188-4F2A-8B44-0BC2EC7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15189-A566-47C3-BDFA-BFCDAA76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Module 7 | Service troubleshooting proves the failed access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02E2-EC97-4E5A-BCAC-009CA3DE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63A99-7283-4842-B87F-EE990FD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FBB88-75CB-4F62-B08A-AE1CD4AD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1AF8E-061C-418C-9BCF-3AD52A7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15739-DCCF-4F1E-800C-DCD7E21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91572-3B7A-4FF4-B047-537A1F9A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5A673-444D-4717-A94D-5F25CA52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an incident workflow to isolate service availability, export access, authentication, authorization, permissions, connectivity, and namespace failures.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8F73B-3AD2-48BD-B247-84D223BB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BB223-0EE4-4856-885F-E12E9445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0CBF5-BB65-4B9E-AFE3-1AB6DFB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Capture transient state before recovery action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connectivity, authentication, authorization, and permissions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Investigate exact path, identity, time, and concurrent operations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service end to end after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C3710-559E-4791-BD1F-4E9C076F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B5AD3-AC18-4D58-9E63-1E5B9808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58E7C-E709-481F-866E-E2D0570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E300A-2933-4BCC-BA1B-F6508E6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alarms, affected resources, Views, events. Ubuntu: controlled NFS/Samba/MinIO service and access failures.</a:t>
            </a:r>
          </a:p>
        </p:txBody>
      </p:sp>
    </p:spTree>
    <p:extLst>
      <p:ext uri="{BB962C8B-B14F-4D97-AF65-F5344CB8AC3E}">
        <p14:creationId xmlns:p14="http://schemas.microsoft.com/office/powerpoint/2010/main" val="123276897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4EDB76-DF35-4D60-BE0F-B8598D6B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D5E74-BEBE-4B39-BAEA-2EDEAB48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23A51-0B83-421C-A9C9-C1DB7E8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F4CC0-81AA-4EFD-BCBF-88A1140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Access failures map to distinct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AB322-0FF2-44AD-933B-96908B3D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B4D03-26F0-4066-A6F7-145A95A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D1E96-C381-4479-A568-E42060B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2D350-3825-44D7-885D-801A14B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CC5E4-CD51-4C55-A22C-87E6441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535EE-4A8A-404D-B09D-118A345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Connectivity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05F8A-2215-438A-A823-AE342141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name • route • 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AF572-9CB3-491B-ABBD-BE7989D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591E8-FBB3-42BC-8BC9-D525E0E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5ABC1-E944-4076-82BE-3FD58915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Authentication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388AE-E7A2-4A54-93C4-930F8DC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who are you?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D7AD8-DF28-490A-AB96-F160C981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58EBB-34BB-4666-8E59-7CE88AC4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3C0F8-A974-4FD2-B6F2-860A737F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Authorization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2E052-44D1-4CE5-B7D2-563ADEC9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may you access?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32032-35B8-4963-9E01-06045A32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43CD8-350A-470A-8518-DCD38A8E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AC7F9-41BA-49FB-A25C-5563E3EA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File permissions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83036-9AAC-464B-BE76-D52EFDA2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effective ACL/mode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5B4E6-0DC1-41BB-A58A-7EDAE35E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DA0BC-DC6E-4D5C-A855-A78FEABA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632C9-6971-486B-9617-A6E2372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49CA7-5C32-4A3A-B95E-F191F62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exact path/key</a:t>
            </a:r>
          </a:p>
        </p:txBody>
      </p:sp>
      <p:cxnSp>
        <p:nvCxnSpPr>
          <p:cNvPr id="8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BE872-ACFF-4E8C-B16A-DCADBD1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0E83D4-23D9-479C-9289-330D1FDB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Observed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18ED6-6498-4C8B-9919-FA049B5F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Likely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A146B9-8A33-4593-A14F-6E093478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766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Next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53D691-33A6-4090-B385-3088BFAE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A66C3-E6C0-4244-915D-8E38EA0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Timeout / refused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004B69-854C-4A88-8DFC-21C788F9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Connectivity or service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A00C65-7CAB-405D-A585-929E28A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DNS, route, port, service state, packet capture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B8013B-2E85-4D69-8AD3-C5E219F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1CC338-ED42-427C-B8FB-EE664A1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Logon / invalid key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281BC3-8AA3-4FB3-9971-C1B2FBB6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81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Authentication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B1C053-80D4-4A8E-98C7-5A20C7D5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815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Identity source, credential mapping, time skew, logs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3A58AD-13CA-4DC7-9CAF-3788DBA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00A7D8-936E-4A5E-8CD0-30055A9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Access denied / 403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2F96CB-2247-4774-8267-EF3F8B23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Authorization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484DE-2E54-4F01-A493-AB79C089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Share/bucket/View policy, ACL, effective identity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D9DD0B-688A-4A8F-A79B-412EE62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46554F-A9D1-48C3-9B36-C1C6A5C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Permission denied after access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36C575-6DB4-422D-A5CE-7EC952FD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24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File-system permission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F6B6BC-925E-4350-BF27-F6342D59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245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Ownership, mode, ACL, identity mapping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70C6E9-E469-413E-A51F-DE00F453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9CD37C-892F-4D51-BBB0-8E20C972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Not found / 404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6497E7-DD1C-4003-A5C7-5C8E541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96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Namespace or concurrent operation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389BB1-4CD6-4147-A99E-BBEA46F6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096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Exact path/key, View, rename/delete/lifecycle, cache</a:t>
            </a:r>
          </a:p>
        </p:txBody>
      </p:sp>
    </p:spTree>
    <p:extLst>
      <p:ext uri="{BB962C8B-B14F-4D97-AF65-F5344CB8AC3E}">
        <p14:creationId xmlns:p14="http://schemas.microsoft.com/office/powerpoint/2010/main" val="54931940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D9E9C-1BDD-4AA6-AD93-ED37F8F1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29A55-EDAF-4A28-9E44-7ABC545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517BF-2AD3-4D6C-9A51-2AB32B0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4F624-3479-46D5-AE33-D4F46457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Collect service state before restart, rollback, or failover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90A36-0DA8-4300-987A-7DA3BA11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93EBB-8008-46EF-9F03-64E98ECA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1F0C3-BF42-4228-A22E-5313C7E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AFF44-5E93-4F21-9CDF-6EBEF2F6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A081F-7EC6-44A3-8D78-61544C50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499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PRE-CHANGE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9DACC-2A0C-42F3-A584-F79722F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E0400-CCBA-41B0-84E2-A9A8F3D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date -u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9FD00-FD24-45A9-A8A5-399B39C0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5307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systemctl --no-pager --full status &lt;service&gt;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C626B-6527-4576-B1BE-2DE799F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7064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journalctl -u &lt;service&gt; --since '-15 min' --utc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BCB16-603B-41BD-A6F4-7928FE4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8821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dmesg --ctime | tail -n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F200E-6B9D-4F75-B303-770F20A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0579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-s link; ss -tanp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B8967-DD6F-421C-8C57-BD9DF034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2336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findmnt; nfsstat -m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38B11-AD07-4CD4-8659-00544B42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4093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id; namei -l &lt;failing-path&gt;; getfacl &lt;failing-path&gt;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23B5E-849C-4183-B60A-E668A31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E69C3-3306-4D53-A293-CE3EF60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2A055-D894-4809-BF74-659006D3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049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Preserve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0BF65-B182-4471-B9F3-709FCCE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240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errors +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6FFEB-0CB3-4AA5-9C55-1CA1D02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9C869-62FD-493F-8327-7492E2EA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3C0D7-9140-4D11-A4EE-26D5188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049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Recover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B3BC2-38D8-4D92-B993-6E7B7316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240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smallest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C0F1C-B058-4BD5-A131-66C0AC51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00200"/>
            <a:ext cx="1466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2EED3-E0FD-4990-8E2B-E2E6E61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00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580BC-8F3C-4351-AE5A-648CB40C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049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FB7322-5AB7-435E-B38E-1FA036C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240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customer path</a:t>
            </a:r>
          </a:p>
        </p:txBody>
      </p: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62900" y="2038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791700" y="2038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0BBE55-9478-4B11-8DAD-7EC45332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5105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2A8C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19AE1C-2410-46AC-A479-4BD89430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F7869-8DCA-4F25-89D6-077B11BD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A8C68"/>
                </a:solidFill>
              </a:defRPr>
            </a:pPr>
            <a:r>
              <a:rPr sz="1050" b="1" i="0">
                <a:solidFill>
                  <a:srgbClr val="2A8C68"/>
                </a:solidFill>
              </a:rPr>
              <a:t>RECOVERY COMPLETION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734545-763A-4EF1-B0DB-C2A186F4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743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 process in “active” state is not enough. Prove endpoint, authentication, access, workload, monitoring, and error clearance.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424038-BC41-42EF-B6B6-09DEF493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E7564-9E6F-4E9A-A4C7-5FC4930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1F012-7FA7-48EE-90F4-2CD69261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10200"/>
            <a:ext cx="744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RULE | Do not restart everything. Choose the smallest reversible action supported by evidence.</a:t>
            </a:r>
          </a:p>
        </p:txBody>
      </p:sp>
    </p:spTree>
    <p:extLst>
      <p:ext uri="{BB962C8B-B14F-4D97-AF65-F5344CB8AC3E}">
        <p14:creationId xmlns:p14="http://schemas.microsoft.com/office/powerpoint/2010/main" val="145733234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C8E33-1E36-4AB8-B1DE-9BF9468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D8D9D-09FC-4567-BB6F-95CF9688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DAF1B-BBD4-40FC-8179-11BECA26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206B0-881B-4FD2-9C47-E42A5C5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Controlled service recovery drill | Preserve → stop → prove → restore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C242E-84D0-4701-99A8-615CA66F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CONTROLLED UBUNTU LAB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F7897-B10C-47AA-8492-14BF7BA9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C1884-9F09-4974-B8A5-1F341BD3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FA9F7-460F-466B-8650-6584570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B9D9F-3733-4D20-B5DE-9471FA9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9055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6C887-935B-4C1B-AF91-5FA41897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556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NFS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E0118-13ED-4CEC-9221-F4F0A286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01ECC-CE0D-4754-B295-2FFA34F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date -u; systemctl status nfs-kernel-server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FDA97-6946-459E-9517-B53EA393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7467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journalctl -u nfs-kernel-server --since '-10 min' --utc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BC7B5-136E-4918-B4F8-34C7913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1383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ss -ltnp | grep ':2049'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B3A4E-155E-4D39-BAE2-371D57F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5300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6A"/>
                </a:solidFill>
              </a:defRPr>
            </a:pPr>
            <a:r>
              <a:rPr sz="1125" b="1" i="0">
                <a:solidFill>
                  <a:srgbClr val="FFC86A"/>
                </a:solidFill>
              </a:rPr>
              <a:t># CONTROLLED LAB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B6426-6E1C-4510-A4BF-7228EB52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9217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6A"/>
                </a:solidFill>
              </a:defRPr>
            </a:pPr>
            <a:r>
              <a:rPr sz="1125" b="1" i="0">
                <a:solidFill>
                  <a:srgbClr val="FFC86A"/>
                </a:solidFill>
              </a:rPr>
              <a:t>sudo systemctl stop nfs-kernel-server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A3F09-71F6-4400-B5AD-957BEB3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3133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timeout 10 stat /mnt/vast-nfs/&lt;test-file&gt; ||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BCFF8-5647-47AE-B7BC-8980229E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7050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systemctl start nfs-kernel-server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0AB48-4E16-4069-8366-4F35F07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0967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systemctl is-active nfs-kernel-server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F0557-3083-4DB1-9290-9A0C7D9C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4883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stat /mnt/vast-nfs/&lt;test-file&gt;; nfsstat -m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EC86B-F51B-49CC-B977-38FEE69D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430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47B76-E865-4150-9033-8513BFC5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954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D836F-DDD5-490B-A7AF-46A56FB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41719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Pre-stop state is preserved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Failure reproduces with a known timestamp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Client and server evidence align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Service is restored with the smallest action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File access and monitoring validate recovery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No VAST service is stopped or modified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FC2C5-FA68-43A9-B773-FDD47D96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432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3B69E-8961-4AF9-9F78-F7B8DF81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7EC81-717B-43BF-B3B5-8784189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24450"/>
            <a:ext cx="3962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ROLLBACK | Start the service, verify TCP 2049, re-run the file operation, and confirm no active lab error.</a:t>
            </a:r>
          </a:p>
        </p:txBody>
      </p:sp>
    </p:spTree>
    <p:extLst>
      <p:ext uri="{BB962C8B-B14F-4D97-AF65-F5344CB8AC3E}">
        <p14:creationId xmlns:p14="http://schemas.microsoft.com/office/powerpoint/2010/main" val="101660302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8047C-A969-4570-9CAD-5C23259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14C7-C68E-4172-BCA1-06C686D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094F1-D4D2-4C5E-98E0-396D09A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FD349-6563-4490-8340-49BD1598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Service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D93E1-C5CB-4AD5-9D89-3ED5A130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A632D-E7C9-49B5-B186-E55DCCD5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79776-F428-4A4F-B64A-76AA1E3E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4C866-57B5-4160-AD5D-B5F8D9D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62E5B-797D-40AB-BA10-495C9E42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28532-3D25-446F-B746-7542043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should happen before restarting a failing service?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8FC61-A3B4-4458-A825-47D7900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Delete logs     B Change permissions     C Capture errors, state, logs, connections, and time     D Remove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7DE08-97BC-4BD3-B3CE-7123CA3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875DB-3153-40AB-97BE-076575B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1D101-15A9-4656-988A-7F46D66F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When is recovery complete?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D40F6-B45E-47D9-A269-EFE8055C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Process starts     B Alert clears once     C Admin logs in     D Access, workload, monitoring, and errors validate end to end</a:t>
            </a:r>
          </a:p>
        </p:txBody>
      </p:sp>
    </p:spTree>
    <p:extLst>
      <p:ext uri="{BB962C8B-B14F-4D97-AF65-F5344CB8AC3E}">
        <p14:creationId xmlns:p14="http://schemas.microsoft.com/office/powerpoint/2010/main" val="46462589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16FF5-F007-4D27-9948-7A8156FB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27A22-005B-4BEE-A57B-1788B88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8B6A2-B84E-4C01-A607-A6D6E768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1AA69-A7FF-461A-B178-F0939CCD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Module 8 | Correlate the full performance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EC280-D0EE-4C04-8AD2-FDA8488C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D08C2-CB5C-4756-B8CB-130E63B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6ACB0-F400-4892-BDEB-7B356C8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763DB-25C3-40BC-A298-95194876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209AF-9300-463B-83DC-ACC1070A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11C8F-AD38-4CCE-B1FB-DAD4C1B2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D4039-3A04-44ED-81C6-DF2CFD12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Investigate slow applications, storage latency, client bottlenecks, resource contention, workload imbalance, network/protocol behavior, dashboards, alerts, capacity, and end-to-end causes.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F565C-87B7-4EAD-8DB3-A213CB18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40E50-B918-4D63-8884-BD3E55C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1207C-16FF-4B21-9146-057C0062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Correlate application, client, network, protocol, and storage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Compare affected and healthy clients/workloads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Distinguish shared bottlenecks from local bottlenecks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Identify causal mechanism before remediation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BDA26-8FCC-47F1-9C25-8EB2D90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A4896-6FE2-46E7-B2D1-5BCDAED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456E4-D946-4E5F-8B28-9B6990BB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52C03-B955-46E6-A931-C97AE335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Both environments: VMS supplies native VAST evidence; Ubuntu supplies application/client/protocol/workload evidence.</a:t>
            </a:r>
          </a:p>
        </p:txBody>
      </p:sp>
    </p:spTree>
    <p:extLst>
      <p:ext uri="{BB962C8B-B14F-4D97-AF65-F5344CB8AC3E}">
        <p14:creationId xmlns:p14="http://schemas.microsoft.com/office/powerpoint/2010/main" val="159021566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9797EC-833E-4587-A73A-BE9811E9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0A40A-AA8B-478B-9465-E1FBFCE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2BF45-5588-4BE1-A104-579EF225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C9173-3D07-423C-8AC2-6DD6ED79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Bottleneck isolation asks where divergence first appears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F98C5-915D-4072-A3F6-5F637A3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7ABAB-6F95-474B-A40C-5B5C8DD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F36F3-5E92-4B49-9F7B-673027E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C0E8A-D413-4010-9028-6ECC1AB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EDA48-F2DC-4670-8680-86142DE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69FD8-0D75-4D50-AF77-C60FB4F9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User impact confirmed?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5DAD7-28DC-413C-835A-58030EF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28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47849-C9FC-4E36-B7A0-18AD9D18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7119B-662A-4335-82B5-641C293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525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One client or all?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93F57-F84A-4C3B-B9C9-A5B2D48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B6F23-1CDD-499E-A0BF-95E90D4E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382C9-BB9E-4B41-8CBE-9A032371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525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Shared metric anomaly?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B99E0-3733-4B30-B302-FD2D57A6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ADA04-70A8-4F25-93A8-8D170AF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3A9BE-DD9F-4435-A32C-99561F24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52575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Protocol errors/retries?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00350" y="18764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48350" y="18764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96350" y="18764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6105D-B0AD-4FFA-A970-B6F4A04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E6E1D-F3C1-4775-8E9E-CDADE5CA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CB7E7-C7AD-4E82-894A-C50FD5F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576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Client resource / configuration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47B0E-5F12-4A37-91F1-13C2A85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C4CCD5-0451-44B7-90B2-02B76CB4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691ACC-F21F-4864-BD9F-3AFF265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576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Network / endpoint / 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7183E-0737-4A3D-9679-ED13351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2E350-7BFC-49F2-A77C-2835F600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A9C22-332B-4075-ADEF-B103993D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Storage / capacity / contention</a:t>
            </a:r>
          </a:p>
        </p:txBody>
      </p:sp>
      <p:cxnSp>
        <p:nvCxnSpPr>
          <p:cNvPr id="69" name=""/>
          <p:cNvCxnSpPr>
            <a:stCxn xmlns:a="http://schemas.openxmlformats.org/drawingml/2006/main" id="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704975" y="2324100"/>
            <a:ext cx="1514475" cy="1409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752975" y="2324100"/>
            <a:ext cx="1495425" cy="1409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800975" y="2324100"/>
            <a:ext cx="1476375" cy="1409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06A18-EE6D-4467-BE51-E4AD2662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868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EE586-1AD6-4888-A4A6-BA0C76E5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5FDEC-C0B4-4C74-BF2F-5AB4C41D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832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PROOF STANDARD | The suspected layer must explain the time, scope, symptom, and recovery behavior — and survive a controlled re-test.</a:t>
            </a:r>
          </a:p>
        </p:txBody>
      </p:sp>
    </p:spTree>
    <p:extLst>
      <p:ext uri="{BB962C8B-B14F-4D97-AF65-F5344CB8AC3E}">
        <p14:creationId xmlns:p14="http://schemas.microsoft.com/office/powerpoint/2010/main" val="150593183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7E5769-F675-4B1C-B7BC-1EB5C9FD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21841-855B-4FDD-89C8-25BEE607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464A1-E0F8-4188-9FEE-2E68060A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A3341-1ED1-48A0-A397-982164C0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One UTC timeline correlates every evidence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E6521-1997-4958-B54C-146FDCD7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2A5A8-6B19-45BC-85AB-20B7E122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690D6-B104-46AC-8EF5-860D4ED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7C229-F7D0-44DC-9090-C16FAE1A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76888-2640-43BB-B79E-F9DDF1CC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66D98-CDD3-4A30-BC7C-36966F4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716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Primary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04503-9D99-4F1B-BE6F-C2A3EC91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716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Question answered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B8855-20D3-4CF9-9882-3F00C988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7F57B-4D3B-41B1-981D-8CA8CB4D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6EC22-A0F1-4B77-8BB0-78B64463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193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Job duration, batch rate, loader wait,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679E1-A001-41B7-8EDD-717EE7B8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What did the workload experience?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5ABD1-1C6A-49D4-A605-A52AD0E4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003E2-53E5-4C50-A360-664B7682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10509-DABE-4ADC-A735-A9F9ED6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051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CPU, memory, run queue, iowait,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FDB93-68E6-4EC6-8F39-3B68172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51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Can the client issue and process I/O?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02134-D92C-4862-9D19-284E504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5DE50-3B10-44A1-B9FA-F888C868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Network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DDDDD-7237-40B5-A0E3-F1755A1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909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Utilization, RTT, drops, retransmits,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29ED2-93A6-4915-847B-657C7351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Can requests move reliably and fast enough?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66166-8A55-468E-B8C9-10698D90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508B2-BE39-4AB5-8DE3-83CDB66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Protocol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601C7-3152-469B-B6A0-768D01F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NFS stats, SMB status, S3 HTTP, pcap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ECFC4-5AFF-4F19-820B-A3CFF1BE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Where do requests wait or fail?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B1246-08C1-4242-A685-5566586A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D4EB5B-B6E3-457A-9EDE-A9539BBD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Storage / VMS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B767FA-7FCD-4A6B-8A70-BF5C3418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Bandwidth, IOPS, latency, capacity, alarms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9115A-2E59-40A7-AA45-CFC7A05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Is the shared service constrained or unhealthy?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07D0CA-DE40-4028-96F7-FA716D39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506D5-F048-4A3B-A20D-B9BFB32B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Workload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1A91D4-EE3F-402C-925C-76FDBBFF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483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Block size, mix, queue depth, concurrency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7F356-D2F3-439F-8EFD-DF428B7B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483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What demand did the system receive?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E1C142-8AD3-4018-8AFE-1924771B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5DBAB9-9D1F-4D0D-A5A5-3F6E7F2B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D6E171-EC19-498D-BB4D-CFA7D90B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CORRELATION | Align all evidence in UTC and mark baseline, symptom onset, fault/change, recovery action,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209945009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E30CE2-CDC2-4F4B-BF6F-CA161FE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46D71-60BF-4E59-A9A3-2790EB7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3C00B-37C0-476F-9C83-21C9814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M10 · CAPSTONE — AI TRAINING PERFORMANCE DEGRADATION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33228-1E3D-4FB2-A120-67E8E13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Capstone 1 | Training slows and GPU utilization falls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07255-DF10-4CCC-AD37-195AB868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 WAVE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A7680-AADC-4025-B994-F031A1B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4FFAC-B732-4BA2-AF76-7D3533C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M10 · CAPSTONE — AI TRAINING PERFORMANCE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DDF80-0A20-4040-ADDA-5AE3F40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01444-9DCB-44FE-9DB9-F15D6C13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F4DF3-1DAE-4FF9-8778-4C1D9D9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Training 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08984-674A-4D18-B621-C30B2190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3 h → 6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991CB-3508-46B1-ADC1-51FC392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Business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D14F6-7E23-41CF-B4BD-50E72FE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8AAF6-3F68-4BE2-A988-94E13A4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GPU utilization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77C48-0C20-4753-9B5C-D74D04EA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95% → 45%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2A71D-E2A9-46C1-9CE0-4E0C992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Accelerator starvation symptom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ED156-A95C-4507-8DC9-F21A6F28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631AD-DDE6-4DF9-8EBC-A340BDC3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Dataset loading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64D7A-BC54-4841-AB75-78C625D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Slow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9E209-4DDF-487F-84C7-858AAE43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Data delivery path suspected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D0243-2675-480F-8555-14111C65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E9733-EDD9-4DA8-B9FC-4D77EA74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Application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9722A-0C01-4722-96AA-7D2DFB35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No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4CE0A-47AD-403B-BE3C-E8C4017F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Do not stop investigating other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B9D45-09AA-4990-B298-229BF60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B9FE2-43B8-4A87-A071-3713F67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956A4-D26C-434A-802B-34230EC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Dataset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32D18-260B-4645-B1BF-906A9480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file / object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62569-87E6-4C34-B340-D6131655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26BAE-DBE6-4487-AE60-29EDE75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DF7B8-8A6E-4614-9E2E-474B93B9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VAST endpoint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CF3DE3-1E55-4FA3-BC40-F2AD37F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or S3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0E680F-2346-44A8-9B4A-914FF1AB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841F3D-5DC7-4C83-B24C-BF514DF4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2261A0-9060-4569-B7F3-67518EB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Ubuntu client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A2F84D-A527-4311-AC73-80BBFE5C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loader +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56059-0885-4BB9-8B91-508CF9F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107694-F1A6-4DE3-93EB-C48A2C33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C47845-C463-4EE8-A9FA-DD7FAD8E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Training job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66B668-A48E-4F18-B07C-FC13D0B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GPU consumers</a:t>
            </a:r>
          </a:p>
        </p:txBody>
      </p:sp>
      <p:cxnSp>
        <p:nvCxnSpPr>
          <p:cNvPr id="87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7063" y="46005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72176" y="460057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777288" y="46005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EAFA27-9EFC-4C4E-91A8-43F55564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731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01BBA1-A338-41B9-B779-44448E1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11BD1C-E834-496A-8CF5-B968789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0545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PARTICIPANT TASK | Form hypotheses and request the next evidence wave. Do not name a root cause yet.</a:t>
            </a:r>
          </a:p>
        </p:txBody>
      </p:sp>
    </p:spTree>
    <p:extLst>
      <p:ext uri="{BB962C8B-B14F-4D97-AF65-F5344CB8AC3E}">
        <p14:creationId xmlns:p14="http://schemas.microsoft.com/office/powerpoint/2010/main" val="100197459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12C0BB-4420-40C2-9BA0-6C5446F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67539-DA70-42BE-935E-901B9AF9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D2BF7-9A68-4F58-A474-C1C6BCE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M10 · CAPSTONE — AI TRAINING PERFORMANCE DEGRADATION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8226E-5C99-4693-9430-D5A85343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Capstone 1 | Evidence waves force cross-layer correlation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5EEB5-3162-4791-915C-F6D13CE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 WAVES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919E5-CCCD-4652-BF58-0CCE342A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3E426-F6FC-4B5B-81D7-10A9AD0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M10 · CAPSTONE — AI TRAINING PERFORMANCE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9C5F0-0F25-47C7-86C6-2F59C7C2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62091-58DD-4AFB-8700-B735625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85FDD-7F6C-4427-8390-4D48A2E3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98B1E-D134-4EB2-93EA-AE1F464C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47800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Evidence released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DBE52-CA8F-42D0-AFE9-EFD732C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47800"/>
            <a:ext cx="4038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What it should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9AE3B-56A3-4E15-9B73-5228912A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6176E-2EFF-400C-99D4-89B94B4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1 ·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F9891-CDF8-46B7-9E1B-0B64944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Batch throughput down; data-loader wait up; no code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67F89-5CA6-4BD7-8131-412EC3E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050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Focus on dataset delivery, not model compute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8FE50-8FA8-41E6-8225-53BFC40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4AFF5-1627-4F9D-90DA-651B28BB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2 · Client + protocol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E912A-8E65-4096-B1DD-24D892F7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0040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CPU/memory acceptable; NFS/S3 latency and retries rise; queue depth higher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058E4-4CA4-46CB-8D27-C7599928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Move past a client-only hypothesis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23DE4-3D45-4EE7-A739-40BAE01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B2BC5-750D-4AF5-BEEE-C1420535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3 · Network +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4D494-B15E-4C09-85D3-36BA2E8D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9575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Packet loss/retransmits align; bandwidth plateaus; P99 latency rises; concurrent random I/O appears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75BF0-FF88-4A62-9334-466DC0A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957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Rank network amplification vs shared contention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DBF19-9F96-46EE-B70F-870F2628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84049-2C3F-4BAC-A5B3-84756D98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4 · VMS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66B09-8F26-4797-A236-B57821D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9110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No broad component failure; workload metrics and event timeline overlap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3A9C1-58A9-4375-BA49-5F7D3EAA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911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Build causal mechanism and recovery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91F27-98F7-422A-9302-D422651D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6248A-3E84-4FA4-908F-871BDA2C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9538CD-F7DF-46CC-BB77-6C3D9EB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61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REQUIRED CORRELATION | Application throughput • dataset-read rate • client CPU/memory • protocol • network • storage bandwidth/IOPS/latency • queue depth • contention • VAST alarms/events/logs.</a:t>
            </a:r>
          </a:p>
        </p:txBody>
      </p:sp>
    </p:spTree>
    <p:extLst>
      <p:ext uri="{BB962C8B-B14F-4D97-AF65-F5344CB8AC3E}">
        <p14:creationId xmlns:p14="http://schemas.microsoft.com/office/powerpoint/2010/main" val="35369744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18887-2AB8-4C6E-9E1C-23C4728A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CE99D-E16E-468F-812C-B95DF9B0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994A1-E1ED-479D-8553-DE80F518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M10 · CAPSTONE — AI TRAINING PERFORMANCE DEGRADATION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9C6AD-C961-406B-AE7A-AA641C72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Capstone 1 | Prove recovery with the original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53DFB-0C7C-47B2-A2AA-B9A5E52D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13 · EXECUTE + DEBRIEF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FC2DE-8F9B-4AAC-A4F3-DC4AA99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B1B09-5F31-449B-B1D1-66AE42C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M10 · CAPSTONE — AI TRAINING PERFORMANCE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067DB-109C-400E-8DEC-16067576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000B6-E39F-4320-90A1-B295DBE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477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8516F-C669-430F-B1CB-0F37AAD6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INVESTIGATION AND CONTROLLED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BA52B-8D8E-4E63-B7C1-EBF1DA08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A2A39-9048-4298-B155-C8BFE80A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date -u; vmstat 1 30; iostat -xz 1 30; sar -n DEV 1 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3BAF1-322C-4076-9C0A-04F54937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312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nfsstat -m  # or mc stat lab/&lt;bucket&gt;/&lt;key&gt;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36E9F-612E-4621-AB64-9B077D1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174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ss -s; ip -s link show &lt;lab-if&gt;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9F933-EBE1-44DF-BDB6-7E2D757A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036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timeout 30 tcpdump -i &lt;lab-if&gt; -nn -w cap1.pcap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FAEE0-705A-4264-A1B2-7A563815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898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'port 2049 or port 9000'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F56A2-7B7D-4323-9A67-4FAB11D2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pgrep -af 'fio|stress-ng'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B207C-AFAC-48FA-BA06-F6C996A4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622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# CONTROLLED LAB ONLY — stop competing workload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EBE6F-F0C9-451C-B6A0-1E80BC67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484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pkill -INT -f 'fio.*competing' || 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3F805-56A3-4F91-B430-8D93484F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346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pkill -INT stress-ng || true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56886-EF97-4613-80BB-7ABB843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208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training-read.fio --output-format=json --output=retest.json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4AF3D-20CD-4532-BA21-F9D004CF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239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D0E15-5B58-4660-A453-7FA0E65F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763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+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34CAD-54ED-4D25-9949-95E1EDA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37909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Before/during/after dataset-read rate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Client, network, protocol, storage timeline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Queue depth and concurrent workload record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GPU utilization trend supplied as business evidence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Training-data throughput returns toward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ABCDD-2BC5-4E2A-9A30-3D8C073E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2A8C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30FF3-D7AE-4BBE-BF66-AAAC7D0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88242-1768-454A-83D0-A1B47D0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A8C68"/>
                </a:solidFill>
              </a:defRPr>
            </a:pPr>
            <a:r>
              <a:rPr sz="1050" b="1" i="0">
                <a:solidFill>
                  <a:srgbClr val="2A8C68"/>
                </a:solidFill>
              </a:rPr>
              <a:t>SUCCESS CRITERION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DEF81-CC58-4D60-BF51-6C62D308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The team proves the causal mechanism, removes the controlled fault, re-runs the same workload, and documents prevention.</a:t>
            </a:r>
          </a:p>
        </p:txBody>
      </p:sp>
    </p:spTree>
    <p:extLst>
      <p:ext uri="{BB962C8B-B14F-4D97-AF65-F5344CB8AC3E}">
        <p14:creationId xmlns:p14="http://schemas.microsoft.com/office/powerpoint/2010/main" val="63335272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90432-7970-479E-9EE3-F1D6B565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D62FE-7A3F-483E-82B8-DE632FC5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9CA22-322C-4EFB-BA12-7D6C6DE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9628-F8DC-4B7D-88F3-D9CBEFE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Performance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E7816-3B92-4638-B90C-608A8EF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5D310-2B45-4D67-83D7-590379DB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6EDE0-86D1-41A7-9566-553DC492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A7F53-802C-4C0A-88AD-9275AAA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05B6D-5902-4862-8CA7-FC1424D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8A022-DA61-4F9D-95C6-83E7129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An AI job doubles in duration and data loading slows. What comes first?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98F0F-6525-4841-A7C4-673153C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UI theme     B End-to-end data-delivery path and baseline     C Model accuracy only     D Capacity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24E85-6FFA-416A-9627-1150795B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5FB67-7622-4682-989F-4411FBF4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9397C-895C-421D-80DF-0FEB1BE3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most strongly indicates a client-side bottleneck?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11F2E-7048-47F7-A6F0-FADDB2F5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One client slow while storage and peers are healthy     B Every client slows     C All links lose packets     D Cluster latency rises globally</a:t>
            </a:r>
          </a:p>
        </p:txBody>
      </p:sp>
    </p:spTree>
    <p:extLst>
      <p:ext uri="{BB962C8B-B14F-4D97-AF65-F5344CB8AC3E}">
        <p14:creationId xmlns:p14="http://schemas.microsoft.com/office/powerpoint/2010/main" val="151363195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CFDFF-BA82-4346-8573-2759C7D5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1B98D-9A0B-42A4-A382-B61220EF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BF343-E1F5-46CC-8932-41C25C8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0763C-94F9-4E95-B97D-DC78E5E2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9 | Logs become useful when normalized into a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E8E2A-E1A0-4B32-84EC-38552032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C935F-DB37-42FA-8A39-ED3014E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2FBD7-972A-4E78-9C81-D734E76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E8408-2AA4-4A68-B816-3494BF9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31140-8F51-49C8-B177-B2D1B3E3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593FC-BFB1-4ED5-85AD-208D4019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4D35A-3E98-4468-A6D1-38792B1A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Collect diagnostic data, correlate events, identify failure patterns, assess operational health, and discuss backup, high availability, and disaster recovery.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4FCC7-6D27-44E1-B1C3-BE702825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B4694-4791-4E39-8180-B8BD2276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FFFB5-E419-4F4C-9D6C-1B3C1B3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Normalize timestamps and preserve the incident window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Match identifiers, components, metrics, and user impact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Turn recurring signatures into preventive detection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HA, backup, RPO, RTO, and DR objectives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4225C-03FA-47BD-89DB-FBFDE6AA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3FE1D-3AAF-4FE8-B8FC-5FB6BEB1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9DE83-B69B-4C07-ABC0-12F0975C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92CA8-0887-4874-BA65-063ACE3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events, activities, alarms, supported workflow. Ubuntu: journalctl, dmesg, service/container logs, evidence script, and controlled incident timeline.</a:t>
            </a:r>
          </a:p>
        </p:txBody>
      </p:sp>
    </p:spTree>
    <p:extLst>
      <p:ext uri="{BB962C8B-B14F-4D97-AF65-F5344CB8AC3E}">
        <p14:creationId xmlns:p14="http://schemas.microsoft.com/office/powerpoint/2010/main" val="97004071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CB6A3-6FB5-48D2-B4CC-CE1454B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09D2-287B-4154-8573-7F535D43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1C076-0A2F-4C82-9225-CFA86F9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826D-8EF8-420C-B8F8-AED17AD0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Diagnostic bundles preserve transient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906C5-B6A0-4B1B-B93F-22113ADA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56FB9-8B2B-4F86-A819-97C3B7F3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16254-0D5D-4100-8666-5E2D38C6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1AC35-AAC4-4F35-B027-6F0B871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1247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9814B-BF12-4B6A-8628-256D7B6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678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COLLECT-EVIDENCE.SH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28598-0580-4946-A80E-2499885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81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34CB3-8262-4756-9751-4766C477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D2C7"/>
                </a:solidFill>
              </a:defRPr>
            </a:pPr>
            <a:r>
              <a:rPr sz="975" b="0" i="0">
                <a:solidFill>
                  <a:srgbClr val="5FD2C7"/>
                </a:solidFill>
              </a:rPr>
              <a:t>#!/usr/bin/env bash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81E22-D295-4B00-AD90-FC1646A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set -u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27B9D-3356-48C6-95BE-F7ECFDD8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ts=$(date -u +%Y%m%dT%H%M%SZ); out="vast-evidence-$ts"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B3C94-0F74-427E-AA1A-A978F8E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mkdir -p "$out"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614F6-CB17-499B-8472-3988724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{ date -u; uname -a; free -h; df -hT; } &gt; "$out/host.txt"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B60F9-22A2-4148-8E5B-2FE5E71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ip -s link &gt; "$out/ip-link.txt"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0CE9E-4D06-49D9-B352-6D4D15C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ss -s &gt; "$out/ss-summary.txt"; ss -tanp &gt; "$out/ss-tcp.txt"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B18A9-483B-45C1-BE14-BC18417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vmstat 1 5 &gt; "$out/vmstat.txt"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3951F-9AC0-4F2F-BC05-320818DA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iostat -xz 1 5 &gt; "$out/iostat.txt"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BBFED-4A3A-43B1-B679-8D7A1F0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journalctl --since '-15 min' --utc &gt; "$out/journal.txt"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7EA98-E46F-4840-850D-EA798177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dmesg --ctime | tail -n 300 &gt; "$out/dmesg.txt"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DFE46-4D84-494A-992A-4EB01AE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tar -czf "$out.tar.gz" "$out"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2919A-62D0-4A9C-9528-81EA2106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sha256sum "$out.tar.gz"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3A26E-FAC9-404C-A9E4-B599EBF4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04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29CF0-8080-45DE-BE85-DCDCB4D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57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COLLECTION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31C45-FA95-4A1E-9332-F57AEAD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Use UTC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Record exact incident window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Minimize sensitive data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Preserve raw files and checksum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Add VMS evidence separately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Document every recovery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9F041-FAA3-4DDF-9AA9-6C24174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8D900-6388-453A-A17E-CEA0A56F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B2295-80BA-47F2-98DD-849A8A79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PRODUCTION CAUTION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0AB47-00E6-4B3F-8D5B-C215755E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Review the bundle for secrets, credentials, personal data, and capture scope before sharing.</a:t>
            </a:r>
          </a:p>
        </p:txBody>
      </p:sp>
    </p:spTree>
    <p:extLst>
      <p:ext uri="{BB962C8B-B14F-4D97-AF65-F5344CB8AC3E}">
        <p14:creationId xmlns:p14="http://schemas.microsoft.com/office/powerpoint/2010/main" val="15813192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C57C4-6B27-441C-A86E-48EF057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A2F57-4418-4868-9FB5-1501CDA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75CB8-C464-49D4-8715-E27C3370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8CED4-5E5F-4F04-AB30-A0DBF7BD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12 | Collect logs and build an incident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9D031-328B-43B8-94AF-7DEA2EB2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0BD85-31DA-4E08-A526-A48D7D5F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CAD2E-6F0C-455D-9E6A-DEB4572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796D-518C-4750-B027-16981BE9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24C3F-F29A-4235-AE8C-B1A26DFE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C4648-2260-4025-AFBF-22BDEF1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5839D-289A-4892-A461-7A4E711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91F05-C989-4ACE-9D9F-80A79E7D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Create a time-aligned evidence bundle and reconstruct symptom, trigger, action, and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F4E78-3CC2-4D57-98E3-E095879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4B64D-8FA9-40E4-92B9-01D8111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9D39B-8511-4F5F-B86B-183679F9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F2056-1686-4292-A878-E6874BB5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Teams have many logs but cannot explain event order or causality.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59E68-E160-4613-9DBF-64FAB544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EE97C-D307-4E96-8E75-454EE50F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097F6-8F7D-43FF-92F5-628D7D13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client/service logs + packet/metric evidence + VMS alarms/events when available → one UTC timeline.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998F1-EF58-4D4D-BDFA-48404181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9FE23-3842-44BF-8498-99A18EC6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88BD9-DE91-44F5-AE23-D47C24A4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incident window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UTC clocks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Writable evidence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Sensitive-data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12267-BFDA-4DCC-B428-D78F907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D126D-75C8-4D8D-803A-96F02B4D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0F05F-0049-4985-A2D7-7ADF3F9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Define window and identifiers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Collect raw evidence before restart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Normalize UTC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Mark symptom onset and changes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Link metrics and logs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Write causal statement and gaps</a:t>
            </a:r>
          </a:p>
        </p:txBody>
      </p:sp>
    </p:spTree>
    <p:extLst>
      <p:ext uri="{BB962C8B-B14F-4D97-AF65-F5344CB8AC3E}">
        <p14:creationId xmlns:p14="http://schemas.microsoft.com/office/powerpoint/2010/main" val="30116273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89222-0312-4EC3-B79C-797DF9D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FB495-16F6-429D-BB65-70CA2F6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87EB2-896C-471E-884E-AD34749A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61F89-9026-4DFD-8319-0BBBA69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12 | Collect logs and build an incident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6B8BD-663D-49BF-87CE-52E3CEA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30FAD-A526-4C17-BF3C-B672F1E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ED168-A217-4F85-8B84-E6FD984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E51F1-7FB5-4628-AEEC-BE49E64D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D10A-DBA4-4451-921B-0C8EBC4F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64131-1868-4951-9689-A0539218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356D1-6D62-4B20-8D0C-2274EDD9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30DED-5509-4B90-A1DB-A2B675F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date -u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9769B-71A8-40F3-8453-0A236DF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3606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journalctl -u nfs-kernel-server --since '&lt;UTC-start&gt;' --until '&lt;UTC-end&gt;' --utc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E9BDD-7461-4477-82B3-F94EB4C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1763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journalctl -u smbd --since '&lt;UTC-start&gt;' --until '&lt;UTC-end&gt;' --utc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2767D-09FF-49C1-9AF2-7CBAFEF6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9919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docker compose logs --since=15m minio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348B6-5092-4C2E-8FE3-F3AA83AD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dmesg --ctime | tail -n 200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EEEFF-7C11-4A7E-942A-799674A8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6231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ip -s link; ss -tanp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B4B44-BA85-44A6-B45C-6DDA0EE9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4388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tar -czf incident-evidence.tgz &lt;evidence-dir&gt;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5B80D-A615-43EF-A373-062FF8A2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2544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sha256sum incident-evidence.tgz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D9585-AFEF-4F2C-97E1-7CC8336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97A7C-8C28-471B-B9E9-71B86002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163FF-62A7-4A0D-8FD1-A58654FE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The timeline distinguishes symptom onset, trigger/change, supporting evidence, recovery action,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E0F84-1FD7-4D54-9EC9-5B3AD7C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59A42-9ACA-4699-8E57-43B16D2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DA264-AE45-4596-9C17-7FAA28C3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Raw logs, checksum, metric window, alarm/event details, pcap reference, and timeline 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96372-1875-40F4-BDC6-9F64E7D6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E39BB-D52A-4957-A6C3-CD65455D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0BA4EC-82AC-405D-BCEF-D76A23EA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temporary captures after approved retention; preserve the final sanitized bundle and report.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528F0-E0F5-45F2-A1B0-1D627B3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7FC6A-FB0C-4C2D-A836-BE234AC0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C9672-8CAA-4ED8-8A75-720EF6E1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Another engineer can follow the evidence and reproduce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86090136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EB085-4BCA-4568-8915-30E21CE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A872C-56BE-4203-9DCE-BB35177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F629-0101-47CE-A909-AF27499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8620-1C3D-4A7B-A71A-698E11CC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HA, backup, and DR protect different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0E8F3-EAD4-4AC2-B506-8960351D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CONCEPTUAL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FBDE8-CF4D-46BC-87D7-C0074AA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76C7F-5435-468C-B592-A5C9BA9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164FC-3281-492D-81F8-4F38299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D7101-3F21-4B26-B423-4D349A5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8D455-A001-4C59-8051-584F817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E5847-1FBC-46D5-8FE1-F98A3F67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Production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45C7B-3E92-4CFC-B28A-21463854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live data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DF590-41D5-4A41-9AF1-1F347C6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FE33D-CD97-48E4-8715-C27586BF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99E2C-A654-4ADC-B400-FDEB507F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97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High availability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C25D5-D9F4-4117-861E-8DE96067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288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redundancy + failover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78970-E1F6-4071-B185-489B394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75EBA-79D2-481E-B9A6-67456AC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12DB4-A4E8-4198-9C8F-03D833F6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909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Backup copy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AD30F-556C-4874-A995-362DBDE7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100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independent restore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FE2C5-DC9F-48BF-A061-6D281B60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5E3E8-D5AC-40E5-8BC3-AEFA19B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5273B-2833-4083-80BC-7D30A93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909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Disaster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6834B-DE1C-4FED-A6DF-C24F4E06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00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alternate recovery location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E769D-D157-46F6-BAFE-9D922CA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86200"/>
            <a:ext cx="123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2FD15-AF7A-4F0D-B458-AF25510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86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5AFBD-CFB0-4621-BBD5-D9331F6D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0975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RPO / RTO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E3B25-C385-4935-8302-DA38D90E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10075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business objectives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90850" y="24384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A6A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990850" y="2438400"/>
            <a:ext cx="723900" cy="1981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096000" y="2438400"/>
            <a:ext cx="1238250" cy="1981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096000" y="44196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9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FA1261-0E3E-4AFD-9188-DBF9353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868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C81934-8A9C-47A0-9930-21B49E9D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E8D6F-B950-4ED8-B738-ACA2C2C4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34000"/>
            <a:ext cx="832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INVESTIGATION RULE | Capture evidence before failover. A successful failover restores service; it does not identify root cause or replace backup validation.</a:t>
            </a:r>
          </a:p>
        </p:txBody>
      </p:sp>
    </p:spTree>
    <p:extLst>
      <p:ext uri="{BB962C8B-B14F-4D97-AF65-F5344CB8AC3E}">
        <p14:creationId xmlns:p14="http://schemas.microsoft.com/office/powerpoint/2010/main" val="126746516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3E679-017E-425B-B2FF-6A37FEA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DBDB9-C833-4AB2-BD94-ABF3E4FD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AD633-5FC3-4D08-9A91-913E9115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DA4AD-6EA0-45BD-B5EC-9638A3F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Logs and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F769B-A68A-4EBD-AF1F-1ECA727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245C6-00C7-4252-91F9-AFE4386D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3609A-7C67-4849-9488-A52C7CD8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7B2F0-7D03-4C32-B52E-8E3A856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56CE6-778B-4C3F-94E8-F3E7443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6ECD5-4DBB-4DF8-9D01-0AE422A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is the first step when collecting logs from multiple systems?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E7830-011C-44F7-82A2-E423D257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Normalize timestamps and preserve the window     B Delete duplicates     C Collect successes only     D Restart all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96998-9A10-4153-96EA-6F905EB8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45093-E528-49D9-B0F1-07C620CC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98AF9-1205-4B2D-8985-F8F1C13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does RPO define?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C43E3-33C9-487A-8C59-03D6A28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Restoration time     B Maximum acceptable data-loss window     C Queue depth     D Bandwidth</a:t>
            </a:r>
          </a:p>
        </p:txBody>
      </p:sp>
    </p:spTree>
    <p:extLst>
      <p:ext uri="{BB962C8B-B14F-4D97-AF65-F5344CB8AC3E}">
        <p14:creationId xmlns:p14="http://schemas.microsoft.com/office/powerpoint/2010/main" val="183321681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EB9AB9-5F95-4EDB-ADEB-4335D5F7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82FF3-7EEF-41AA-B790-D89550D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19B53-491A-4180-B47F-D573A1D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M11 · CAPSTONE — AI DATASET ACCESS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59410-1B75-434E-9DFD-D95D8C8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Capstone 2 | Intermittent dataset access fails across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1531-27C8-44DA-938C-475A2BF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14 · EVIDENCE WAVE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ADF2C-F5BF-4932-B4C7-03D97A8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DE5A7-1C91-4BE3-88EE-4D79115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M11 · CAPSTONE — AI DATASET ACCESS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C00BE-99B8-434B-A592-012F759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88AC4-AA6E-4E5B-A357-6976F2BA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368AE-F66C-49CE-BCA7-47AD4C23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4CDA0-54CC-406E-9E6F-3222368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File not 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A59B-2D55-4401-820B-987FF9D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Intermittent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9234C-600D-4BC8-B464-677D85D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9726F-CB25-4918-BF1A-6C17B03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Browsing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E8D89-B276-45BB-8520-0901A670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Slow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D9692-A69B-4C0F-BBBE-18F60DF7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Namespace walk affected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14013-067D-41EE-A1E4-85046C61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66D99-12DD-4DCF-8075-6DC51F09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Jobs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5540F-3DDE-4A73-9E44-102E0519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Mixed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43BD3-4C82-4FC5-96DB-A85AE01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Some succeed; others fail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D90E3-6C95-49C9-B593-D5107C9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C28EB-3B9B-489D-A5F5-1D42115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51C0F-BE27-48AF-8010-D3278222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Increasing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89B79-D752-49C7-AFD8-D706CFB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Pressure is plausible, not proven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22EC8-9380-43DF-9883-18A3CE8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A612E-428C-41E9-AC96-905D768C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473BF-5F27-4B8F-9380-B2EBA088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Dataset producer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DE479-4B43-4919-B4E1-0AC8533A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create • rename • delete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A4790-D337-449D-ADA0-912AE720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03D14-1E68-4DF0-8BE6-C9B6F69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92A5DA-F36F-4C63-A2BB-91CA67F3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Namespace /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BB1B99-7D81-412D-8D4A-6EFB80D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path + policy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1E7BD-D6B8-4BC3-B6AC-DD006AA8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D764C-5872-4046-B481-F079A442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65B81-599C-43ED-8919-FCA9E134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Protocol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FD3ED0-4DAF-4F4B-B312-6487415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• SMB • S3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59FB10-1575-4B26-84F1-9221F40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B2751E-7F5D-4C9C-A3F1-798B79AB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2A14E3-8D1E-44EE-A0F7-2718E88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Training clients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D2994F-FA8F-4DC5-9F13-35423CEC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identity + cache</a:t>
            </a:r>
          </a:p>
        </p:txBody>
      </p:sp>
      <p:cxnSp>
        <p:nvCxnSpPr>
          <p:cNvPr id="87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7063" y="4514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72176" y="4514850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777288" y="4514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890E50-9F01-4444-A1AA-B073584A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906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BC7456-ABE9-4296-BA81-C9E05D7F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B2AB34-2653-402B-8855-2FC5264B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10200"/>
            <a:ext cx="870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REQUIRED SCOPE | Exact path/key • client identity • View/export/share/bucket • authn/authz/ACL • capacity/metadata • lifecycle/rename/delete • cache • network/protocol • correlated logs/alarms/events.</a:t>
            </a:r>
          </a:p>
        </p:txBody>
      </p:sp>
    </p:spTree>
    <p:extLst>
      <p:ext uri="{BB962C8B-B14F-4D97-AF65-F5344CB8AC3E}">
        <p14:creationId xmlns:p14="http://schemas.microsoft.com/office/powerpoint/2010/main" val="39621053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90986D-FC1B-438D-8035-7DD59E97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35437-5F62-4FB8-9D89-CDC0FBE6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BA2C3-5845-4D56-AF55-B2457B2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M11 · CAPSTONE — AI DATASET ACCESS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DFDAF-7431-4602-9334-F54D95D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Capstone 2 | Separate missing data from missing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5D6BB-1F60-4606-9537-8771B356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14 · EVIDENCE WAVES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9F1E6-F6AC-4A7A-AD02-96ED4FD5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2EDDC-E7A7-4088-9C35-E65CEE1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M11 · CAPSTONE — AI DATASET ACCESS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2BBCF-DABE-420B-80B2-13B63E4B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CD14C-3567-4A2D-A460-8BE48D04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A14C9-7A9A-4D2A-98DC-F9DB836B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315A7-70BA-49F1-B65E-F9FAADBD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144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Failing jobs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CEBBB-BF36-46F5-9DAA-FC05DF85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144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Successful 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FA0F2-7FC0-4D9D-B54C-3CCE55FE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144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07A9F-AD08-46E1-A4BB-2FB235F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6AFBD-5B48-4DD5-93C8-D026800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Path /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240E7-C414-430D-9980-6D7E0F0D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24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/datasets/v7/shard-042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8D85A-95B9-4FCA-A13F-EB6689E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24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/datasets/current/shard-042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1D24D-ABB4-4BA8-93D2-FDBFE42B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240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Client path mapping differs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806DD-0CBA-43CB-B584-9E55137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286BD-3C44-41D0-AABA-258DE84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0BC68-4B83-4F48-B9F8-68B3C29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trainer-a / UID 2001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95590-1526-4A0E-BE0E-EAAE7FB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trainer-b / UID 2002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FEEA6-23E8-4D8B-B68C-E65DE348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Identity may affect View/ACL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BF65C-82FD-434B-AB78-96E39E7D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6DC8F-4993-4BC0-893C-AA06FE2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Namespace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F596C-F37A-427B-868F-0C12342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Rename/delete at 10:14:22Z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9658B-5CF3-4BA5-B417-1BAF39BE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Reads before/after window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4A0B2-B89F-4139-BB6A-DA7AE9C3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Concurrent publish operation aligns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CB01E-FA8E-497F-9D5A-7FCBA8AF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87654-E5D9-4D21-8C94-BB543666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Protocol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D675C1-A30A-4AE0-8E3E-49B3DCB9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NFS lookup retries / S3 404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8CE24-229D-48BD-A7CF-51CFED28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Normal lookup/200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17E87-66C8-4111-BCE1-A177C21B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Name resolution, not payload latency alone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0FDBAD-1E4A-4ACF-8197-46B9DD4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6FE9C-1277-46FD-960C-20A8DE3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Capacity / metadata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A20ADD-E851-4D0D-BC7F-46DA7045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148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High growth; browse P99 elevated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D5014D-CCD7-4ACE-A7B3-7DA41BA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148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Same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D8AEE7-8D22-4520-97A0-A797B0B3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148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Contributing pressure; not client-specific proof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64058A-747C-49A2-82B3-0EE30A3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363862-6F9D-4221-BFA5-C4F7BD2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Network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1D46A4-B48E-4ACB-8C1A-4D2049D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62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 shared loss spike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DA4C2C-81B8-4D7B-8CA1-3EF117C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62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Normal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A63A90-0F75-4AD9-8F85-BBAE9445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625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De-prioritize network root cause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ABBE16-E892-42EE-9EBC-EF2EB9B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F7B628-C8DD-4139-8EEF-A2FA99B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E561DA-BC6A-4F4D-BE49-2577C37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INVESTIGATION MOVE | Reproduce with exact client identity and exact name; correlate rename/delete/lifecycle and cache state before changing permissions or restoring data.</a:t>
            </a:r>
          </a:p>
        </p:txBody>
      </p:sp>
    </p:spTree>
    <p:extLst>
      <p:ext uri="{BB962C8B-B14F-4D97-AF65-F5344CB8AC3E}">
        <p14:creationId xmlns:p14="http://schemas.microsoft.com/office/powerpoint/2010/main" val="75843396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ABD2A8-4E7E-4173-8CB2-315DACC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4B628-3C2B-4611-8E45-8B6664BD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B8188-D895-473F-AB41-93FF29A7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M11 · CAPSTONE — AI DATASET ACCESS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BB50D-C6E9-44D5-8D6C-93EC6E0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Capstone 2 | Recover access and report the causal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E5403-02E3-4940-A672-41F53786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14 · DECIDE + RECOVER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05000-BA17-49B3-93F6-BFB3EA3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11C4C-1DCE-4727-95E1-388CE1A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M11 · CAPSTONE — AI DATASET ACCESS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CE01D-4793-4BF9-83ED-FC31553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14237-AFC2-4092-A272-B3D433F8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37913-8184-4406-AF3F-BFC9EA96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7F376-7BA7-4AE6-B9D9-082906F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Does the exact name exist?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7BCAE-374A-4106-95B6-61A7C323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5255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1A34D-17C0-4C2A-805D-C406D95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2C7A9-3D3A-4319-BF49-D3A70190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76375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Same result for exact identity?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C0613-1214-41E1-BD45-6061AB40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EB2C4-1A38-4150-959A-0D8507E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2CC31-2FF2-4090-A319-7CDB3DF8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76375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Concurrent namespace change?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DE4D0-D252-4107-A497-8A5018F1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1777D-0E86-441C-8761-A9213595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0B824-F89C-4E6E-865B-0F7F8DAB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7637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Capacity or protocol error?</a:t>
            </a:r>
          </a:p>
        </p:txBody>
      </p: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52750" y="1752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1752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10650" y="1752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031B5-E4F6-4956-8AD7-22548F1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57E46-9F56-4977-8AF6-EB2A2EA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RECOVERY CHECKLIST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5344C-69B8-47B6-B63A-43799527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Freeze or coordinate the publishing/lifecycle job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Restore the intended canonical path or object key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Correct the client path mapping and minimum required ACL/policy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Invalidate/retest client cache only after evidence capture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Validate all representative identities and protocols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Confirm capacity headroom, errors, alarms, and browse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B352C-E945-4282-A60B-C1F8496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E1547-C0E7-4475-93D1-31554BA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FINAL ROOT-CAUSE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1E551-D8A4-463F-A859-97ECECD4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B9B21-F331-4DFB-BDD6-66AA07E9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DEADD7-AF33-4CA5-A8E7-BDB7E4AF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Required 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F9ABC-E963-4F0E-B579-058D880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843D0A-755D-45DA-B930-200FB1F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Impact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E358A-5798-40C3-8A68-7EE7BBB2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Teams/jobs, duration, dataset, business effect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18D8C-4DC1-4E5D-A65A-6DF63D3E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F03CB-A9DD-4CC0-BDCC-DB4DCEE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Timeline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FFAE6A-00DC-42BF-AB68-0AE81322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First symptom, publish action, recovery,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00F74D-25F8-4C64-9B74-3501F516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E0CC0A-36BD-48EA-B6C5-E337315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357BBA-2710-481D-A05C-F3706CE3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Exact names, identities, logs, metrics, alarms/events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FE063B-5B4B-4828-B6C1-9FB0357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2B64F-F08A-42C4-909D-4DA6E71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Cause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1EC15F-0C36-485D-BFE0-4A9C9940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Mechanism linking operation/configuration to failure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0D9DAE-19A4-41F8-BE4E-4BC5849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12C002-B2E5-4E39-AB74-11A1B8B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Recovery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13E11D-8A42-429F-8C77-A38E80D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578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Action, rollback, all-client validation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93EE50-A439-438F-8C4E-0AD6DB55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007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8B9058-262A-46EC-A241-CF08D911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95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Prevention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3780D3-B61E-4E4F-AAB8-D4AC19B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959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Atomic publish, path contract, alerts, capacity headroom</a:t>
            </a:r>
          </a:p>
        </p:txBody>
      </p:sp>
    </p:spTree>
    <p:extLst>
      <p:ext uri="{BB962C8B-B14F-4D97-AF65-F5344CB8AC3E}">
        <p14:creationId xmlns:p14="http://schemas.microsoft.com/office/powerpoint/2010/main" val="490431566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A4086-DE4C-4FFD-8E0C-13F21DC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259FA-4F81-4BB1-999F-E0EDD4B2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19B39-0485-4FE9-86AD-E80A382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59E52-56E1-4504-B826-50C9862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Post-test | Demonstrate applied troubleshooting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5D683-1206-4D29-AE6D-AA72EF6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3156C-C6FE-4FF7-B439-F329466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1D96C-F39C-474F-BA96-EC41747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AF006-BEC2-40C9-A593-801F3A2E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53CE6-EF68-4352-9080-818AC72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4D41C-429B-4CA8-B035-D20E1FD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653A5-0F15-4DDA-B4EA-94CB7BD4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Single-select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AB587-0FCD-44C3-9795-996331D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9076E-E781-4F35-803B-51E5BD4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FCD04-5CE6-4678-B66F-557C134F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25–30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881F1-BCD5-4425-9C9F-A5BB1E56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Individual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E1BED-F3A0-4823-87A6-51D80F1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43BA-B0E4-4D96-9552-17E00DC4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CCE33-23E5-48B2-88B5-AC1D3236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14 / 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E66F4-F226-46E0-BDDB-D8AF8B6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Applied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90650-FC78-4035-850F-265EDE85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80339-8826-4074-97E9-7E88714F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87D17-632A-489B-80B6-BAADA8B8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17 / 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1B85F-C3E3-42E8-A687-4B6A7C24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Production readiness indicator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5A709-4329-419C-9018-95936130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73F54-68BF-44F6-947F-2D416F72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10C3E-93A4-4275-B3E7-706D98A6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TRAINER INSTRUCTION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1EC658-4F37-45A9-A54F-CF4C173C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Part C of the separate complete 80-question trainer assessment bank. Review missed concepts by evidence domain, not only by answer letter.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E3DF1-43A1-4D53-8179-6093BD2E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006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Compare pre-test and post-test domains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Record capstone evidence quality separately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Assign remediation for any failed access gate or safety concept</a:t>
            </a:r>
          </a:p>
        </p:txBody>
      </p:sp>
    </p:spTree>
    <p:extLst>
      <p:ext uri="{BB962C8B-B14F-4D97-AF65-F5344CB8AC3E}">
        <p14:creationId xmlns:p14="http://schemas.microsoft.com/office/powerpoint/2010/main" val="55248873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406BD-4858-462D-B348-A2A121DB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8C613-96C1-4591-84A6-8F74711A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A93D8-1A42-44C9-9C81-FF8DE23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5A333-48B2-4ACA-9361-F55903B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Preserve evidence, isolate one cause, prove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561FD-7D3E-4250-8C0B-47C9AD0F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3026B-4170-4441-86CE-00DD34E3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COURSE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08666-BC49-4DF9-821B-D75E607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B7AB8-00F9-4610-A679-A1B7DE1D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09326-6556-40EA-963F-3F9CCB0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EADEC-D6B3-4374-BDE1-3A5DADA1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70842-7C77-43CC-AB9F-045034B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normal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567A5-6AAD-460E-A1D1-776FB93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A3F02-E1E8-4054-A7D7-1D41BE0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EE45C-0B5A-4C00-B819-BEB44CC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ABB3D-45F4-4B51-B0C6-90C02CAC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who • what • when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93095-6390-483A-9F80-9AFC5449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6EE6D-2888-484C-AFC5-F9D7B06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0700F-FEAB-40D6-BD42-C007D2F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Correlate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50F3C-2B2C-4E86-82AF-A0C54972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all layers in UTC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CCAE9-3BFB-44C2-BB12-CE17E4C5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9116E-C6D4-4F58-9A54-BC7BC121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0953F-B5AF-4952-9995-24A6EE2F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DE8DD-D958-4069-AEEF-B3565223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smallest reversible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B1870-27A9-4956-AF93-34F90716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389DF-A660-4D9B-AA60-87B5BD99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DB986-A13F-4D28-AD18-F08DBABE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915F6-18FD-4633-B3E9-1EC4363B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same workload + users</a:t>
            </a:r>
          </a:p>
        </p:txBody>
      </p: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EEF4F-CC2D-4E73-9F6D-6A7B8F1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B7079-936A-4B7E-ABE5-7D3815EE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9A128-76F4-4800-8A94-D9EE549D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86150"/>
            <a:ext cx="878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INCIDENT HANDOFF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51844C-95B7-4FEF-ACE6-4C1237A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71900"/>
            <a:ext cx="878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Impact • exact paths/identities • timeline • raw evidence • causal mechanism • recovery action • rollback • validation • prevention owner.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BCE255-552E-4BE8-9FCA-688E44E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1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45C54E-1C3E-436C-836F-7C72622F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CE8721-3673-49AE-846F-BDC06C9B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VAST DATA LABS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1B8CB2-61AA-4881-9E63-EB37465A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Native product observation: health, alarms, capacity, inventory, Views, Element Store, and Network Access.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4F8830-69E3-46BD-8D94-88386562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21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C5120C-1D4D-4176-86DB-4106A64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B0F422-C581-40B1-A749-8E717F43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UBUNTU 24.04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8FCDD1-98DA-4982-BF97-EF11351B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Client/workload evidence: protocol validation, packet capture, controlled faults, rollback, and recovery proof.</a:t>
            </a:r>
          </a:p>
        </p:txBody>
      </p:sp>
    </p:spTree>
    <p:extLst>
      <p:ext uri="{BB962C8B-B14F-4D97-AF65-F5344CB8AC3E}">
        <p14:creationId xmlns:p14="http://schemas.microsoft.com/office/powerpoint/2010/main" val="1048232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2026-07-28T10:57:52.3240000Z</dcterms:created>
  <dcterms:modified xsi:type="dcterms:W3CDTF">2026-07-28T10:57:52.3240000Z</dcterms:modified>
</coreProperties>
</file>